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slides/slide17.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Routing accuracy</c:v>
                </c:pt>
              </c:strCache>
            </c:strRef>
          </c:tx>
          <c:spPr>
            <a:solidFill>
              <a:srgbClr val="4F81BD"/>
            </a:solidFill>
            <a:ln w="0">
              <a:noFill/>
            </a:ln>
          </c:spPr>
          <c:invertIfNegative val="0"/>
          <c:dPt>
            <c:idx val="0"/>
            <c:invertIfNegative val="0"/>
            <c:spPr>
              <a:solidFill>
                <a:srgbClr val="8E9EB2"/>
              </a:solidFill>
              <a:ln w="0">
                <a:noFill/>
              </a:ln>
            </c:spPr>
          </c:dPt>
          <c:dPt>
            <c:idx val="1"/>
            <c:invertIfNegative val="0"/>
            <c:spPr>
              <a:solidFill>
                <a:srgbClr val="39778C"/>
              </a:solidFill>
              <a:ln w="0">
                <a:noFill/>
              </a:ln>
            </c:spPr>
          </c:dPt>
          <c:dPt>
            <c:idx val="2"/>
            <c:invertIfNegative val="0"/>
            <c:spPr>
              <a:solidFill>
                <a:srgbClr val="1C867C"/>
              </a:solidFill>
              <a:ln w="0">
                <a:noFill/>
              </a:ln>
            </c:spPr>
          </c:dPt>
          <c:dPt>
            <c:idx val="3"/>
            <c:invertIfNegative val="0"/>
            <c:spPr>
              <a:solidFill>
                <a:srgbClr val="179285"/>
              </a:solidFill>
              <a:ln w="0">
                <a:noFill/>
              </a:ln>
            </c:spPr>
          </c:dPt>
          <c:dLbls>
            <c:dLbl>
              <c:idx val="0"/>
              <c:numFmt formatCode="0.0\%" sourceLinked="0"/>
              <c:txPr>
                <a:bodyPr wrap="square"/>
                <a:lstStyle/>
                <a:p>
                  <a:pPr>
                    <a:defRPr sz="1200" b="1" u="none" strike="noStrike">
                      <a:solidFill>
                        <a:srgbClr val="122840"/>
                      </a:solidFill>
                      <a:uFillTx/>
                      <a:latin typeface="Calibri"/>
                    </a:defRPr>
                  </a:pPr>
                </a:p>
              </c:txPr>
              <c:dLblPos val="outEnd"/>
              <c:showLegendKey val="0"/>
              <c:showVal val="1"/>
              <c:showCatName val="0"/>
              <c:showSerName val="0"/>
              <c:showPercent val="0"/>
              <c:separator>; </c:separator>
            </c:dLbl>
            <c:dLbl>
              <c:idx val="1"/>
              <c:numFmt formatCode="0.0\%" sourceLinked="0"/>
              <c:txPr>
                <a:bodyPr wrap="square"/>
                <a:lstStyle/>
                <a:p>
                  <a:pPr>
                    <a:defRPr sz="1200" b="1" u="none" strike="noStrike">
                      <a:solidFill>
                        <a:srgbClr val="122840"/>
                      </a:solidFill>
                      <a:uFillTx/>
                      <a:latin typeface="Calibri"/>
                    </a:defRPr>
                  </a:pPr>
                </a:p>
              </c:txPr>
              <c:dLblPos val="outEnd"/>
              <c:showLegendKey val="0"/>
              <c:showVal val="1"/>
              <c:showCatName val="0"/>
              <c:showSerName val="0"/>
              <c:showPercent val="0"/>
              <c:separator>; </c:separator>
            </c:dLbl>
            <c:dLbl>
              <c:idx val="2"/>
              <c:numFmt formatCode="0.0\%" sourceLinked="0"/>
              <c:txPr>
                <a:bodyPr wrap="square"/>
                <a:lstStyle/>
                <a:p>
                  <a:pPr>
                    <a:defRPr sz="1200" b="1" u="none" strike="noStrike">
                      <a:solidFill>
                        <a:srgbClr val="122840"/>
                      </a:solidFill>
                      <a:uFillTx/>
                      <a:latin typeface="Calibri"/>
                    </a:defRPr>
                  </a:pPr>
                </a:p>
              </c:txPr>
              <c:dLblPos val="outEnd"/>
              <c:showLegendKey val="0"/>
              <c:showVal val="1"/>
              <c:showCatName val="0"/>
              <c:showSerName val="0"/>
              <c:showPercent val="0"/>
              <c:separator>; </c:separator>
            </c:dLbl>
            <c:dLbl>
              <c:idx val="3"/>
              <c:numFmt formatCode="0.0\%" sourceLinked="0"/>
              <c:txPr>
                <a:bodyPr wrap="square"/>
                <a:lstStyle/>
                <a:p>
                  <a:pPr>
                    <a:defRPr sz="1200" b="1" u="none" strike="noStrike">
                      <a:solidFill>
                        <a:srgbClr val="122840"/>
                      </a:solidFill>
                      <a:uFillTx/>
                      <a:latin typeface="Calibri"/>
                    </a:defRPr>
                  </a:pPr>
                </a:p>
              </c:txPr>
              <c:dLblPos val="outEnd"/>
              <c:showLegendKey val="0"/>
              <c:showVal val="1"/>
              <c:showCatName val="0"/>
              <c:showSerName val="0"/>
              <c:showPercent val="0"/>
              <c:separator>; </c:separator>
            </c:dLbl>
            <c:numFmt formatCode="0.0\%" sourceLinked="0"/>
            <c:txPr>
              <a:bodyPr wrap="square"/>
              <a:lstStyle/>
              <a:p>
                <a:pPr>
                  <a:defRPr sz="1200" b="1" u="none" strike="noStrike">
                    <a:solidFill>
                      <a:srgbClr val="122840"/>
                    </a:solidFill>
                    <a:uFillTx/>
                    <a:latin typeface="Calibri"/>
                  </a:defRPr>
                </a:pPr>
              </a:p>
            </c:txPr>
            <c:dLblPos val="outEnd"/>
            <c:showLegendKey val="0"/>
            <c:showVal val="1"/>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Correct key +
recalibrated prompt</c:v>
                </c:pt>
                <c:pt idx="1">
                  <c:v>+ rule: repeat
L1 history</c:v>
                </c:pt>
                <c:pt idx="2">
                  <c:v>+ rule: fault-class
subcategory</c:v>
                </c:pt>
                <c:pt idx="3">
                  <c:v>+ prompt fix:
symptom survived fix</c:v>
                </c:pt>
              </c:strCache>
            </c:strRef>
          </c:cat>
          <c:val>
            <c:numRef>
              <c:f>0</c:f>
              <c:numCache>
                <c:formatCode>General</c:formatCode>
                <c:ptCount val="4"/>
                <c:pt idx="0">
                  <c:v>77.3</c:v>
                </c:pt>
                <c:pt idx="1">
                  <c:v>79.5</c:v>
                </c:pt>
                <c:pt idx="2">
                  <c:v>88.9</c:v>
                </c:pt>
                <c:pt idx="3">
                  <c:v>90.2</c:v>
                </c:pt>
              </c:numCache>
            </c:numRef>
          </c:val>
        </c:ser>
        <c:gapWidth val="150"/>
        <c:overlap val="0"/>
        <c:axId val="8305502"/>
        <c:axId val="37300750"/>
      </c:barChart>
      <c:catAx>
        <c:axId val="8305502"/>
        <c:scaling>
          <c:orientation val="minMax"/>
        </c:scaling>
        <c:delete val="0"/>
        <c:axPos val="b"/>
        <c:numFmt formatCode="[$-409]mm/dd/yyyy" sourceLinked="0"/>
        <c:majorTickMark val="out"/>
        <c:minorTickMark val="none"/>
        <c:tickLblPos val="nextTo"/>
        <c:spPr>
          <a:ln w="9360">
            <a:solidFill>
              <a:srgbClr val="878787"/>
            </a:solidFill>
            <a:round/>
          </a:ln>
        </c:spPr>
        <c:txPr>
          <a:bodyPr/>
          <a:lstStyle/>
          <a:p>
            <a:pPr>
              <a:defRPr sz="950" b="0" u="none" strike="noStrike">
                <a:solidFill>
                  <a:srgbClr val="000000"/>
                </a:solidFill>
                <a:uFillTx/>
                <a:latin typeface="Calibri"/>
              </a:defRPr>
            </a:pPr>
          </a:p>
        </c:txPr>
        <c:crossAx val="37300750"/>
        <c:crosses val="autoZero"/>
        <c:auto val="1"/>
        <c:lblAlgn val="ctr"/>
        <c:lblOffset val="100"/>
        <c:noMultiLvlLbl val="0"/>
      </c:catAx>
      <c:valAx>
        <c:axId val="37300750"/>
        <c:scaling>
          <c:orientation val="minMax"/>
          <c:max val="100"/>
          <c:min val="0"/>
        </c:scaling>
        <c:delete val="0"/>
        <c:axPos val="l"/>
        <c:numFmt formatCode="General" sourceLinked="0"/>
        <c:majorTickMark val="out"/>
        <c:minorTickMark val="none"/>
        <c:tickLblPos val="nextTo"/>
        <c:spPr>
          <a:ln w="9360">
            <a:solidFill>
              <a:srgbClr val="878787"/>
            </a:solidFill>
            <a:round/>
          </a:ln>
        </c:spPr>
        <c:txPr>
          <a:bodyPr/>
          <a:lstStyle/>
          <a:p>
            <a:pPr>
              <a:defRPr sz="1000" b="0" u="none" strike="noStrike">
                <a:solidFill>
                  <a:srgbClr val="000000"/>
                </a:solidFill>
                <a:uFillTx/>
                <a:latin typeface="Calibri"/>
              </a:defRPr>
            </a:pPr>
          </a:p>
        </c:txPr>
        <c:crossAx val="8305502"/>
        <c:crosses val="autoZero"/>
        <c:crossBetween val="between"/>
      </c:valAx>
      <c:spPr>
        <a:noFill/>
        <a:ln w="0">
          <a:noFill/>
        </a:ln>
      </c:spPr>
    </c:plotArea>
    <c:plotVisOnly val="1"/>
    <c:dispBlanksAs val="gap"/>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lineWidthScale>1</cs:lineWidthScale>
    <cs:fillRef idx="0"/>
    <cs:effectRef idx="0"/>
    <cs:fontRef idx="minor"/>
    <a:defRPr sz="1800" b="0"/>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4269B6A2-9300-4A34-9BCC-174DFB5A7BB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5" name="PlaceHolder 4"/>
          <p:cNvSpPr>
            <a:spLocks noGrp="1"/>
          </p:cNvSpPr>
          <p:nvPr>
            <p:ph type="title"/>
          </p:nvPr>
        </p:nvSpPr>
        <p:spPr>
          <a:xfrm>
            <a:off x="609480" y="273600"/>
            <a:ext cx="10971720" cy="1144440"/>
          </a:xfrm>
          <a:prstGeom prst="rect">
            <a:avLst/>
          </a:prstGeom>
          <a:noFill/>
          <a:ln w="0">
            <a:noFill/>
          </a:ln>
        </p:spPr>
        <p:txBody>
          <a:bodyPr lIns="0" tIns="0" rIns="0" bIns="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6" name="PlaceHolder 5"/>
          <p:cNvSpPr>
            <a:spLocks noGrp="1"/>
          </p:cNvSpPr>
          <p:nvPr>
            <p:ph type="body"/>
          </p:nvPr>
        </p:nvSpPr>
        <p:spPr>
          <a:xfrm>
            <a:off x="609480" y="1604520"/>
            <a:ext cx="10971720" cy="397692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2880"/>
            <a:ext cx="3007440" cy="11613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8" name="PlaceHolder 2"/>
          <p:cNvSpPr>
            <a:spLocks noGrp="1"/>
          </p:cNvSpPr>
          <p:nvPr>
            <p:ph type="body"/>
          </p:nvPr>
        </p:nvSpPr>
        <p:spPr>
          <a:xfrm>
            <a:off x="3575160" y="272880"/>
            <a:ext cx="5110920" cy="585252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9" name="PlaceHolder 3"/>
          <p:cNvSpPr>
            <a:spLocks noGrp="1"/>
          </p:cNvSpPr>
          <p:nvPr>
            <p:ph type="body"/>
          </p:nvPr>
        </p:nvSpPr>
        <p:spPr>
          <a:xfrm>
            <a:off x="457200" y="1434960"/>
            <a:ext cx="3007440" cy="46904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0" name="PlaceHolder 4"/>
          <p:cNvSpPr>
            <a:spLocks noGrp="1"/>
          </p:cNvSpPr>
          <p:nvPr>
            <p:ph type="dt" idx="4"/>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1" name="PlaceHolder 5"/>
          <p:cNvSpPr>
            <a:spLocks noGrp="1"/>
          </p:cNvSpPr>
          <p:nvPr>
            <p:ph type="ftr" idx="5"/>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9E1A35A5-E244-4DDD-A30A-6AF43BC4536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792440" y="4800600"/>
            <a:ext cx="5485680" cy="56592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14" name="PlaceHolder 2"/>
          <p:cNvSpPr>
            <a:spLocks noGrp="1"/>
          </p:cNvSpPr>
          <p:nvPr>
            <p:ph type="body"/>
          </p:nvPr>
        </p:nvSpPr>
        <p:spPr>
          <a:xfrm>
            <a:off x="1792440" y="612720"/>
            <a:ext cx="5485680" cy="4114080"/>
          </a:xfrm>
          <a:prstGeom prst="rect">
            <a:avLst/>
          </a:prstGeom>
          <a:noFill/>
          <a:ln w="0">
            <a:noFill/>
          </a:ln>
        </p:spPr>
        <p:txBody>
          <a:bodyPr lIns="90000" tIns="45000" rIns="90000" bIns="45000" anchor="t">
            <a:noAutofit/>
          </a:bodyPr>
          <a:lstStyle>
            <a:lvl1pPr algn="l" defTabSz="457200">
              <a:lnSpc>
                <a:spcPct val="100000"/>
              </a:lnSpc>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7pPr>
          </a:lstStyle>
          <a:p>
            <a:pPr marL="432000" indent="-324000" algn="l" defTabSz="457200">
              <a:lnSpc>
                <a:spcPct val="100000"/>
              </a:lnSpc>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indent="-324000" algn="l" defTabSz="457200">
              <a:lnSpc>
                <a:spcPct val="100000"/>
              </a:lnSpc>
              <a:spcBef>
                <a:spcPts val="561"/>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indent="-288000" algn="l" defTabSz="457200">
              <a:lnSpc>
                <a:spcPct val="100000"/>
              </a:lnSpc>
              <a:spcBef>
                <a:spcPts val="479"/>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indent="-216000" algn="l" defTabSz="457200">
              <a:lnSpc>
                <a:spcPct val="100000"/>
              </a:lnSpc>
              <a:spcBef>
                <a:spcPts val="400"/>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indent="-216000" algn="l" defTabSz="457200">
              <a:lnSpc>
                <a:spcPct val="100000"/>
              </a:lnSpc>
              <a:spcBef>
                <a:spcPts val="400"/>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15" name="PlaceHolder 3"/>
          <p:cNvSpPr>
            <a:spLocks noGrp="1"/>
          </p:cNvSpPr>
          <p:nvPr>
            <p:ph type="body"/>
          </p:nvPr>
        </p:nvSpPr>
        <p:spPr>
          <a:xfrm>
            <a:off x="1792440" y="5367240"/>
            <a:ext cx="5485680" cy="8042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6" name="PlaceHolder 4"/>
          <p:cNvSpPr>
            <a:spLocks noGrp="1"/>
          </p:cNvSpPr>
          <p:nvPr>
            <p:ph type="dt" idx="7"/>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7" name="PlaceHolder 5"/>
          <p:cNvSpPr>
            <a:spLocks noGrp="1"/>
          </p:cNvSpPr>
          <p:nvPr>
            <p:ph type="ftr" idx="8"/>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8" name="PlaceHolder 6"/>
          <p:cNvSpPr>
            <a:spLocks noGrp="1"/>
          </p:cNvSpPr>
          <p:nvPr>
            <p:ph type="sldNum" idx="9"/>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C0C20C54-25FD-41ED-9446-4A818FB129FD}"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1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0" name="PlaceHolder 2"/>
          <p:cNvSpPr>
            <a:spLocks noGrp="1"/>
          </p:cNvSpPr>
          <p:nvPr>
            <p:ph type="dt" idx="10"/>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1" name="PlaceHolder 3"/>
          <p:cNvSpPr>
            <a:spLocks noGrp="1"/>
          </p:cNvSpPr>
          <p:nvPr>
            <p:ph type="ftr" idx="11"/>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2" name="PlaceHolder 4"/>
          <p:cNvSpPr>
            <a:spLocks noGrp="1"/>
          </p:cNvSpPr>
          <p:nvPr>
            <p:ph type="sldNum" idx="12"/>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78B4B7DA-6B7D-4033-A3E4-8E72A96F911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25" name="PlaceHolder 3"/>
          <p:cNvSpPr>
            <a:spLocks noGrp="1"/>
          </p:cNvSpPr>
          <p:nvPr>
            <p:ph type="dt" idx="13"/>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6" name="PlaceHolder 4"/>
          <p:cNvSpPr>
            <a:spLocks noGrp="1"/>
          </p:cNvSpPr>
          <p:nvPr>
            <p:ph type="ftr" idx="14"/>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7" name="PlaceHolder 5"/>
          <p:cNvSpPr>
            <a:spLocks noGrp="1"/>
          </p:cNvSpPr>
          <p:nvPr>
            <p:ph type="sldNum" idx="15"/>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40DAE0AB-B712-4FB8-8D3F-7A833282899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629400" y="274680"/>
            <a:ext cx="2056680" cy="5850720"/>
          </a:xfrm>
          <a:prstGeom prst="rect">
            <a:avLst/>
          </a:prstGeom>
          <a:noFill/>
          <a:ln w="0">
            <a:noFill/>
          </a:ln>
        </p:spPr>
        <p:txBody>
          <a:bodyPr lIns="91440" tIns="45720" rIns="91440" bIns="45720" anchor="ctr" vert="eaVert">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9" name="PlaceHolder 2"/>
          <p:cNvSpPr>
            <a:spLocks noGrp="1"/>
          </p:cNvSpPr>
          <p:nvPr>
            <p:ph type="body"/>
          </p:nvPr>
        </p:nvSpPr>
        <p:spPr>
          <a:xfrm>
            <a:off x="457200" y="274680"/>
            <a:ext cx="6019200" cy="585072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0" name="PlaceHolder 3"/>
          <p:cNvSpPr>
            <a:spLocks noGrp="1"/>
          </p:cNvSpPr>
          <p:nvPr>
            <p:ph type="dt" idx="16"/>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1" name="PlaceHolder 4"/>
          <p:cNvSpPr>
            <a:spLocks noGrp="1"/>
          </p:cNvSpPr>
          <p:nvPr>
            <p:ph type="ftr" idx="17"/>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 name="PlaceHolder 5"/>
          <p:cNvSpPr>
            <a:spLocks noGrp="1"/>
          </p:cNvSpPr>
          <p:nvPr>
            <p:ph type="sldNum" idx="18"/>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31E341B2-9CC4-4D9B-8829-6213D8E9525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5" name="PlaceHolder 3"/>
          <p:cNvSpPr>
            <a:spLocks noGrp="1"/>
          </p:cNvSpPr>
          <p:nvPr>
            <p:ph type="dt" idx="19"/>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6" name="PlaceHolder 4"/>
          <p:cNvSpPr>
            <a:spLocks noGrp="1"/>
          </p:cNvSpPr>
          <p:nvPr>
            <p:ph type="ftr" idx="20"/>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7" name="PlaceHolder 5"/>
          <p:cNvSpPr>
            <a:spLocks noGrp="1"/>
          </p:cNvSpPr>
          <p:nvPr>
            <p:ph type="sldNum" idx="21"/>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9344D733-8185-4717-91E1-CB84DCCF94A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22160" y="4406760"/>
            <a:ext cx="7771680" cy="13615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000" b="1" u="none" strike="noStrike" cap="all">
                <a:solidFill>
                  <a:schemeClr val="dk1"/>
                </a:solidFill>
                <a:effectLst/>
                <a:uFillTx/>
                <a:latin typeface="Calibri"/>
              </a:defRPr>
            </a:lvl1pPr>
          </a:lstStyle>
          <a:p>
            <a:pPr indent="0" algn="l" defTabSz="457200">
              <a:lnSpc>
                <a:spcPct val="100000"/>
              </a:lnSpc>
              <a:buNone/>
              <a:tabLst>
                <a:tab pos="0" algn="l"/>
              </a:tabLst>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39" name="PlaceHolder 2"/>
          <p:cNvSpPr>
            <a:spLocks noGrp="1"/>
          </p:cNvSpPr>
          <p:nvPr>
            <p:ph type="body"/>
          </p:nvPr>
        </p:nvSpPr>
        <p:spPr>
          <a:xfrm>
            <a:off x="722160" y="2906640"/>
            <a:ext cx="7771680" cy="149940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40" name="PlaceHolder 3"/>
          <p:cNvSpPr>
            <a:spLocks noGrp="1"/>
          </p:cNvSpPr>
          <p:nvPr>
            <p:ph type="dt" idx="22"/>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1" name="PlaceHolder 4"/>
          <p:cNvSpPr>
            <a:spLocks noGrp="1"/>
          </p:cNvSpPr>
          <p:nvPr>
            <p:ph type="ftr" idx="23"/>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2" name="PlaceHolder 5"/>
          <p:cNvSpPr>
            <a:spLocks noGrp="1"/>
          </p:cNvSpPr>
          <p:nvPr>
            <p:ph type="sldNum" idx="24"/>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D97BD430-4554-4398-926E-EFDD6B50EE4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4" name="PlaceHolder 2"/>
          <p:cNvSpPr>
            <a:spLocks noGrp="1"/>
          </p:cNvSpPr>
          <p:nvPr>
            <p:ph type="body"/>
          </p:nvPr>
        </p:nvSpPr>
        <p:spPr>
          <a:xfrm>
            <a:off x="45720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5" name="PlaceHolder 3"/>
          <p:cNvSpPr>
            <a:spLocks noGrp="1"/>
          </p:cNvSpPr>
          <p:nvPr>
            <p:ph type="body"/>
          </p:nvPr>
        </p:nvSpPr>
        <p:spPr>
          <a:xfrm>
            <a:off x="464832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6" name="PlaceHolder 4"/>
          <p:cNvSpPr>
            <a:spLocks noGrp="1"/>
          </p:cNvSpPr>
          <p:nvPr>
            <p:ph type="dt" idx="25"/>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7" name="PlaceHolder 5"/>
          <p:cNvSpPr>
            <a:spLocks noGrp="1"/>
          </p:cNvSpPr>
          <p:nvPr>
            <p:ph type="ftr" idx="26"/>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8" name="PlaceHolder 6"/>
          <p:cNvSpPr>
            <a:spLocks noGrp="1"/>
          </p:cNvSpPr>
          <p:nvPr>
            <p:ph type="sldNum" idx="27"/>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6CA910A-C978-4B2A-ABD5-DCD4D685960D}"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0" name="PlaceHolder 2"/>
          <p:cNvSpPr>
            <a:spLocks noGrp="1"/>
          </p:cNvSpPr>
          <p:nvPr>
            <p:ph type="body"/>
          </p:nvPr>
        </p:nvSpPr>
        <p:spPr>
          <a:xfrm>
            <a:off x="457200" y="1535040"/>
            <a:ext cx="403956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1" name="PlaceHolder 3"/>
          <p:cNvSpPr>
            <a:spLocks noGrp="1"/>
          </p:cNvSpPr>
          <p:nvPr>
            <p:ph type="body"/>
          </p:nvPr>
        </p:nvSpPr>
        <p:spPr>
          <a:xfrm>
            <a:off x="457200" y="2174760"/>
            <a:ext cx="403956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2" name="PlaceHolder 4"/>
          <p:cNvSpPr>
            <a:spLocks noGrp="1"/>
          </p:cNvSpPr>
          <p:nvPr>
            <p:ph type="body"/>
          </p:nvPr>
        </p:nvSpPr>
        <p:spPr>
          <a:xfrm>
            <a:off x="4645080" y="1535040"/>
            <a:ext cx="404100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3" name="PlaceHolder 5"/>
          <p:cNvSpPr>
            <a:spLocks noGrp="1"/>
          </p:cNvSpPr>
          <p:nvPr>
            <p:ph type="body"/>
          </p:nvPr>
        </p:nvSpPr>
        <p:spPr>
          <a:xfrm>
            <a:off x="4645080" y="2174760"/>
            <a:ext cx="404100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4" name="PlaceHolder 6"/>
          <p:cNvSpPr>
            <a:spLocks noGrp="1"/>
          </p:cNvSpPr>
          <p:nvPr>
            <p:ph type="dt" idx="28"/>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5" name="PlaceHolder 7"/>
          <p:cNvSpPr>
            <a:spLocks noGrp="1"/>
          </p:cNvSpPr>
          <p:nvPr>
            <p:ph type="ftr" idx="29"/>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6" name="PlaceHolder 8"/>
          <p:cNvSpPr>
            <a:spLocks noGrp="1"/>
          </p:cNvSpPr>
          <p:nvPr>
            <p:ph type="sldNum" idx="30"/>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7B7009BD-476E-4485-9D78-3EEBCBF3E3F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8" name="PlaceHolder 2"/>
          <p:cNvSpPr>
            <a:spLocks noGrp="1"/>
          </p:cNvSpPr>
          <p:nvPr>
            <p:ph type="dt" idx="3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3"/>
          <p:cNvSpPr>
            <a:spLocks noGrp="1"/>
          </p:cNvSpPr>
          <p:nvPr>
            <p:ph type="ftr" idx="3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4"/>
          <p:cNvSpPr>
            <a:spLocks noGrp="1"/>
          </p:cNvSpPr>
          <p:nvPr>
            <p:ph type="sldNum" idx="3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8F3F0D2C-D243-42BF-B1C5-5441C943454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840"/>
        </a:solidFill>
      </p:bgPr>
    </p:bg>
    <p:spTree>
      <p:nvGrpSpPr>
        <p:cNvPr id="1" name=""/>
        <p:cNvGrpSpPr/>
        <p:nvPr/>
      </p:nvGrpSpPr>
      <p:grpSpPr>
        <a:xfrm>
          <a:off x="0" y="0"/>
          <a:ext cx="0" cy="0"/>
          <a:chOff x="0" y="0"/>
          <a:chExt cx="0" cy="0"/>
        </a:xfrm>
      </p:grpSpPr>
      <p:sp>
        <p:nvSpPr>
          <p:cNvPr id="61" name="Rectangle 1"/>
          <p:cNvSpPr/>
          <p:nvPr/>
        </p:nvSpPr>
        <p:spPr>
          <a:xfrm>
            <a:off x="0" y="0"/>
            <a:ext cx="12191040" cy="9972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 name="Rectangle 2"/>
          <p:cNvSpPr/>
          <p:nvPr/>
        </p:nvSpPr>
        <p:spPr>
          <a:xfrm>
            <a:off x="548640" y="2286000"/>
            <a:ext cx="776520" cy="500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endParaRPr lang="en-US" sz="1800" b="0" u="none" strike="noStrike">
              <a:solidFill>
                <a:schemeClr val="lt1"/>
              </a:solidFill>
              <a:effectLst/>
              <a:uFillTx/>
              <a:latin typeface="Calibri"/>
            </a:endParaRPr>
          </a:p>
        </p:txBody>
      </p:sp>
      <p:sp>
        <p:nvSpPr>
          <p:cNvPr id="63" name="TextBox 3"/>
          <p:cNvSpPr/>
          <p:nvPr/>
        </p:nvSpPr>
        <p:spPr>
          <a:xfrm>
            <a:off x="548640" y="2468880"/>
            <a:ext cx="1097208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50" b="1" u="none" strike="noStrike">
                <a:solidFill>
                  <a:srgbClr val="179285"/>
                </a:solidFill>
                <a:effectLst/>
                <a:uFillTx/>
                <a:latin typeface="Calibri"/>
              </a:rPr>
              <a:t>PHDATA INTELLIGENCE PLATFORM  ·  SENIOR APPLIED AI ENGINEER CHALLENGE</a:t>
            </a:r>
            <a:endParaRPr lang="en-US" sz="1350" b="0" u="none" strike="noStrike">
              <a:solidFill>
                <a:srgbClr val="FFFFFF"/>
              </a:solidFill>
              <a:effectLst/>
              <a:uFillTx/>
              <a:latin typeface="Arial"/>
            </a:endParaRPr>
          </a:p>
        </p:txBody>
      </p:sp>
      <p:sp>
        <p:nvSpPr>
          <p:cNvPr id="64" name="TextBox 4"/>
          <p:cNvSpPr/>
          <p:nvPr/>
        </p:nvSpPr>
        <p:spPr>
          <a:xfrm>
            <a:off x="548640" y="2816280"/>
            <a:ext cx="11154960" cy="9136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4200" b="1" u="none" strike="noStrike">
                <a:solidFill>
                  <a:srgbClr val="FFFFFF"/>
                </a:solidFill>
                <a:effectLst/>
                <a:uFillTx/>
                <a:latin typeface="Calibri"/>
              </a:rPr>
              <a:t>ServeWell IT Support Agent Suite</a:t>
            </a:r>
            <a:endParaRPr lang="en-US" sz="4200" b="0" u="none" strike="noStrike">
              <a:solidFill>
                <a:srgbClr val="FFFFFF"/>
              </a:solidFill>
              <a:effectLst/>
              <a:uFillTx/>
              <a:latin typeface="Arial"/>
            </a:endParaRPr>
          </a:p>
        </p:txBody>
      </p:sp>
      <p:sp>
        <p:nvSpPr>
          <p:cNvPr id="65" name="TextBox 5"/>
          <p:cNvSpPr/>
          <p:nvPr/>
        </p:nvSpPr>
        <p:spPr>
          <a:xfrm>
            <a:off x="548640" y="3703320"/>
            <a:ext cx="10606320" cy="64836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en-US" sz="1700" b="0" u="none" strike="noStrike">
                <a:solidFill>
                  <a:srgbClr val="C3D0DE"/>
                </a:solidFill>
                <a:effectLst/>
                <a:uFillTx/>
                <a:latin typeface="Calibri"/>
              </a:rPr>
              <a:t>An agentic triage → grounded resolution → human-approved action system,</a:t>
            </a:r>
            <a:endParaRPr lang="en-US" sz="1700" b="0" u="none" strike="noStrike">
              <a:solidFill>
                <a:srgbClr val="FFFFFF"/>
              </a:solidFill>
              <a:effectLst/>
              <a:uFillTx/>
              <a:latin typeface="Arial"/>
            </a:endParaRPr>
          </a:p>
          <a:p>
            <a:pPr defTabSz="457200">
              <a:lnSpc>
                <a:spcPct val="125000"/>
              </a:lnSpc>
            </a:pPr>
            <a:r>
              <a:rPr lang="en-US" sz="1700" b="0" u="none" strike="noStrike">
                <a:solidFill>
                  <a:srgbClr val="C3D0DE"/>
                </a:solidFill>
                <a:effectLst/>
                <a:uFillTx/>
                <a:latin typeface="Calibri"/>
              </a:rPr>
              <a:t>proven on a narrow slice of ServeWell's L1 support load.</a:t>
            </a:r>
            <a:endParaRPr lang="en-US" sz="1700" b="0" u="none" strike="noStrike">
              <a:solidFill>
                <a:srgbClr val="FFFFFF"/>
              </a:solidFill>
              <a:effectLst/>
              <a:uFillTx/>
              <a:latin typeface="Arial"/>
            </a:endParaRPr>
          </a:p>
        </p:txBody>
      </p:sp>
      <p:sp>
        <p:nvSpPr>
          <p:cNvPr id="66" name="TextBox 6"/>
          <p:cNvSpPr/>
          <p:nvPr/>
        </p:nvSpPr>
        <p:spPr>
          <a:xfrm>
            <a:off x="548640" y="5139000"/>
            <a:ext cx="265104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50" b="1" u="none" strike="noStrike">
                <a:solidFill>
                  <a:srgbClr val="8B9DB2"/>
                </a:solidFill>
                <a:effectLst/>
                <a:uFillTx/>
                <a:latin typeface="Calibri"/>
              </a:rPr>
              <a:t>ROUTING ACCURACY</a:t>
            </a:r>
            <a:endParaRPr lang="en-US" sz="950" b="0" u="none" strike="noStrike">
              <a:solidFill>
                <a:srgbClr val="FFFFFF"/>
              </a:solidFill>
              <a:effectLst/>
              <a:uFillTx/>
              <a:latin typeface="Arial"/>
            </a:endParaRPr>
          </a:p>
        </p:txBody>
      </p:sp>
      <p:sp>
        <p:nvSpPr>
          <p:cNvPr id="67" name="TextBox 7"/>
          <p:cNvSpPr/>
          <p:nvPr/>
        </p:nvSpPr>
        <p:spPr>
          <a:xfrm>
            <a:off x="548640" y="5413320"/>
            <a:ext cx="265104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500" b="1" u="none" strike="noStrike">
                <a:solidFill>
                  <a:srgbClr val="179285"/>
                </a:solidFill>
                <a:effectLst/>
                <a:uFillTx/>
                <a:latin typeface="Calibri"/>
              </a:rPr>
              <a:t>90.2%</a:t>
            </a:r>
            <a:endParaRPr lang="en-US" sz="2500" b="0" u="none" strike="noStrike">
              <a:solidFill>
                <a:srgbClr val="FFFFFF"/>
              </a:solidFill>
              <a:effectLst/>
              <a:uFillTx/>
              <a:latin typeface="Arial"/>
            </a:endParaRPr>
          </a:p>
        </p:txBody>
      </p:sp>
      <p:sp>
        <p:nvSpPr>
          <p:cNvPr id="68" name="TextBox 8"/>
          <p:cNvSpPr/>
          <p:nvPr/>
        </p:nvSpPr>
        <p:spPr>
          <a:xfrm>
            <a:off x="3337560" y="5139000"/>
            <a:ext cx="265104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50" b="1" u="none" strike="noStrike">
                <a:solidFill>
                  <a:srgbClr val="8B9DB2"/>
                </a:solidFill>
                <a:effectLst/>
                <a:uFillTx/>
                <a:latin typeface="Calibri"/>
              </a:rPr>
              <a:t>RUNBOOK HIT-RATE</a:t>
            </a:r>
            <a:endParaRPr lang="en-US" sz="950" b="0" u="none" strike="noStrike">
              <a:solidFill>
                <a:srgbClr val="FFFFFF"/>
              </a:solidFill>
              <a:effectLst/>
              <a:uFillTx/>
              <a:latin typeface="Arial"/>
            </a:endParaRPr>
          </a:p>
        </p:txBody>
      </p:sp>
      <p:sp>
        <p:nvSpPr>
          <p:cNvPr id="69" name="TextBox 9"/>
          <p:cNvSpPr/>
          <p:nvPr/>
        </p:nvSpPr>
        <p:spPr>
          <a:xfrm>
            <a:off x="3337560" y="5413320"/>
            <a:ext cx="265104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500" b="1" u="none" strike="noStrike">
                <a:solidFill>
                  <a:srgbClr val="179285"/>
                </a:solidFill>
                <a:effectLst/>
                <a:uFillTx/>
                <a:latin typeface="Calibri"/>
              </a:rPr>
              <a:t>100%</a:t>
            </a:r>
            <a:endParaRPr lang="en-US" sz="2500" b="0" u="none" strike="noStrike">
              <a:solidFill>
                <a:srgbClr val="FFFFFF"/>
              </a:solidFill>
              <a:effectLst/>
              <a:uFillTx/>
              <a:latin typeface="Arial"/>
            </a:endParaRPr>
          </a:p>
        </p:txBody>
      </p:sp>
      <p:sp>
        <p:nvSpPr>
          <p:cNvPr id="70" name="TextBox 10"/>
          <p:cNvSpPr/>
          <p:nvPr/>
        </p:nvSpPr>
        <p:spPr>
          <a:xfrm>
            <a:off x="6126480" y="5139000"/>
            <a:ext cx="265104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50" b="1" u="none" strike="noStrike">
                <a:solidFill>
                  <a:srgbClr val="8B9DB2"/>
                </a:solidFill>
                <a:effectLst/>
                <a:uFillTx/>
                <a:latin typeface="Calibri"/>
              </a:rPr>
              <a:t>GROUNDED REPLIES</a:t>
            </a:r>
            <a:endParaRPr lang="en-US" sz="950" b="0" u="none" strike="noStrike">
              <a:solidFill>
                <a:srgbClr val="FFFFFF"/>
              </a:solidFill>
              <a:effectLst/>
              <a:uFillTx/>
              <a:latin typeface="Arial"/>
            </a:endParaRPr>
          </a:p>
        </p:txBody>
      </p:sp>
      <p:sp>
        <p:nvSpPr>
          <p:cNvPr id="71" name="TextBox 11"/>
          <p:cNvSpPr/>
          <p:nvPr/>
        </p:nvSpPr>
        <p:spPr>
          <a:xfrm>
            <a:off x="6126480" y="5413320"/>
            <a:ext cx="265104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500" b="1" u="none" strike="noStrike">
                <a:solidFill>
                  <a:srgbClr val="179285"/>
                </a:solidFill>
                <a:effectLst/>
                <a:uFillTx/>
                <a:latin typeface="Calibri"/>
              </a:rPr>
              <a:t>100%</a:t>
            </a:r>
            <a:endParaRPr lang="en-US" sz="2500" b="0" u="none" strike="noStrike">
              <a:solidFill>
                <a:srgbClr val="FFFFFF"/>
              </a:solidFill>
              <a:effectLst/>
              <a:uFillTx/>
              <a:latin typeface="Arial"/>
            </a:endParaRPr>
          </a:p>
        </p:txBody>
      </p:sp>
      <p:sp>
        <p:nvSpPr>
          <p:cNvPr id="72" name="TextBox 12"/>
          <p:cNvSpPr/>
          <p:nvPr/>
        </p:nvSpPr>
        <p:spPr>
          <a:xfrm>
            <a:off x="8915400" y="5139000"/>
            <a:ext cx="265104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50" b="1" u="none" strike="noStrike">
                <a:solidFill>
                  <a:srgbClr val="8B9DB2"/>
                </a:solidFill>
                <a:effectLst/>
                <a:uFillTx/>
                <a:latin typeface="Calibri"/>
              </a:rPr>
              <a:t>RESPONSE P95</a:t>
            </a:r>
            <a:endParaRPr lang="en-US" sz="950" b="0" u="none" strike="noStrike">
              <a:solidFill>
                <a:srgbClr val="FFFFFF"/>
              </a:solidFill>
              <a:effectLst/>
              <a:uFillTx/>
              <a:latin typeface="Arial"/>
            </a:endParaRPr>
          </a:p>
        </p:txBody>
      </p:sp>
      <p:sp>
        <p:nvSpPr>
          <p:cNvPr id="73" name="TextBox 13"/>
          <p:cNvSpPr/>
          <p:nvPr/>
        </p:nvSpPr>
        <p:spPr>
          <a:xfrm>
            <a:off x="8915400" y="5413320"/>
            <a:ext cx="265104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500" b="1" u="none" strike="noStrike">
                <a:solidFill>
                  <a:srgbClr val="179285"/>
                </a:solidFill>
                <a:effectLst/>
                <a:uFillTx/>
                <a:latin typeface="Calibri"/>
              </a:rPr>
              <a:t>3.9s</a:t>
            </a:r>
            <a:endParaRPr lang="en-US" sz="2500" b="0" u="none" strike="noStrike">
              <a:solidFill>
                <a:srgbClr val="FFFFFF"/>
              </a:solidFill>
              <a:effectLst/>
              <a:uFillTx/>
              <a:latin typeface="Arial"/>
            </a:endParaRPr>
          </a:p>
        </p:txBody>
      </p:sp>
      <p:sp>
        <p:nvSpPr>
          <p:cNvPr id="74" name="TextBox 14"/>
          <p:cNvSpPr/>
          <p:nvPr/>
        </p:nvSpPr>
        <p:spPr>
          <a:xfrm>
            <a:off x="548640" y="6263640"/>
            <a:ext cx="10057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0" u="none" strike="noStrike">
                <a:solidFill>
                  <a:srgbClr val="7C8EA3"/>
                </a:solidFill>
                <a:effectLst/>
                <a:uFillTx/>
                <a:latin typeface="Calibri"/>
              </a:rPr>
              <a:t>Measured on 220 labelled tickets against the challenge answer key · reproducible with one command</a:t>
            </a:r>
            <a:endParaRPr lang="en-US"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75"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ORIENTATION</a:t>
            </a:r>
            <a:endParaRPr lang="en-US" sz="1200" b="0" u="none" strike="noStrike">
              <a:solidFill>
                <a:srgbClr val="000000"/>
              </a:solidFill>
              <a:effectLst/>
              <a:uFillTx/>
              <a:latin typeface="Arial"/>
            </a:endParaRPr>
          </a:p>
        </p:txBody>
      </p:sp>
      <p:sp>
        <p:nvSpPr>
          <p:cNvPr id="76"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Two audiences, one system</a:t>
            </a:r>
            <a:endParaRPr lang="en-US" sz="2700" b="0" u="none" strike="noStrike">
              <a:solidFill>
                <a:srgbClr val="000000"/>
              </a:solidFill>
              <a:effectLst/>
              <a:uFillTx/>
              <a:latin typeface="Arial"/>
            </a:endParaRPr>
          </a:p>
        </p:txBody>
      </p:sp>
      <p:sp>
        <p:nvSpPr>
          <p:cNvPr id="77"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sp>
        <p:nvSpPr>
          <p:cNvPr id="78" name="TextBox 4"/>
          <p:cNvSpPr/>
          <p:nvPr/>
        </p:nvSpPr>
        <p:spPr>
          <a:xfrm>
            <a:off x="502920" y="1481400"/>
            <a:ext cx="11154960" cy="4564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57606D"/>
                </a:solidFill>
                <a:effectLst/>
                <a:uFillTx/>
                <a:latin typeface="Calibri"/>
              </a:rPr>
              <a:t>The brief asks for a walkthrough a non-technical stakeholder can follow and a technical reviewer can trust. These slides are marked so you can skip to your half — but the middle section is the one I most want probed.</a:t>
            </a:r>
            <a:endParaRPr lang="en-US" sz="1300" b="0" u="none" strike="noStrike">
              <a:solidFill>
                <a:srgbClr val="000000"/>
              </a:solidFill>
              <a:effectLst/>
              <a:uFillTx/>
              <a:latin typeface="Arial"/>
            </a:endParaRPr>
          </a:p>
        </p:txBody>
      </p:sp>
      <p:sp>
        <p:nvSpPr>
          <p:cNvPr id="79" name="Rounded Rectangle 5"/>
          <p:cNvSpPr/>
          <p:nvPr/>
        </p:nvSpPr>
        <p:spPr>
          <a:xfrm>
            <a:off x="502920" y="2148840"/>
            <a:ext cx="5485680" cy="3199680"/>
          </a:xfrm>
          <a:prstGeom prst="roundRect">
            <a:avLst>
              <a:gd name="adj" fmla="val 5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 name="Rectangle 6"/>
          <p:cNvSpPr/>
          <p:nvPr/>
        </p:nvSpPr>
        <p:spPr>
          <a:xfrm>
            <a:off x="502920" y="2148840"/>
            <a:ext cx="109080" cy="3199680"/>
          </a:xfrm>
          <a:prstGeom prst="rect">
            <a:avLst/>
          </a:prstGeom>
          <a:solidFill>
            <a:srgbClr val="4C4A8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endParaRPr lang="en-US" sz="1800" b="0" u="none" strike="noStrike">
              <a:solidFill>
                <a:schemeClr val="lt1"/>
              </a:solidFill>
              <a:effectLst/>
              <a:uFillTx/>
              <a:latin typeface="Calibri"/>
            </a:endParaRPr>
          </a:p>
        </p:txBody>
      </p:sp>
      <p:sp>
        <p:nvSpPr>
          <p:cNvPr id="81" name="TextBox 7"/>
          <p:cNvSpPr/>
          <p:nvPr/>
        </p:nvSpPr>
        <p:spPr>
          <a:xfrm>
            <a:off x="822960" y="2359080"/>
            <a:ext cx="4937040" cy="183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4C4A8F"/>
                </a:solidFill>
                <a:effectLst/>
                <a:uFillTx/>
                <a:latin typeface="Calibri"/>
              </a:rPr>
              <a:t>FOR THE BUSINESS UNIT</a:t>
            </a:r>
            <a:endParaRPr lang="en-US" sz="1200" b="0" u="none" strike="noStrike">
              <a:solidFill>
                <a:srgbClr val="000000"/>
              </a:solidFill>
              <a:effectLst/>
              <a:uFillTx/>
              <a:latin typeface="Arial"/>
            </a:endParaRPr>
          </a:p>
        </p:txBody>
      </p:sp>
      <p:sp>
        <p:nvSpPr>
          <p:cNvPr id="82" name="TextBox 8"/>
          <p:cNvSpPr/>
          <p:nvPr/>
        </p:nvSpPr>
        <p:spPr>
          <a:xfrm>
            <a:off x="822960" y="2788920"/>
            <a:ext cx="4845600" cy="2376720"/>
          </a:xfrm>
          <a:prstGeom prst="rect">
            <a:avLst/>
          </a:prstGeom>
          <a:noFill/>
          <a:ln w="0">
            <a:noFill/>
          </a:ln>
        </p:spPr>
        <p:style>
          <a:lnRef idx="0"/>
          <a:fillRef idx="0"/>
          <a:effectRef idx="0"/>
          <a:fontRef idx="minor"/>
        </p:style>
        <p:txBody>
          <a:bodyPr lIns="0" tIns="0" rIns="0" bIns="0" anchor="t">
            <a:spAutoFit/>
          </a:bodyPr>
          <a:p>
            <a:pPr defTabSz="457200">
              <a:lnSpc>
                <a:spcPct val="112000"/>
              </a:lnSpc>
              <a:spcAft>
                <a:spcPts val="1301"/>
              </a:spcAft>
              <a:tabLst>
                <a:tab pos="0" algn="l"/>
              </a:tabLst>
            </a:pPr>
            <a:r>
              <a:rPr lang="en-US" sz="1300" b="1" u="none" strike="noStrike">
                <a:solidFill>
                  <a:srgbClr val="4C4A8F"/>
                </a:solidFill>
                <a:effectLst/>
                <a:uFillTx/>
                <a:latin typeface="Calibri"/>
              </a:rPr>
              <a:t>•  </a:t>
            </a:r>
            <a:r>
              <a:rPr lang="en-US" sz="1300" b="0" u="none" strike="noStrike">
                <a:solidFill>
                  <a:srgbClr val="1A202A"/>
                </a:solidFill>
                <a:effectLst/>
                <a:uFillTx/>
                <a:latin typeface="Calibri"/>
              </a:rPr>
              <a:t>3 — The problem, in ServeWell's own numbers</a:t>
            </a:r>
            <a:endParaRPr lang="en-US" sz="1300" b="0" u="none" strike="noStrike">
              <a:solidFill>
                <a:srgbClr val="000000"/>
              </a:solidFill>
              <a:effectLst/>
              <a:uFillTx/>
              <a:latin typeface="Arial"/>
            </a:endParaRPr>
          </a:p>
          <a:p>
            <a:pPr defTabSz="457200">
              <a:lnSpc>
                <a:spcPct val="112000"/>
              </a:lnSpc>
              <a:spcAft>
                <a:spcPts val="1301"/>
              </a:spcAft>
              <a:tabLst>
                <a:tab pos="0" algn="l"/>
              </a:tabLst>
            </a:pPr>
            <a:r>
              <a:rPr lang="en-US" sz="1300" b="1" u="none" strike="noStrike">
                <a:solidFill>
                  <a:srgbClr val="4C4A8F"/>
                </a:solidFill>
                <a:effectLst/>
                <a:uFillTx/>
                <a:latin typeface="Calibri"/>
              </a:rPr>
              <a:t>•  </a:t>
            </a:r>
            <a:r>
              <a:rPr lang="en-US" sz="1300" b="0" u="none" strike="noStrike">
                <a:solidFill>
                  <a:srgbClr val="1A202A"/>
                </a:solidFill>
                <a:effectLst/>
                <a:uFillTx/>
                <a:latin typeface="Calibri"/>
              </a:rPr>
              <a:t>4 — What we built, in plain language</a:t>
            </a:r>
            <a:endParaRPr lang="en-US" sz="1300" b="0" u="none" strike="noStrike">
              <a:solidFill>
                <a:srgbClr val="000000"/>
              </a:solidFill>
              <a:effectLst/>
              <a:uFillTx/>
              <a:latin typeface="Arial"/>
            </a:endParaRPr>
          </a:p>
          <a:p>
            <a:pPr defTabSz="457200">
              <a:lnSpc>
                <a:spcPct val="112000"/>
              </a:lnSpc>
              <a:spcAft>
                <a:spcPts val="1301"/>
              </a:spcAft>
              <a:tabLst>
                <a:tab pos="0" algn="l"/>
              </a:tabLst>
            </a:pPr>
            <a:r>
              <a:rPr lang="en-US" sz="1300" b="1" u="none" strike="noStrike">
                <a:solidFill>
                  <a:srgbClr val="4C4A8F"/>
                </a:solidFill>
                <a:effectLst/>
                <a:uFillTx/>
                <a:latin typeface="Calibri"/>
              </a:rPr>
              <a:t>•  </a:t>
            </a:r>
            <a:r>
              <a:rPr lang="en-US" sz="1300" b="0" u="none" strike="noStrike">
                <a:solidFill>
                  <a:srgbClr val="1A202A"/>
                </a:solidFill>
                <a:effectLst/>
                <a:uFillTx/>
                <a:latin typeface="Calibri"/>
              </a:rPr>
              <a:t>17 — Business impact and what it rests on</a:t>
            </a:r>
            <a:endParaRPr lang="en-US" sz="1300" b="0" u="none" strike="noStrike">
              <a:solidFill>
                <a:srgbClr val="000000"/>
              </a:solidFill>
              <a:effectLst/>
              <a:uFillTx/>
              <a:latin typeface="Arial"/>
            </a:endParaRPr>
          </a:p>
          <a:p>
            <a:pPr defTabSz="457200">
              <a:lnSpc>
                <a:spcPct val="112000"/>
              </a:lnSpc>
              <a:spcAft>
                <a:spcPts val="1301"/>
              </a:spcAft>
              <a:tabLst>
                <a:tab pos="0" algn="l"/>
              </a:tabLst>
            </a:pPr>
            <a:r>
              <a:rPr lang="en-US" sz="1300" b="1" u="none" strike="noStrike">
                <a:solidFill>
                  <a:srgbClr val="4C4A8F"/>
                </a:solidFill>
                <a:effectLst/>
                <a:uFillTx/>
                <a:latin typeface="Calibri"/>
              </a:rPr>
              <a:t>•  </a:t>
            </a:r>
            <a:r>
              <a:rPr lang="en-US" sz="1300" b="0" u="none" strike="noStrike">
                <a:solidFill>
                  <a:srgbClr val="1A202A"/>
                </a:solidFill>
                <a:effectLst/>
                <a:uFillTx/>
                <a:latin typeface="Calibri"/>
              </a:rPr>
              <a:t>18 — What I would not yet claim</a:t>
            </a:r>
            <a:endParaRPr lang="en-US" sz="1300" b="0" u="none" strike="noStrike">
              <a:solidFill>
                <a:srgbClr val="000000"/>
              </a:solidFill>
              <a:effectLst/>
              <a:uFillTx/>
              <a:latin typeface="Arial"/>
            </a:endParaRPr>
          </a:p>
        </p:txBody>
      </p:sp>
      <p:sp>
        <p:nvSpPr>
          <p:cNvPr id="83" name="Rounded Rectangle 9"/>
          <p:cNvSpPr/>
          <p:nvPr/>
        </p:nvSpPr>
        <p:spPr>
          <a:xfrm>
            <a:off x="6263640" y="2148840"/>
            <a:ext cx="5485680" cy="3199680"/>
          </a:xfrm>
          <a:prstGeom prst="roundRect">
            <a:avLst>
              <a:gd name="adj" fmla="val 5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4" name="Rectangle 10"/>
          <p:cNvSpPr/>
          <p:nvPr/>
        </p:nvSpPr>
        <p:spPr>
          <a:xfrm>
            <a:off x="6263640" y="2148840"/>
            <a:ext cx="109080" cy="3199680"/>
          </a:xfrm>
          <a:prstGeom prst="rect">
            <a:avLst/>
          </a:prstGeom>
          <a:solidFill>
            <a:srgbClr val="0D66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endParaRPr lang="en-US" sz="1800" b="0" u="none" strike="noStrike">
              <a:solidFill>
                <a:schemeClr val="lt1"/>
              </a:solidFill>
              <a:effectLst/>
              <a:uFillTx/>
              <a:latin typeface="Calibri"/>
            </a:endParaRPr>
          </a:p>
        </p:txBody>
      </p:sp>
      <p:sp>
        <p:nvSpPr>
          <p:cNvPr id="85" name="TextBox 11"/>
          <p:cNvSpPr/>
          <p:nvPr/>
        </p:nvSpPr>
        <p:spPr>
          <a:xfrm>
            <a:off x="6583680" y="2359080"/>
            <a:ext cx="4937040" cy="183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0D665E"/>
                </a:solidFill>
                <a:effectLst/>
                <a:uFillTx/>
                <a:latin typeface="Calibri"/>
              </a:rPr>
              <a:t>FOR THE TECHNOLOGY</a:t>
            </a:r>
            <a:endParaRPr lang="en-US" sz="1200" b="0" u="none" strike="noStrike">
              <a:solidFill>
                <a:srgbClr val="000000"/>
              </a:solidFill>
              <a:effectLst/>
              <a:uFillTx/>
              <a:latin typeface="Arial"/>
            </a:endParaRPr>
          </a:p>
        </p:txBody>
      </p:sp>
      <p:sp>
        <p:nvSpPr>
          <p:cNvPr id="86" name="TextBox 12"/>
          <p:cNvSpPr/>
          <p:nvPr/>
        </p:nvSpPr>
        <p:spPr>
          <a:xfrm>
            <a:off x="6583680" y="2788920"/>
            <a:ext cx="4845600" cy="2376720"/>
          </a:xfrm>
          <a:prstGeom prst="rect">
            <a:avLst/>
          </a:prstGeom>
          <a:noFill/>
          <a:ln w="0">
            <a:noFill/>
          </a:ln>
        </p:spPr>
        <p:style>
          <a:lnRef idx="0"/>
          <a:fillRef idx="0"/>
          <a:effectRef idx="0"/>
          <a:fontRef idx="minor"/>
        </p:style>
        <p:txBody>
          <a:bodyPr lIns="0" tIns="0" rIns="0" bIns="0" anchor="t">
            <a:spAutoFit/>
          </a:bodyPr>
          <a:p>
            <a:pPr defTabSz="457200">
              <a:lnSpc>
                <a:spcPct val="112000"/>
              </a:lnSpc>
              <a:spcAft>
                <a:spcPts val="1301"/>
              </a:spcAft>
              <a:tabLst>
                <a:tab pos="0" algn="l"/>
              </a:tabLst>
            </a:pPr>
            <a:r>
              <a:rPr lang="en-US" sz="1300" b="1" u="none" strike="noStrike">
                <a:solidFill>
                  <a:srgbClr val="0D665E"/>
                </a:solidFill>
                <a:effectLst/>
                <a:uFillTx/>
                <a:latin typeface="Calibri"/>
              </a:rPr>
              <a:t>•  </a:t>
            </a:r>
            <a:r>
              <a:rPr lang="en-US" sz="1300" b="0" u="none" strike="noStrike">
                <a:solidFill>
                  <a:srgbClr val="1A202A"/>
                </a:solidFill>
                <a:effectLst/>
                <a:uFillTx/>
                <a:latin typeface="Calibri"/>
              </a:rPr>
              <a:t>5–6 — Component architecture and request path</a:t>
            </a:r>
            <a:endParaRPr lang="en-US" sz="1300" b="0" u="none" strike="noStrike">
              <a:solidFill>
                <a:srgbClr val="000000"/>
              </a:solidFill>
              <a:effectLst/>
              <a:uFillTx/>
              <a:latin typeface="Arial"/>
            </a:endParaRPr>
          </a:p>
          <a:p>
            <a:pPr defTabSz="457200">
              <a:lnSpc>
                <a:spcPct val="112000"/>
              </a:lnSpc>
              <a:spcAft>
                <a:spcPts val="1301"/>
              </a:spcAft>
              <a:tabLst>
                <a:tab pos="0" algn="l"/>
              </a:tabLst>
            </a:pPr>
            <a:r>
              <a:rPr lang="en-US" sz="1300" b="1" u="none" strike="noStrike">
                <a:solidFill>
                  <a:srgbClr val="0D665E"/>
                </a:solidFill>
                <a:effectLst/>
                <a:uFillTx/>
                <a:latin typeface="Calibri"/>
              </a:rPr>
              <a:t>•  </a:t>
            </a:r>
            <a:r>
              <a:rPr lang="en-US" sz="1300" b="0" u="none" strike="noStrike">
                <a:solidFill>
                  <a:srgbClr val="1A202A"/>
                </a:solidFill>
                <a:effectLst/>
                <a:uFillTx/>
                <a:latin typeface="Calibri"/>
              </a:rPr>
              <a:t>7–11 — Agents, RAG, tools, actions, guardrails</a:t>
            </a:r>
            <a:endParaRPr lang="en-US" sz="1300" b="0" u="none" strike="noStrike">
              <a:solidFill>
                <a:srgbClr val="000000"/>
              </a:solidFill>
              <a:effectLst/>
              <a:uFillTx/>
              <a:latin typeface="Arial"/>
            </a:endParaRPr>
          </a:p>
          <a:p>
            <a:pPr defTabSz="457200">
              <a:lnSpc>
                <a:spcPct val="112000"/>
              </a:lnSpc>
              <a:spcAft>
                <a:spcPts val="1301"/>
              </a:spcAft>
              <a:tabLst>
                <a:tab pos="0" algn="l"/>
              </a:tabLst>
            </a:pPr>
            <a:r>
              <a:rPr lang="en-US" sz="1300" b="1" u="none" strike="noStrike">
                <a:solidFill>
                  <a:srgbClr val="0D665E"/>
                </a:solidFill>
                <a:effectLst/>
                <a:uFillTx/>
                <a:latin typeface="Calibri"/>
              </a:rPr>
              <a:t>•  </a:t>
            </a:r>
            <a:r>
              <a:rPr lang="en-US" sz="1300" b="0" u="none" strike="noStrike">
                <a:solidFill>
                  <a:srgbClr val="1A202A"/>
                </a:solidFill>
                <a:effectLst/>
                <a:uFillTx/>
                <a:latin typeface="Calibri"/>
              </a:rPr>
              <a:t>12–15 — Evaluation, a measurement failure, tuning</a:t>
            </a:r>
            <a:endParaRPr lang="en-US" sz="1300" b="0" u="none" strike="noStrike">
              <a:solidFill>
                <a:srgbClr val="000000"/>
              </a:solidFill>
              <a:effectLst/>
              <a:uFillTx/>
              <a:latin typeface="Arial"/>
            </a:endParaRPr>
          </a:p>
          <a:p>
            <a:pPr defTabSz="457200">
              <a:lnSpc>
                <a:spcPct val="112000"/>
              </a:lnSpc>
              <a:spcAft>
                <a:spcPts val="1301"/>
              </a:spcAft>
              <a:tabLst>
                <a:tab pos="0" algn="l"/>
              </a:tabLst>
            </a:pPr>
            <a:r>
              <a:rPr lang="en-US" sz="1300" b="1" u="none" strike="noStrike">
                <a:solidFill>
                  <a:srgbClr val="0D665E"/>
                </a:solidFill>
                <a:effectLst/>
                <a:uFillTx/>
                <a:latin typeface="Calibri"/>
              </a:rPr>
              <a:t>•  </a:t>
            </a:r>
            <a:r>
              <a:rPr lang="en-US" sz="1300" b="0" u="none" strike="noStrike">
                <a:solidFill>
                  <a:srgbClr val="1A202A"/>
                </a:solidFill>
                <a:effectLst/>
                <a:uFillTx/>
                <a:latin typeface="Calibri"/>
              </a:rPr>
              <a:t>16 — Technical trade-offs and where I drew the line</a:t>
            </a:r>
            <a:endParaRPr lang="en-US" sz="1300" b="0" u="none" strike="noStrike">
              <a:solidFill>
                <a:srgbClr val="000000"/>
              </a:solidFill>
              <a:effectLst/>
              <a:uFillTx/>
              <a:latin typeface="Arial"/>
            </a:endParaRPr>
          </a:p>
        </p:txBody>
      </p:sp>
      <p:sp>
        <p:nvSpPr>
          <p:cNvPr id="87" name="Rounded Rectangle 13"/>
          <p:cNvSpPr/>
          <p:nvPr/>
        </p:nvSpPr>
        <p:spPr>
          <a:xfrm>
            <a:off x="502920" y="5623560"/>
            <a:ext cx="11154960" cy="657720"/>
          </a:xfrm>
          <a:prstGeom prst="roundRect">
            <a:avLst>
              <a:gd name="adj" fmla="val 14000"/>
            </a:avLst>
          </a:prstGeom>
          <a:solidFill>
            <a:srgbClr val="E4F2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8" name="TextBox 14"/>
          <p:cNvSpPr/>
          <p:nvPr/>
        </p:nvSpPr>
        <p:spPr>
          <a:xfrm>
            <a:off x="777240" y="5779080"/>
            <a:ext cx="10606320" cy="4107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50" b="0" i="1" u="none" strike="noStrike">
                <a:solidFill>
                  <a:srgbClr val="0D665E"/>
                </a:solidFill>
                <a:effectLst/>
                <a:uFillTx/>
                <a:latin typeface="Calibri"/>
              </a:rPr>
              <a:t>Every number in this deck is measured by a harness in the repo, or explicitly labelled as an assumption. Nothing is estimated and presented as measured.</a:t>
            </a:r>
            <a:endParaRPr lang="en-US" sz="1250" b="0" u="none" strike="noStrike">
              <a:solidFill>
                <a:srgbClr val="000000"/>
              </a:solidFill>
              <a:effectLst/>
              <a:uFillTx/>
              <a:latin typeface="Arial"/>
            </a:endParaRPr>
          </a:p>
        </p:txBody>
      </p:sp>
      <p:sp>
        <p:nvSpPr>
          <p:cNvPr id="89" name="TextBox 15"/>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ServeWell IT Support Agent Suite — phData Intelligence Platform</a:t>
            </a:r>
            <a:endParaRPr lang="en-US" sz="900" b="0" u="none" strike="noStrike">
              <a:solidFill>
                <a:srgbClr val="000000"/>
              </a:solidFill>
              <a:effectLst/>
              <a:uFillTx/>
              <a:latin typeface="Arial"/>
            </a:endParaRPr>
          </a:p>
        </p:txBody>
      </p:sp>
      <p:sp>
        <p:nvSpPr>
          <p:cNvPr id="90" name="TextBox 16"/>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91"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THE PROBLEM</a:t>
            </a:r>
            <a:endParaRPr lang="en-US" sz="1200" b="0" u="none" strike="noStrike">
              <a:solidFill>
                <a:srgbClr val="000000"/>
              </a:solidFill>
              <a:effectLst/>
              <a:uFillTx/>
              <a:latin typeface="Arial"/>
            </a:endParaRPr>
          </a:p>
        </p:txBody>
      </p:sp>
      <p:sp>
        <p:nvSpPr>
          <p:cNvPr id="92"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What ServeWell told us is breaking</a:t>
            </a:r>
            <a:endParaRPr lang="en-US" sz="2700" b="0" u="none" strike="noStrike">
              <a:solidFill>
                <a:srgbClr val="000000"/>
              </a:solidFill>
              <a:effectLst/>
              <a:uFillTx/>
              <a:latin typeface="Arial"/>
            </a:endParaRPr>
          </a:p>
        </p:txBody>
      </p:sp>
      <p:sp>
        <p:nvSpPr>
          <p:cNvPr id="93"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sp>
        <p:nvSpPr>
          <p:cNvPr id="94" name="Rounded Rectangle 4"/>
          <p:cNvSpPr/>
          <p:nvPr/>
        </p:nvSpPr>
        <p:spPr>
          <a:xfrm>
            <a:off x="502920" y="1600200"/>
            <a:ext cx="3519720" cy="1873800"/>
          </a:xfrm>
          <a:prstGeom prst="roundRect">
            <a:avLst>
              <a:gd name="adj" fmla="val 5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5" name="TextBox 5"/>
          <p:cNvSpPr/>
          <p:nvPr/>
        </p:nvSpPr>
        <p:spPr>
          <a:xfrm>
            <a:off x="758880" y="1810440"/>
            <a:ext cx="3016800" cy="5479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00" b="1" u="none" strike="noStrike">
                <a:solidFill>
                  <a:srgbClr val="B8392C"/>
                </a:solidFill>
                <a:effectLst/>
                <a:uFillTx/>
                <a:latin typeface="Calibri"/>
              </a:rPr>
              <a:t>30–45 min</a:t>
            </a:r>
            <a:endParaRPr lang="en-US" sz="3100" b="0" u="none" strike="noStrike">
              <a:solidFill>
                <a:srgbClr val="000000"/>
              </a:solidFill>
              <a:effectLst/>
              <a:uFillTx/>
              <a:latin typeface="Arial"/>
            </a:endParaRPr>
          </a:p>
        </p:txBody>
      </p:sp>
      <p:sp>
        <p:nvSpPr>
          <p:cNvPr id="96" name="TextBox 6"/>
          <p:cNvSpPr/>
          <p:nvPr/>
        </p:nvSpPr>
        <p:spPr>
          <a:xfrm>
            <a:off x="758880" y="2359080"/>
            <a:ext cx="301680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1A202A"/>
                </a:solidFill>
                <a:effectLst/>
                <a:uFillTx/>
                <a:latin typeface="Calibri"/>
              </a:rPr>
              <a:t>to first meaningful response</a:t>
            </a:r>
            <a:endParaRPr lang="en-US" sz="1300" b="0" u="none" strike="noStrike">
              <a:solidFill>
                <a:srgbClr val="000000"/>
              </a:solidFill>
              <a:effectLst/>
              <a:uFillTx/>
              <a:latin typeface="Arial"/>
            </a:endParaRPr>
          </a:p>
        </p:txBody>
      </p:sp>
      <p:sp>
        <p:nvSpPr>
          <p:cNvPr id="97" name="TextBox 7"/>
          <p:cNvSpPr/>
          <p:nvPr/>
        </p:nvSpPr>
        <p:spPr>
          <a:xfrm>
            <a:off x="758880" y="2670120"/>
            <a:ext cx="3062520" cy="63936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050" b="0" u="none" strike="noStrike">
                <a:solidFill>
                  <a:srgbClr val="57606D"/>
                </a:solidFill>
                <a:effectLst/>
                <a:uFillTx/>
                <a:latin typeface="Calibri"/>
              </a:rPr>
              <a:t>during peak hours, when a store is losing revenue</a:t>
            </a:r>
            <a:endParaRPr lang="en-US" sz="1050" b="0" u="none" strike="noStrike">
              <a:solidFill>
                <a:srgbClr val="000000"/>
              </a:solidFill>
              <a:effectLst/>
              <a:uFillTx/>
              <a:latin typeface="Arial"/>
            </a:endParaRPr>
          </a:p>
        </p:txBody>
      </p:sp>
      <p:sp>
        <p:nvSpPr>
          <p:cNvPr id="98" name="Rounded Rectangle 8"/>
          <p:cNvSpPr/>
          <p:nvPr/>
        </p:nvSpPr>
        <p:spPr>
          <a:xfrm>
            <a:off x="4297680" y="1600200"/>
            <a:ext cx="3519720" cy="1873800"/>
          </a:xfrm>
          <a:prstGeom prst="roundRect">
            <a:avLst>
              <a:gd name="adj" fmla="val 5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9" name="TextBox 9"/>
          <p:cNvSpPr/>
          <p:nvPr/>
        </p:nvSpPr>
        <p:spPr>
          <a:xfrm>
            <a:off x="4553640" y="1810440"/>
            <a:ext cx="3016800" cy="5479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00" b="1" u="none" strike="noStrike">
                <a:solidFill>
                  <a:srgbClr val="B8392C"/>
                </a:solidFill>
                <a:effectLst/>
                <a:uFillTx/>
                <a:latin typeface="Calibri"/>
              </a:rPr>
              <a:t>60–70%</a:t>
            </a:r>
            <a:endParaRPr lang="en-US" sz="3100" b="0" u="none" strike="noStrike">
              <a:solidFill>
                <a:srgbClr val="000000"/>
              </a:solidFill>
              <a:effectLst/>
              <a:uFillTx/>
              <a:latin typeface="Arial"/>
            </a:endParaRPr>
          </a:p>
        </p:txBody>
      </p:sp>
      <p:sp>
        <p:nvSpPr>
          <p:cNvPr id="100" name="TextBox 10"/>
          <p:cNvSpPr/>
          <p:nvPr/>
        </p:nvSpPr>
        <p:spPr>
          <a:xfrm>
            <a:off x="4553640" y="2359080"/>
            <a:ext cx="301680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1A202A"/>
                </a:solidFill>
                <a:effectLst/>
                <a:uFillTx/>
                <a:latin typeface="Calibri"/>
              </a:rPr>
              <a:t>of tickets are already known</a:t>
            </a:r>
            <a:endParaRPr lang="en-US" sz="1300" b="0" u="none" strike="noStrike">
              <a:solidFill>
                <a:srgbClr val="000000"/>
              </a:solidFill>
              <a:effectLst/>
              <a:uFillTx/>
              <a:latin typeface="Arial"/>
            </a:endParaRPr>
          </a:p>
        </p:txBody>
      </p:sp>
      <p:sp>
        <p:nvSpPr>
          <p:cNvPr id="101" name="TextBox 11"/>
          <p:cNvSpPr/>
          <p:nvPr/>
        </p:nvSpPr>
        <p:spPr>
          <a:xfrm>
            <a:off x="4553640" y="2670120"/>
            <a:ext cx="3062520" cy="63936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050" b="0" u="none" strike="noStrike">
                <a:solidFill>
                  <a:srgbClr val="57606D"/>
                </a:solidFill>
                <a:effectLst/>
                <a:uFillTx/>
                <a:latin typeface="Calibri"/>
              </a:rPr>
              <a:t>they map to an existing runbook, but still need a human to read it</a:t>
            </a:r>
            <a:endParaRPr lang="en-US" sz="1050" b="0" u="none" strike="noStrike">
              <a:solidFill>
                <a:srgbClr val="000000"/>
              </a:solidFill>
              <a:effectLst/>
              <a:uFillTx/>
              <a:latin typeface="Arial"/>
            </a:endParaRPr>
          </a:p>
        </p:txBody>
      </p:sp>
      <p:sp>
        <p:nvSpPr>
          <p:cNvPr id="102" name="Rounded Rectangle 12"/>
          <p:cNvSpPr/>
          <p:nvPr/>
        </p:nvSpPr>
        <p:spPr>
          <a:xfrm>
            <a:off x="8092440" y="1600200"/>
            <a:ext cx="3519720" cy="1873800"/>
          </a:xfrm>
          <a:prstGeom prst="roundRect">
            <a:avLst>
              <a:gd name="adj" fmla="val 5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3" name="TextBox 13"/>
          <p:cNvSpPr/>
          <p:nvPr/>
        </p:nvSpPr>
        <p:spPr>
          <a:xfrm>
            <a:off x="8348400" y="1810440"/>
            <a:ext cx="3016800" cy="5479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00" b="1" u="none" strike="noStrike">
                <a:solidFill>
                  <a:srgbClr val="B8392C"/>
                </a:solidFill>
                <a:effectLst/>
                <a:uFillTx/>
                <a:latin typeface="Calibri"/>
              </a:rPr>
              <a:t>2,500+</a:t>
            </a:r>
            <a:endParaRPr lang="en-US" sz="3100" b="0" u="none" strike="noStrike">
              <a:solidFill>
                <a:srgbClr val="000000"/>
              </a:solidFill>
              <a:effectLst/>
              <a:uFillTx/>
              <a:latin typeface="Arial"/>
            </a:endParaRPr>
          </a:p>
        </p:txBody>
      </p:sp>
      <p:sp>
        <p:nvSpPr>
          <p:cNvPr id="104" name="TextBox 14"/>
          <p:cNvSpPr/>
          <p:nvPr/>
        </p:nvSpPr>
        <p:spPr>
          <a:xfrm>
            <a:off x="8348400" y="2359080"/>
            <a:ext cx="301680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1A202A"/>
                </a:solidFill>
                <a:effectLst/>
                <a:uFillTx/>
                <a:latin typeface="Calibri"/>
              </a:rPr>
              <a:t>locations, inconsistent service</a:t>
            </a:r>
            <a:endParaRPr lang="en-US" sz="1300" b="0" u="none" strike="noStrike">
              <a:solidFill>
                <a:srgbClr val="000000"/>
              </a:solidFill>
              <a:effectLst/>
              <a:uFillTx/>
              <a:latin typeface="Arial"/>
            </a:endParaRPr>
          </a:p>
        </p:txBody>
      </p:sp>
      <p:sp>
        <p:nvSpPr>
          <p:cNvPr id="105" name="TextBox 15"/>
          <p:cNvSpPr/>
          <p:nvPr/>
        </p:nvSpPr>
        <p:spPr>
          <a:xfrm>
            <a:off x="8348400" y="2670120"/>
            <a:ext cx="3062520" cy="63936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050" b="0" u="none" strike="noStrike">
                <a:solidFill>
                  <a:srgbClr val="57606D"/>
                </a:solidFill>
                <a:effectLst/>
                <a:uFillTx/>
                <a:latin typeface="Calibri"/>
              </a:rPr>
              <a:t>some stores get quick help; others bounce between L1 and L2</a:t>
            </a:r>
            <a:endParaRPr lang="en-US" sz="1050" b="0" u="none" strike="noStrike">
              <a:solidFill>
                <a:srgbClr val="000000"/>
              </a:solidFill>
              <a:effectLst/>
              <a:uFillTx/>
              <a:latin typeface="Arial"/>
            </a:endParaRPr>
          </a:p>
        </p:txBody>
      </p:sp>
      <p:sp>
        <p:nvSpPr>
          <p:cNvPr id="106" name="TextBox 16"/>
          <p:cNvSpPr/>
          <p:nvPr/>
        </p:nvSpPr>
        <p:spPr>
          <a:xfrm>
            <a:off x="502920" y="3767400"/>
            <a:ext cx="109720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AND THE COST LANDS IN THREE PLACES</a:t>
            </a:r>
            <a:endParaRPr lang="en-US" sz="1200" b="0" u="none" strike="noStrike">
              <a:solidFill>
                <a:srgbClr val="000000"/>
              </a:solidFill>
              <a:effectLst/>
              <a:uFillTx/>
              <a:latin typeface="Arial"/>
            </a:endParaRPr>
          </a:p>
        </p:txBody>
      </p:sp>
      <p:sp>
        <p:nvSpPr>
          <p:cNvPr id="107" name="TextBox 17"/>
          <p:cNvSpPr/>
          <p:nvPr/>
        </p:nvSpPr>
        <p:spPr>
          <a:xfrm>
            <a:off x="502920" y="4160520"/>
            <a:ext cx="11154960" cy="1462320"/>
          </a:xfrm>
          <a:prstGeom prst="rect">
            <a:avLst/>
          </a:prstGeom>
          <a:noFill/>
          <a:ln w="0">
            <a:noFill/>
          </a:ln>
        </p:spPr>
        <p:style>
          <a:lnRef idx="0"/>
          <a:fillRef idx="0"/>
          <a:effectRef idx="0"/>
          <a:fontRef idx="minor"/>
        </p:style>
        <p:txBody>
          <a:bodyPr lIns="0" tIns="0" rIns="0" bIns="0" anchor="t">
            <a:spAutoFit/>
          </a:bodyPr>
          <a:p>
            <a:pPr defTabSz="457200">
              <a:lnSpc>
                <a:spcPct val="112000"/>
              </a:lnSpc>
              <a:spcAft>
                <a:spcPts val="1301"/>
              </a:spcAft>
              <a:tabLst>
                <a:tab pos="0" algn="l"/>
              </a:tabLst>
            </a:pPr>
            <a:r>
              <a:rPr lang="en-US" sz="1500" b="1" u="none" strike="noStrike">
                <a:solidFill>
                  <a:srgbClr val="179285"/>
                </a:solidFill>
                <a:effectLst/>
                <a:uFillTx/>
                <a:latin typeface="Calibri"/>
              </a:rPr>
              <a:t>•  </a:t>
            </a:r>
            <a:r>
              <a:rPr lang="en-US" sz="1500" b="1" u="none" strike="noStrike">
                <a:solidFill>
                  <a:srgbClr val="1A202A"/>
                </a:solidFill>
                <a:effectLst/>
                <a:uFillTx/>
                <a:latin typeface="Calibri"/>
              </a:rPr>
              <a:t>Revenue:  </a:t>
            </a:r>
            <a:r>
              <a:rPr lang="en-US" sz="1500" b="0" u="none" strike="noStrike">
                <a:solidFill>
                  <a:srgbClr val="57606D"/>
                </a:solidFill>
                <a:effectLst/>
                <a:uFillTx/>
                <a:latin typeface="Calibri"/>
              </a:rPr>
              <a:t>Store downtime reduces revenue and customer satisfaction directly.</a:t>
            </a:r>
            <a:endParaRPr lang="en-US" sz="1500" b="0" u="none" strike="noStrike">
              <a:solidFill>
                <a:srgbClr val="000000"/>
              </a:solidFill>
              <a:effectLst/>
              <a:uFillTx/>
              <a:latin typeface="Arial"/>
            </a:endParaRPr>
          </a:p>
          <a:p>
            <a:pPr defTabSz="457200">
              <a:lnSpc>
                <a:spcPct val="112000"/>
              </a:lnSpc>
              <a:spcAft>
                <a:spcPts val="1301"/>
              </a:spcAft>
              <a:tabLst>
                <a:tab pos="0" algn="l"/>
              </a:tabLst>
            </a:pPr>
            <a:r>
              <a:rPr lang="en-US" sz="1500" b="1" u="none" strike="noStrike">
                <a:solidFill>
                  <a:srgbClr val="179285"/>
                </a:solidFill>
                <a:effectLst/>
                <a:uFillTx/>
                <a:latin typeface="Calibri"/>
              </a:rPr>
              <a:t>•  </a:t>
            </a:r>
            <a:r>
              <a:rPr lang="en-US" sz="1500" b="1" u="none" strike="noStrike">
                <a:solidFill>
                  <a:srgbClr val="1A202A"/>
                </a:solidFill>
                <a:effectLst/>
                <a:uFillTx/>
                <a:latin typeface="Calibri"/>
              </a:rPr>
              <a:t>People:  </a:t>
            </a:r>
            <a:r>
              <a:rPr lang="en-US" sz="1500" b="0" u="none" strike="noStrike">
                <a:solidFill>
                  <a:srgbClr val="57606D"/>
                </a:solidFill>
                <a:effectLst/>
                <a:uFillTx/>
                <a:latin typeface="Calibri"/>
              </a:rPr>
              <a:t>L1 cost and burnout are rising, with high attrition in the support centre.</a:t>
            </a:r>
            <a:endParaRPr lang="en-US" sz="1500" b="0" u="none" strike="noStrike">
              <a:solidFill>
                <a:srgbClr val="000000"/>
              </a:solidFill>
              <a:effectLst/>
              <a:uFillTx/>
              <a:latin typeface="Arial"/>
            </a:endParaRPr>
          </a:p>
          <a:p>
            <a:pPr defTabSz="457200">
              <a:lnSpc>
                <a:spcPct val="112000"/>
              </a:lnSpc>
              <a:spcAft>
                <a:spcPts val="1301"/>
              </a:spcAft>
              <a:tabLst>
                <a:tab pos="0" algn="l"/>
              </a:tabLst>
            </a:pPr>
            <a:r>
              <a:rPr lang="en-US" sz="1500" b="1" u="none" strike="noStrike">
                <a:solidFill>
                  <a:srgbClr val="179285"/>
                </a:solidFill>
                <a:effectLst/>
                <a:uFillTx/>
                <a:latin typeface="Calibri"/>
              </a:rPr>
              <a:t>•  </a:t>
            </a:r>
            <a:r>
              <a:rPr lang="en-US" sz="1500" b="1" u="none" strike="noStrike">
                <a:solidFill>
                  <a:srgbClr val="1A202A"/>
                </a:solidFill>
                <a:effectLst/>
                <a:uFillTx/>
                <a:latin typeface="Calibri"/>
              </a:rPr>
              <a:t>Capacity:  </a:t>
            </a:r>
            <a:r>
              <a:rPr lang="en-US" sz="1500" b="0" u="none" strike="noStrike">
                <a:solidFill>
                  <a:srgbClr val="57606D"/>
                </a:solidFill>
                <a:effectLst/>
                <a:uFillTx/>
                <a:latin typeface="Calibri"/>
              </a:rPr>
              <a:t>L2 engineers are absorbing basic tickets that should never have reached them.</a:t>
            </a:r>
            <a:endParaRPr lang="en-US" sz="1500" b="0" u="none" strike="noStrike">
              <a:solidFill>
                <a:srgbClr val="000000"/>
              </a:solidFill>
              <a:effectLst/>
              <a:uFillTx/>
              <a:latin typeface="Arial"/>
            </a:endParaRPr>
          </a:p>
        </p:txBody>
      </p:sp>
      <p:sp>
        <p:nvSpPr>
          <p:cNvPr id="108" name="Rounded Rectangle 18"/>
          <p:cNvSpPr/>
          <p:nvPr/>
        </p:nvSpPr>
        <p:spPr>
          <a:xfrm>
            <a:off x="502920" y="5742360"/>
            <a:ext cx="11154960" cy="639360"/>
          </a:xfrm>
          <a:prstGeom prst="roundRect">
            <a:avLst>
              <a:gd name="adj" fmla="val 14000"/>
            </a:avLst>
          </a:prstGeom>
          <a:solidFill>
            <a:srgbClr val="E4F2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9" name="TextBox 19"/>
          <p:cNvSpPr/>
          <p:nvPr/>
        </p:nvSpPr>
        <p:spPr>
          <a:xfrm>
            <a:off x="777240" y="5888880"/>
            <a:ext cx="10606320" cy="4107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50" b="0" i="1" u="none" strike="noStrike">
                <a:solidFill>
                  <a:srgbClr val="0D665E"/>
                </a:solidFill>
                <a:effectLst/>
                <a:uFillTx/>
                <a:latin typeface="Calibri"/>
              </a:rPr>
              <a:t>Note the shape of this: the knowledge to fix most of these tickets already exists. The bottleneck is getting it to the right person fast, and knowing when not to try.</a:t>
            </a:r>
            <a:endParaRPr lang="en-US" sz="1250" b="0" u="none" strike="noStrike">
              <a:solidFill>
                <a:srgbClr val="000000"/>
              </a:solidFill>
              <a:effectLst/>
              <a:uFillTx/>
              <a:latin typeface="Arial"/>
            </a:endParaRPr>
          </a:p>
        </p:txBody>
      </p:sp>
      <p:sp>
        <p:nvSpPr>
          <p:cNvPr id="110" name="TextBox 20"/>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ServeWell IT Support Agent Suite — phData Intelligence Platform</a:t>
            </a:r>
            <a:endParaRPr lang="en-US" sz="900" b="0" u="none" strike="noStrike">
              <a:solidFill>
                <a:srgbClr val="000000"/>
              </a:solidFill>
              <a:effectLst/>
              <a:uFillTx/>
              <a:latin typeface="Arial"/>
            </a:endParaRPr>
          </a:p>
        </p:txBody>
      </p:sp>
      <p:sp>
        <p:nvSpPr>
          <p:cNvPr id="111" name="TextBox 21"/>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112"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IN PLAIN LANGUAGE</a:t>
            </a:r>
            <a:endParaRPr lang="en-US" sz="1200" b="0" u="none" strike="noStrike">
              <a:solidFill>
                <a:srgbClr val="000000"/>
              </a:solidFill>
              <a:effectLst/>
              <a:uFillTx/>
              <a:latin typeface="Arial"/>
            </a:endParaRPr>
          </a:p>
        </p:txBody>
      </p:sp>
      <p:sp>
        <p:nvSpPr>
          <p:cNvPr id="113"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What the system actually does</a:t>
            </a:r>
            <a:endParaRPr lang="en-US" sz="2700" b="0" u="none" strike="noStrike">
              <a:solidFill>
                <a:srgbClr val="000000"/>
              </a:solidFill>
              <a:effectLst/>
              <a:uFillTx/>
              <a:latin typeface="Arial"/>
            </a:endParaRPr>
          </a:p>
        </p:txBody>
      </p:sp>
      <p:sp>
        <p:nvSpPr>
          <p:cNvPr id="114"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sp>
        <p:nvSpPr>
          <p:cNvPr id="115" name="Oval 4"/>
          <p:cNvSpPr/>
          <p:nvPr/>
        </p:nvSpPr>
        <p:spPr>
          <a:xfrm>
            <a:off x="502920" y="1572840"/>
            <a:ext cx="474840" cy="474840"/>
          </a:xfrm>
          <a:prstGeom prst="ellipse">
            <a:avLst/>
          </a:prstGeom>
          <a:solidFill>
            <a:srgbClr val="1228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6" name="TextBox 5"/>
          <p:cNvSpPr/>
          <p:nvPr/>
        </p:nvSpPr>
        <p:spPr>
          <a:xfrm>
            <a:off x="502920" y="1572840"/>
            <a:ext cx="474840" cy="4748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700" b="1" u="none" strike="noStrike">
                <a:solidFill>
                  <a:srgbClr val="FFFFFF"/>
                </a:solidFill>
                <a:effectLst/>
                <a:uFillTx/>
                <a:latin typeface="Calibri"/>
              </a:rPr>
              <a:t>1</a:t>
            </a:r>
            <a:endParaRPr lang="en-US" sz="1700" b="0" u="none" strike="noStrike">
              <a:solidFill>
                <a:srgbClr val="000000"/>
              </a:solidFill>
              <a:effectLst/>
              <a:uFillTx/>
              <a:latin typeface="Arial"/>
            </a:endParaRPr>
          </a:p>
        </p:txBody>
      </p:sp>
      <p:sp>
        <p:nvSpPr>
          <p:cNvPr id="117" name="TextBox 6"/>
          <p:cNvSpPr/>
          <p:nvPr/>
        </p:nvSpPr>
        <p:spPr>
          <a:xfrm>
            <a:off x="1188720" y="1554480"/>
            <a:ext cx="457128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1" u="none" strike="noStrike">
                <a:solidFill>
                  <a:srgbClr val="1A202A"/>
                </a:solidFill>
                <a:effectLst/>
                <a:uFillTx/>
                <a:latin typeface="Calibri"/>
              </a:rPr>
              <a:t>A ticket arrives</a:t>
            </a:r>
            <a:endParaRPr lang="en-US" sz="1650" b="0" u="none" strike="noStrike">
              <a:solidFill>
                <a:srgbClr val="000000"/>
              </a:solidFill>
              <a:effectLst/>
              <a:uFillTx/>
              <a:latin typeface="Arial"/>
            </a:endParaRPr>
          </a:p>
        </p:txBody>
      </p:sp>
      <p:sp>
        <p:nvSpPr>
          <p:cNvPr id="118" name="TextBox 7"/>
          <p:cNvSpPr/>
          <p:nvPr/>
        </p:nvSpPr>
        <p:spPr>
          <a:xfrm>
            <a:off x="1188720" y="1883520"/>
            <a:ext cx="603432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50" b="0" u="none" strike="noStrike">
                <a:solidFill>
                  <a:srgbClr val="57606D"/>
                </a:solidFill>
                <a:effectLst/>
                <a:uFillTx/>
                <a:latin typeface="Calibri"/>
              </a:rPr>
              <a:t>“The PIN pad on terminal 1 is not responding.”</a:t>
            </a:r>
            <a:endParaRPr lang="en-US" sz="1250" b="0" u="none" strike="noStrike">
              <a:solidFill>
                <a:srgbClr val="000000"/>
              </a:solidFill>
              <a:effectLst/>
              <a:uFillTx/>
              <a:latin typeface="Arial"/>
            </a:endParaRPr>
          </a:p>
        </p:txBody>
      </p:sp>
      <p:cxnSp>
        <p:nvCxnSpPr>
          <p:cNvPr id="119" name="Connector 8"/>
          <p:cNvCxnSpPr/>
          <p:nvPr/>
        </p:nvCxnSpPr>
        <p:spPr>
          <a:xfrm>
            <a:off x="740520" y="2066400"/>
            <a:ext cx="720" cy="366480"/>
          </a:xfrm>
          <a:prstGeom prst="straightConnector1">
            <a:avLst/>
          </a:prstGeom>
          <a:ln w="19050">
            <a:solidFill>
              <a:srgbClr val="D8DDE3"/>
            </a:solidFill>
            <a:round/>
            <a:tailEnd len="med" type="triangle" w="med"/>
          </a:ln>
        </p:spPr>
      </p:cxnSp>
      <p:sp>
        <p:nvSpPr>
          <p:cNvPr id="120" name="Oval 9"/>
          <p:cNvSpPr/>
          <p:nvPr/>
        </p:nvSpPr>
        <p:spPr>
          <a:xfrm>
            <a:off x="502920" y="2468880"/>
            <a:ext cx="474840" cy="474840"/>
          </a:xfrm>
          <a:prstGeom prst="ellipse">
            <a:avLst/>
          </a:prstGeom>
          <a:solidFill>
            <a:srgbClr val="0D66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1" name="TextBox 10"/>
          <p:cNvSpPr/>
          <p:nvPr/>
        </p:nvSpPr>
        <p:spPr>
          <a:xfrm>
            <a:off x="502920" y="2468880"/>
            <a:ext cx="474840" cy="4748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700" b="1" u="none" strike="noStrike">
                <a:solidFill>
                  <a:srgbClr val="FFFFFF"/>
                </a:solidFill>
                <a:effectLst/>
                <a:uFillTx/>
                <a:latin typeface="Calibri"/>
              </a:rPr>
              <a:t>2</a:t>
            </a:r>
            <a:endParaRPr lang="en-US" sz="1700" b="0" u="none" strike="noStrike">
              <a:solidFill>
                <a:srgbClr val="000000"/>
              </a:solidFill>
              <a:effectLst/>
              <a:uFillTx/>
              <a:latin typeface="Arial"/>
            </a:endParaRPr>
          </a:p>
        </p:txBody>
      </p:sp>
      <p:sp>
        <p:nvSpPr>
          <p:cNvPr id="122" name="TextBox 11"/>
          <p:cNvSpPr/>
          <p:nvPr/>
        </p:nvSpPr>
        <p:spPr>
          <a:xfrm>
            <a:off x="1188720" y="2450520"/>
            <a:ext cx="457128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1" u="none" strike="noStrike">
                <a:solidFill>
                  <a:srgbClr val="1A202A"/>
                </a:solidFill>
                <a:effectLst/>
                <a:uFillTx/>
                <a:latin typeface="Calibri"/>
              </a:rPr>
              <a:t>It decides who should handle it</a:t>
            </a:r>
            <a:endParaRPr lang="en-US" sz="1650" b="0" u="none" strike="noStrike">
              <a:solidFill>
                <a:srgbClr val="000000"/>
              </a:solidFill>
              <a:effectLst/>
              <a:uFillTx/>
              <a:latin typeface="Arial"/>
            </a:endParaRPr>
          </a:p>
        </p:txBody>
      </p:sp>
      <p:sp>
        <p:nvSpPr>
          <p:cNvPr id="123" name="TextBox 12"/>
          <p:cNvSpPr/>
          <p:nvPr/>
        </p:nvSpPr>
        <p:spPr>
          <a:xfrm>
            <a:off x="1188720" y="2779920"/>
            <a:ext cx="603432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50" b="0" u="none" strike="noStrike">
                <a:solidFill>
                  <a:srgbClr val="57606D"/>
                </a:solidFill>
                <a:effectLst/>
                <a:uFillTx/>
                <a:latin typeface="Calibri"/>
              </a:rPr>
              <a:t>Straight to a human L2 engineer, or guided at L1</a:t>
            </a:r>
            <a:endParaRPr lang="en-US" sz="1250" b="0" u="none" strike="noStrike">
              <a:solidFill>
                <a:srgbClr val="000000"/>
              </a:solidFill>
              <a:effectLst/>
              <a:uFillTx/>
              <a:latin typeface="Arial"/>
            </a:endParaRPr>
          </a:p>
        </p:txBody>
      </p:sp>
      <p:cxnSp>
        <p:nvCxnSpPr>
          <p:cNvPr id="124" name="Connector 13"/>
          <p:cNvCxnSpPr/>
          <p:nvPr/>
        </p:nvCxnSpPr>
        <p:spPr>
          <a:xfrm>
            <a:off x="740520" y="2962440"/>
            <a:ext cx="720" cy="366480"/>
          </a:xfrm>
          <a:prstGeom prst="straightConnector1">
            <a:avLst/>
          </a:prstGeom>
          <a:ln w="19050">
            <a:solidFill>
              <a:srgbClr val="D8DDE3"/>
            </a:solidFill>
            <a:round/>
            <a:tailEnd len="med" type="triangle" w="med"/>
          </a:ln>
        </p:spPr>
      </p:cxnSp>
      <p:sp>
        <p:nvSpPr>
          <p:cNvPr id="125" name="Oval 14"/>
          <p:cNvSpPr/>
          <p:nvPr/>
        </p:nvSpPr>
        <p:spPr>
          <a:xfrm>
            <a:off x="502920" y="3364920"/>
            <a:ext cx="474840" cy="474840"/>
          </a:xfrm>
          <a:prstGeom prst="ellipse">
            <a:avLst/>
          </a:prstGeom>
          <a:solidFill>
            <a:srgbClr val="1D3A5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6" name="TextBox 15"/>
          <p:cNvSpPr/>
          <p:nvPr/>
        </p:nvSpPr>
        <p:spPr>
          <a:xfrm>
            <a:off x="502920" y="3364920"/>
            <a:ext cx="474840" cy="4748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700" b="1" u="none" strike="noStrike">
                <a:solidFill>
                  <a:srgbClr val="FFFFFF"/>
                </a:solidFill>
                <a:effectLst/>
                <a:uFillTx/>
                <a:latin typeface="Calibri"/>
              </a:rPr>
              <a:t>3</a:t>
            </a:r>
            <a:endParaRPr lang="en-US" sz="1700" b="0" u="none" strike="noStrike">
              <a:solidFill>
                <a:srgbClr val="000000"/>
              </a:solidFill>
              <a:effectLst/>
              <a:uFillTx/>
              <a:latin typeface="Arial"/>
            </a:endParaRPr>
          </a:p>
        </p:txBody>
      </p:sp>
      <p:sp>
        <p:nvSpPr>
          <p:cNvPr id="127" name="TextBox 16"/>
          <p:cNvSpPr/>
          <p:nvPr/>
        </p:nvSpPr>
        <p:spPr>
          <a:xfrm>
            <a:off x="1188720" y="3346560"/>
            <a:ext cx="457128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1" u="none" strike="noStrike">
                <a:solidFill>
                  <a:srgbClr val="1A202A"/>
                </a:solidFill>
                <a:effectLst/>
                <a:uFillTx/>
                <a:latin typeface="Calibri"/>
              </a:rPr>
              <a:t>It finds the right runbook</a:t>
            </a:r>
            <a:endParaRPr lang="en-US" sz="1650" b="0" u="none" strike="noStrike">
              <a:solidFill>
                <a:srgbClr val="000000"/>
              </a:solidFill>
              <a:effectLst/>
              <a:uFillTx/>
              <a:latin typeface="Arial"/>
            </a:endParaRPr>
          </a:p>
        </p:txBody>
      </p:sp>
      <p:sp>
        <p:nvSpPr>
          <p:cNvPr id="128" name="TextBox 17"/>
          <p:cNvSpPr/>
          <p:nvPr/>
        </p:nvSpPr>
        <p:spPr>
          <a:xfrm>
            <a:off x="1188720" y="3675960"/>
            <a:ext cx="603432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50" b="0" u="none" strike="noStrike">
                <a:solidFill>
                  <a:srgbClr val="57606D"/>
                </a:solidFill>
                <a:effectLst/>
                <a:uFillTx/>
                <a:latin typeface="Calibri"/>
              </a:rPr>
              <a:t>and reads the store, asset and warranty records</a:t>
            </a:r>
            <a:endParaRPr lang="en-US" sz="1250" b="0" u="none" strike="noStrike">
              <a:solidFill>
                <a:srgbClr val="000000"/>
              </a:solidFill>
              <a:effectLst/>
              <a:uFillTx/>
              <a:latin typeface="Arial"/>
            </a:endParaRPr>
          </a:p>
        </p:txBody>
      </p:sp>
      <p:cxnSp>
        <p:nvCxnSpPr>
          <p:cNvPr id="129" name="Connector 18"/>
          <p:cNvCxnSpPr/>
          <p:nvPr/>
        </p:nvCxnSpPr>
        <p:spPr>
          <a:xfrm>
            <a:off x="740520" y="3858480"/>
            <a:ext cx="720" cy="366480"/>
          </a:xfrm>
          <a:prstGeom prst="straightConnector1">
            <a:avLst/>
          </a:prstGeom>
          <a:ln w="19050">
            <a:solidFill>
              <a:srgbClr val="D8DDE3"/>
            </a:solidFill>
            <a:round/>
            <a:tailEnd len="med" type="triangle" w="med"/>
          </a:ln>
        </p:spPr>
      </p:cxnSp>
      <p:sp>
        <p:nvSpPr>
          <p:cNvPr id="130" name="Oval 19"/>
          <p:cNvSpPr/>
          <p:nvPr/>
        </p:nvSpPr>
        <p:spPr>
          <a:xfrm>
            <a:off x="502920" y="4260960"/>
            <a:ext cx="474840" cy="474840"/>
          </a:xfrm>
          <a:prstGeom prst="ellipse">
            <a:avLst/>
          </a:prstGeom>
          <a:solidFill>
            <a:srgbClr val="0D66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1" name="TextBox 20"/>
          <p:cNvSpPr/>
          <p:nvPr/>
        </p:nvSpPr>
        <p:spPr>
          <a:xfrm>
            <a:off x="502920" y="4260960"/>
            <a:ext cx="474840" cy="4748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700" b="1" u="none" strike="noStrike">
                <a:solidFill>
                  <a:srgbClr val="FFFFFF"/>
                </a:solidFill>
                <a:effectLst/>
                <a:uFillTx/>
                <a:latin typeface="Calibri"/>
              </a:rPr>
              <a:t>4</a:t>
            </a:r>
            <a:endParaRPr lang="en-US" sz="1700" b="0" u="none" strike="noStrike">
              <a:solidFill>
                <a:srgbClr val="000000"/>
              </a:solidFill>
              <a:effectLst/>
              <a:uFillTx/>
              <a:latin typeface="Arial"/>
            </a:endParaRPr>
          </a:p>
        </p:txBody>
      </p:sp>
      <p:sp>
        <p:nvSpPr>
          <p:cNvPr id="132" name="TextBox 21"/>
          <p:cNvSpPr/>
          <p:nvPr/>
        </p:nvSpPr>
        <p:spPr>
          <a:xfrm>
            <a:off x="1188720" y="4242960"/>
            <a:ext cx="457128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1" u="none" strike="noStrike">
                <a:solidFill>
                  <a:srgbClr val="1A202A"/>
                </a:solidFill>
                <a:effectLst/>
                <a:uFillTx/>
                <a:latin typeface="Calibri"/>
              </a:rPr>
              <a:t>It writes the steps back</a:t>
            </a:r>
            <a:endParaRPr lang="en-US" sz="1650" b="0" u="none" strike="noStrike">
              <a:solidFill>
                <a:srgbClr val="000000"/>
              </a:solidFill>
              <a:effectLst/>
              <a:uFillTx/>
              <a:latin typeface="Arial"/>
            </a:endParaRPr>
          </a:p>
        </p:txBody>
      </p:sp>
      <p:sp>
        <p:nvSpPr>
          <p:cNvPr id="133" name="TextBox 22"/>
          <p:cNvSpPr/>
          <p:nvPr/>
        </p:nvSpPr>
        <p:spPr>
          <a:xfrm>
            <a:off x="1188720" y="4572000"/>
            <a:ext cx="603432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50" b="0" u="none" strike="noStrike">
                <a:solidFill>
                  <a:srgbClr val="57606D"/>
                </a:solidFill>
                <a:effectLst/>
                <a:uFillTx/>
                <a:latin typeface="Calibri"/>
              </a:rPr>
              <a:t>grounded in that runbook — never invented</a:t>
            </a:r>
            <a:endParaRPr lang="en-US" sz="1250" b="0" u="none" strike="noStrike">
              <a:solidFill>
                <a:srgbClr val="000000"/>
              </a:solidFill>
              <a:effectLst/>
              <a:uFillTx/>
              <a:latin typeface="Arial"/>
            </a:endParaRPr>
          </a:p>
        </p:txBody>
      </p:sp>
      <p:cxnSp>
        <p:nvCxnSpPr>
          <p:cNvPr id="134" name="Connector 23"/>
          <p:cNvCxnSpPr/>
          <p:nvPr/>
        </p:nvCxnSpPr>
        <p:spPr>
          <a:xfrm>
            <a:off x="740520" y="4754880"/>
            <a:ext cx="720" cy="366480"/>
          </a:xfrm>
          <a:prstGeom prst="straightConnector1">
            <a:avLst/>
          </a:prstGeom>
          <a:ln w="19050">
            <a:solidFill>
              <a:srgbClr val="D8DDE3"/>
            </a:solidFill>
            <a:round/>
            <a:tailEnd len="med" type="triangle" w="med"/>
          </a:ln>
        </p:spPr>
      </p:cxnSp>
      <p:sp>
        <p:nvSpPr>
          <p:cNvPr id="135" name="Oval 24"/>
          <p:cNvSpPr/>
          <p:nvPr/>
        </p:nvSpPr>
        <p:spPr>
          <a:xfrm>
            <a:off x="502920" y="5157360"/>
            <a:ext cx="474840" cy="474840"/>
          </a:xfrm>
          <a:prstGeom prst="ellipse">
            <a:avLst/>
          </a:prstGeom>
          <a:solidFill>
            <a:srgbClr val="A86A1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6" name="TextBox 25"/>
          <p:cNvSpPr/>
          <p:nvPr/>
        </p:nvSpPr>
        <p:spPr>
          <a:xfrm>
            <a:off x="502920" y="5157360"/>
            <a:ext cx="474840" cy="47484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700" b="1" u="none" strike="noStrike">
                <a:solidFill>
                  <a:srgbClr val="FFFFFF"/>
                </a:solidFill>
                <a:effectLst/>
                <a:uFillTx/>
                <a:latin typeface="Calibri"/>
              </a:rPr>
              <a:t>5</a:t>
            </a:r>
            <a:endParaRPr lang="en-US" sz="1700" b="0" u="none" strike="noStrike">
              <a:solidFill>
                <a:srgbClr val="000000"/>
              </a:solidFill>
              <a:effectLst/>
              <a:uFillTx/>
              <a:latin typeface="Arial"/>
            </a:endParaRPr>
          </a:p>
        </p:txBody>
      </p:sp>
      <p:sp>
        <p:nvSpPr>
          <p:cNvPr id="137" name="TextBox 26"/>
          <p:cNvSpPr/>
          <p:nvPr/>
        </p:nvSpPr>
        <p:spPr>
          <a:xfrm>
            <a:off x="1188720" y="5139000"/>
            <a:ext cx="457128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1" u="none" strike="noStrike">
                <a:solidFill>
                  <a:srgbClr val="1A202A"/>
                </a:solidFill>
                <a:effectLst/>
                <a:uFillTx/>
                <a:latin typeface="Calibri"/>
              </a:rPr>
              <a:t>It can offer to act</a:t>
            </a:r>
            <a:endParaRPr lang="en-US" sz="1650" b="0" u="none" strike="noStrike">
              <a:solidFill>
                <a:srgbClr val="000000"/>
              </a:solidFill>
              <a:effectLst/>
              <a:uFillTx/>
              <a:latin typeface="Arial"/>
            </a:endParaRPr>
          </a:p>
        </p:txBody>
      </p:sp>
      <p:sp>
        <p:nvSpPr>
          <p:cNvPr id="138" name="TextBox 27"/>
          <p:cNvSpPr/>
          <p:nvPr/>
        </p:nvSpPr>
        <p:spPr>
          <a:xfrm>
            <a:off x="1188720" y="5468040"/>
            <a:ext cx="603432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50" b="0" u="none" strike="noStrike">
                <a:solidFill>
                  <a:srgbClr val="57606D"/>
                </a:solidFill>
                <a:effectLst/>
                <a:uFillTx/>
                <a:latin typeface="Calibri"/>
              </a:rPr>
              <a:t>but a human approves before anything runs</a:t>
            </a:r>
            <a:endParaRPr lang="en-US" sz="1250" b="0" u="none" strike="noStrike">
              <a:solidFill>
                <a:srgbClr val="000000"/>
              </a:solidFill>
              <a:effectLst/>
              <a:uFillTx/>
              <a:latin typeface="Arial"/>
            </a:endParaRPr>
          </a:p>
        </p:txBody>
      </p:sp>
      <p:sp>
        <p:nvSpPr>
          <p:cNvPr id="139" name="Rounded Rectangle 28"/>
          <p:cNvSpPr/>
          <p:nvPr/>
        </p:nvSpPr>
        <p:spPr>
          <a:xfrm>
            <a:off x="7589520" y="1600200"/>
            <a:ext cx="4068360" cy="3200400"/>
          </a:xfrm>
          <a:prstGeom prst="roundRect">
            <a:avLst>
              <a:gd name="adj" fmla="val 5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0" name="TextBox 29"/>
          <p:cNvSpPr/>
          <p:nvPr/>
        </p:nvSpPr>
        <p:spPr>
          <a:xfrm>
            <a:off x="7863840" y="1810440"/>
            <a:ext cx="35654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500" b="1" u="none" strike="noStrike">
                <a:solidFill>
                  <a:srgbClr val="122840"/>
                </a:solidFill>
                <a:effectLst/>
                <a:uFillTx/>
                <a:latin typeface="Calibri"/>
              </a:rPr>
              <a:t>The one design rule</a:t>
            </a:r>
            <a:endParaRPr lang="en-US" sz="1500" b="0" u="none" strike="noStrike">
              <a:solidFill>
                <a:srgbClr val="000000"/>
              </a:solidFill>
              <a:effectLst/>
              <a:uFillTx/>
              <a:latin typeface="Arial"/>
            </a:endParaRPr>
          </a:p>
        </p:txBody>
      </p:sp>
      <p:sp>
        <p:nvSpPr>
          <p:cNvPr id="141" name="TextBox 30"/>
          <p:cNvSpPr/>
          <p:nvPr/>
        </p:nvSpPr>
        <p:spPr>
          <a:xfrm>
            <a:off x="7863840" y="2212920"/>
            <a:ext cx="3565440" cy="1872720"/>
          </a:xfrm>
          <a:prstGeom prst="rect">
            <a:avLst/>
          </a:prstGeom>
          <a:noFill/>
          <a:ln w="0">
            <a:noFill/>
          </a:ln>
        </p:spPr>
        <p:style>
          <a:lnRef idx="0"/>
          <a:fillRef idx="0"/>
          <a:effectRef idx="0"/>
          <a:fontRef idx="minor"/>
        </p:style>
        <p:txBody>
          <a:bodyPr lIns="0" tIns="0" rIns="0" bIns="0" anchor="t">
            <a:spAutoFit/>
          </a:bodyPr>
          <a:p>
            <a:pPr defTabSz="457200">
              <a:lnSpc>
                <a:spcPct val="135000"/>
              </a:lnSpc>
            </a:pPr>
            <a:r>
              <a:rPr lang="en-US" sz="1300" b="0" u="none" strike="noStrike">
                <a:solidFill>
                  <a:srgbClr val="57606D"/>
                </a:solidFill>
                <a:effectLst/>
                <a:uFillTx/>
                <a:latin typeface="Calibri"/>
              </a:rPr>
              <a:t>The agent is allowed to be wrong about advice, because a human reads it before acting on it.</a:t>
            </a:r>
            <a:endParaRPr lang="en-US" sz="1300" b="0" u="none" strike="noStrike">
              <a:solidFill>
                <a:srgbClr val="000000"/>
              </a:solidFill>
              <a:effectLst/>
              <a:uFillTx/>
              <a:latin typeface="Arial"/>
            </a:endParaRPr>
          </a:p>
          <a:p>
            <a:pPr defTabSz="457200">
              <a:lnSpc>
                <a:spcPct val="135000"/>
              </a:lnSpc>
            </a:pPr>
            <a:endParaRPr lang="en-US" sz="1300" b="0" u="none" strike="noStrike">
              <a:solidFill>
                <a:srgbClr val="000000"/>
              </a:solidFill>
              <a:effectLst/>
              <a:uFillTx/>
              <a:latin typeface="Arial"/>
            </a:endParaRPr>
          </a:p>
          <a:p>
            <a:pPr defTabSz="457200">
              <a:lnSpc>
                <a:spcPct val="135000"/>
              </a:lnSpc>
            </a:pPr>
            <a:r>
              <a:rPr lang="en-US" sz="1300" b="0" u="none" strike="noStrike">
                <a:solidFill>
                  <a:srgbClr val="57606D"/>
                </a:solidFill>
                <a:effectLst/>
                <a:uFillTx/>
                <a:latin typeface="Calibri"/>
              </a:rPr>
              <a:t>It is never allowed to be wrong about an action, because nothing runs without an explicit human approval.</a:t>
            </a:r>
            <a:endParaRPr lang="en-US" sz="1300" b="0" u="none" strike="noStrike">
              <a:solidFill>
                <a:srgbClr val="000000"/>
              </a:solidFill>
              <a:effectLst/>
              <a:uFillTx/>
              <a:latin typeface="Arial"/>
            </a:endParaRPr>
          </a:p>
          <a:p>
            <a:pPr defTabSz="457200">
              <a:lnSpc>
                <a:spcPct val="135000"/>
              </a:lnSpc>
            </a:pPr>
            <a:endParaRPr lang="en-US" sz="1300" b="0" u="none" strike="noStrike">
              <a:solidFill>
                <a:srgbClr val="000000"/>
              </a:solidFill>
              <a:effectLst/>
              <a:uFillTx/>
              <a:latin typeface="Arial"/>
            </a:endParaRPr>
          </a:p>
        </p:txBody>
      </p:sp>
      <p:sp>
        <p:nvSpPr>
          <p:cNvPr id="142" name="Rounded Rectangle 31"/>
          <p:cNvSpPr/>
          <p:nvPr/>
        </p:nvSpPr>
        <p:spPr>
          <a:xfrm>
            <a:off x="7863840" y="4005720"/>
            <a:ext cx="3519720" cy="566280"/>
          </a:xfrm>
          <a:prstGeom prst="roundRect">
            <a:avLst>
              <a:gd name="adj" fmla="val 16000"/>
            </a:avLst>
          </a:prstGeom>
          <a:solidFill>
            <a:srgbClr val="E4F2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3" name="TextBox 32"/>
          <p:cNvSpPr/>
          <p:nvPr/>
        </p:nvSpPr>
        <p:spPr>
          <a:xfrm>
            <a:off x="8001000" y="4206960"/>
            <a:ext cx="3199680" cy="36504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200" b="1" u="none" strike="noStrike">
                <a:solidFill>
                  <a:srgbClr val="0D665E"/>
                </a:solidFill>
                <a:effectLst/>
                <a:uFillTx/>
                <a:latin typeface="Calibri"/>
              </a:rPr>
              <a:t>Advice is reversible. Actions are not.</a:t>
            </a:r>
            <a:endParaRPr lang="en-US" sz="1200" b="0" u="none" strike="noStrike">
              <a:solidFill>
                <a:srgbClr val="000000"/>
              </a:solidFill>
              <a:effectLst/>
              <a:uFillTx/>
              <a:latin typeface="Arial"/>
            </a:endParaRPr>
          </a:p>
        </p:txBody>
      </p:sp>
      <p:sp>
        <p:nvSpPr>
          <p:cNvPr id="144" name="TextBox 33"/>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ServeWell IT Support Agent Suite — phData Intelligence Platform</a:t>
            </a:r>
            <a:endParaRPr lang="en-US" sz="900" b="0" u="none" strike="noStrike">
              <a:solidFill>
                <a:srgbClr val="000000"/>
              </a:solidFill>
              <a:effectLst/>
              <a:uFillTx/>
              <a:latin typeface="Arial"/>
            </a:endParaRPr>
          </a:p>
        </p:txBody>
      </p:sp>
      <p:sp>
        <p:nvSpPr>
          <p:cNvPr id="145" name="TextBox 34"/>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146"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ARCHITECTURE</a:t>
            </a:r>
            <a:endParaRPr lang="en-US" sz="1200" b="0" u="none" strike="noStrike">
              <a:solidFill>
                <a:srgbClr val="000000"/>
              </a:solidFill>
              <a:effectLst/>
              <a:uFillTx/>
              <a:latin typeface="Arial"/>
            </a:endParaRPr>
          </a:p>
        </p:txBody>
      </p:sp>
      <p:sp>
        <p:nvSpPr>
          <p:cNvPr id="147"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Component-level view</a:t>
            </a:r>
            <a:endParaRPr lang="en-US" sz="2700" b="0" u="none" strike="noStrike">
              <a:solidFill>
                <a:srgbClr val="000000"/>
              </a:solidFill>
              <a:effectLst/>
              <a:uFillTx/>
              <a:latin typeface="Arial"/>
            </a:endParaRPr>
          </a:p>
        </p:txBody>
      </p:sp>
      <p:sp>
        <p:nvSpPr>
          <p:cNvPr id="148"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sp>
        <p:nvSpPr>
          <p:cNvPr id="149" name="Rounded Rectangle 4"/>
          <p:cNvSpPr/>
          <p:nvPr/>
        </p:nvSpPr>
        <p:spPr>
          <a:xfrm>
            <a:off x="502920" y="1444680"/>
            <a:ext cx="8823240" cy="657720"/>
          </a:xfrm>
          <a:prstGeom prst="roundRect">
            <a:avLst>
              <a:gd name="adj" fmla="val 6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0" name="Rectangle 5"/>
          <p:cNvSpPr/>
          <p:nvPr/>
        </p:nvSpPr>
        <p:spPr>
          <a:xfrm>
            <a:off x="502920" y="1444680"/>
            <a:ext cx="90720" cy="657720"/>
          </a:xfrm>
          <a:prstGeom prst="rect">
            <a:avLst/>
          </a:prstGeom>
          <a:solidFill>
            <a:srgbClr val="4C4A8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360" tIns="45000" rIns="45360" bIns="45000" anchor="ctr">
            <a:noAutofit/>
          </a:bodyPr>
          <a:p>
            <a:endParaRPr lang="en-US" sz="1800" b="0" u="none" strike="noStrike">
              <a:solidFill>
                <a:schemeClr val="lt1"/>
              </a:solidFill>
              <a:effectLst/>
              <a:uFillTx/>
              <a:latin typeface="Calibri"/>
            </a:endParaRPr>
          </a:p>
        </p:txBody>
      </p:sp>
      <p:sp>
        <p:nvSpPr>
          <p:cNvPr id="151" name="TextBox 6"/>
          <p:cNvSpPr/>
          <p:nvPr/>
        </p:nvSpPr>
        <p:spPr>
          <a:xfrm>
            <a:off x="685800" y="1508760"/>
            <a:ext cx="146232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00" b="1" u="none" strike="noStrike">
                <a:solidFill>
                  <a:srgbClr val="4C4A8F"/>
                </a:solidFill>
                <a:effectLst/>
                <a:uFillTx/>
                <a:latin typeface="Calibri"/>
              </a:rPr>
              <a:t>INTERFACE</a:t>
            </a:r>
            <a:endParaRPr lang="en-US" sz="800" b="0" u="none" strike="noStrike">
              <a:solidFill>
                <a:srgbClr val="000000"/>
              </a:solidFill>
              <a:effectLst/>
              <a:uFillTx/>
              <a:latin typeface="Arial"/>
            </a:endParaRPr>
          </a:p>
        </p:txBody>
      </p:sp>
      <p:sp>
        <p:nvSpPr>
          <p:cNvPr id="152" name="Rounded Rectangle 7"/>
          <p:cNvSpPr/>
          <p:nvPr/>
        </p:nvSpPr>
        <p:spPr>
          <a:xfrm>
            <a:off x="2194560" y="1563480"/>
            <a:ext cx="3199680" cy="419760"/>
          </a:xfrm>
          <a:prstGeom prst="roundRect">
            <a:avLst>
              <a:gd name="adj" fmla="val 10000"/>
            </a:avLst>
          </a:prstGeom>
          <a:solidFill>
            <a:srgbClr val="EEEEF7"/>
          </a:solidFill>
          <a:ln w="12700">
            <a:solidFill>
              <a:srgbClr val="4C4A8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050" b="1" u="none" strike="noStrike">
                <a:solidFill>
                  <a:srgbClr val="4C4A8F"/>
                </a:solidFill>
                <a:effectLst/>
                <a:uFillTx/>
                <a:latin typeface="Calibri"/>
              </a:rPr>
              <a:t>Streamlit UI</a:t>
            </a:r>
            <a:endParaRPr lang="en-US" sz="1050" b="0" u="none" strike="noStrike">
              <a:solidFill>
                <a:srgbClr val="000000"/>
              </a:solidFill>
              <a:effectLst/>
              <a:uFillTx/>
              <a:latin typeface="Arial"/>
            </a:endParaRPr>
          </a:p>
          <a:p>
            <a:pPr algn="ctr" defTabSz="457200">
              <a:lnSpc>
                <a:spcPct val="100000"/>
              </a:lnSpc>
            </a:pPr>
            <a:r>
              <a:rPr lang="en-US" sz="750" b="0" u="none" strike="noStrike">
                <a:solidFill>
                  <a:srgbClr val="57606D"/>
                </a:solidFill>
                <a:effectLst/>
                <a:uFillTx/>
                <a:latin typeface="Calibri"/>
              </a:rPr>
              <a:t>Live demo · Evaluation · Latency · Admin</a:t>
            </a:r>
            <a:endParaRPr lang="en-US" sz="750" b="0" u="none" strike="noStrike">
              <a:solidFill>
                <a:srgbClr val="000000"/>
              </a:solidFill>
              <a:effectLst/>
              <a:uFillTx/>
              <a:latin typeface="Arial"/>
            </a:endParaRPr>
          </a:p>
        </p:txBody>
      </p:sp>
      <p:sp>
        <p:nvSpPr>
          <p:cNvPr id="153" name="Rounded Rectangle 8"/>
          <p:cNvSpPr/>
          <p:nvPr/>
        </p:nvSpPr>
        <p:spPr>
          <a:xfrm>
            <a:off x="5577840" y="1563480"/>
            <a:ext cx="3519720" cy="419760"/>
          </a:xfrm>
          <a:prstGeom prst="roundRect">
            <a:avLst>
              <a:gd name="adj" fmla="val 10000"/>
            </a:avLst>
          </a:prstGeom>
          <a:solidFill>
            <a:srgbClr val="EEEEF7"/>
          </a:solidFill>
          <a:ln w="12700">
            <a:solidFill>
              <a:srgbClr val="4C4A8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050" b="1" u="none" strike="noStrike">
                <a:solidFill>
                  <a:srgbClr val="4C4A8F"/>
                </a:solidFill>
                <a:effectLst/>
                <a:uFillTx/>
                <a:latin typeface="Calibri"/>
              </a:rPr>
              <a:t>FastAPI  ·  api.py</a:t>
            </a:r>
            <a:endParaRPr lang="en-US" sz="1050" b="0" u="none" strike="noStrike">
              <a:solidFill>
                <a:srgbClr val="000000"/>
              </a:solidFill>
              <a:effectLst/>
              <a:uFillTx/>
              <a:latin typeface="Arial"/>
            </a:endParaRPr>
          </a:p>
          <a:p>
            <a:pPr algn="ctr" defTabSz="457200">
              <a:lnSpc>
                <a:spcPct val="100000"/>
              </a:lnSpc>
            </a:pPr>
            <a:r>
              <a:rPr lang="en-US" sz="750" b="0" u="none" strike="noStrike">
                <a:solidFill>
                  <a:srgbClr val="57606D"/>
                </a:solidFill>
                <a:effectLst/>
                <a:uFillTx/>
                <a:latin typeface="Calibri"/>
              </a:rPr>
              <a:t>/triage  /resolve  /l2_copilot  /execute_action</a:t>
            </a:r>
            <a:endParaRPr lang="en-US" sz="750" b="0" u="none" strike="noStrike">
              <a:solidFill>
                <a:srgbClr val="000000"/>
              </a:solidFill>
              <a:effectLst/>
              <a:uFillTx/>
              <a:latin typeface="Arial"/>
            </a:endParaRPr>
          </a:p>
        </p:txBody>
      </p:sp>
      <p:sp>
        <p:nvSpPr>
          <p:cNvPr id="154" name="Rounded Rectangle 9"/>
          <p:cNvSpPr/>
          <p:nvPr/>
        </p:nvSpPr>
        <p:spPr>
          <a:xfrm>
            <a:off x="502920" y="2212920"/>
            <a:ext cx="8823240" cy="876960"/>
          </a:xfrm>
          <a:prstGeom prst="roundRect">
            <a:avLst>
              <a:gd name="adj" fmla="val 6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5" name="Rectangle 10"/>
          <p:cNvSpPr/>
          <p:nvPr/>
        </p:nvSpPr>
        <p:spPr>
          <a:xfrm>
            <a:off x="502920" y="2212920"/>
            <a:ext cx="90720" cy="876960"/>
          </a:xfrm>
          <a:prstGeom prst="rect">
            <a:avLst/>
          </a:prstGeom>
          <a:solidFill>
            <a:srgbClr val="1228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360" tIns="45000" rIns="45360" bIns="45000" anchor="ctr">
            <a:noAutofit/>
          </a:bodyPr>
          <a:p>
            <a:endParaRPr lang="en-US" sz="1800" b="0" u="none" strike="noStrike">
              <a:solidFill>
                <a:schemeClr val="lt1"/>
              </a:solidFill>
              <a:effectLst/>
              <a:uFillTx/>
              <a:latin typeface="Calibri"/>
            </a:endParaRPr>
          </a:p>
        </p:txBody>
      </p:sp>
      <p:sp>
        <p:nvSpPr>
          <p:cNvPr id="156" name="TextBox 11"/>
          <p:cNvSpPr/>
          <p:nvPr/>
        </p:nvSpPr>
        <p:spPr>
          <a:xfrm>
            <a:off x="685800" y="2277000"/>
            <a:ext cx="146232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00" b="1" u="none" strike="noStrike">
                <a:solidFill>
                  <a:srgbClr val="122840"/>
                </a:solidFill>
                <a:effectLst/>
                <a:uFillTx/>
                <a:latin typeface="Calibri"/>
              </a:rPr>
              <a:t>AGENTS</a:t>
            </a:r>
            <a:endParaRPr lang="en-US" sz="800" b="0" u="none" strike="noStrike">
              <a:solidFill>
                <a:srgbClr val="000000"/>
              </a:solidFill>
              <a:effectLst/>
              <a:uFillTx/>
              <a:latin typeface="Arial"/>
            </a:endParaRPr>
          </a:p>
        </p:txBody>
      </p:sp>
      <p:sp>
        <p:nvSpPr>
          <p:cNvPr id="157" name="Rounded Rectangle 12"/>
          <p:cNvSpPr/>
          <p:nvPr/>
        </p:nvSpPr>
        <p:spPr>
          <a:xfrm>
            <a:off x="2194560" y="2395800"/>
            <a:ext cx="1873800" cy="529560"/>
          </a:xfrm>
          <a:prstGeom prst="roundRect">
            <a:avLst>
              <a:gd name="adj" fmla="val 10000"/>
            </a:avLst>
          </a:prstGeom>
          <a:solidFill>
            <a:srgbClr val="122840"/>
          </a:solidFill>
          <a:ln w="12700">
            <a:solidFill>
              <a:srgbClr val="12284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000" b="1" u="none" strike="noStrike">
                <a:solidFill>
                  <a:srgbClr val="FFFFFF"/>
                </a:solidFill>
                <a:effectLst/>
                <a:uFillTx/>
                <a:latin typeface="Calibri"/>
              </a:rPr>
              <a:t>Triage Agent</a:t>
            </a:r>
            <a:endParaRPr lang="en-US" sz="1000" b="0" u="none" strike="noStrike">
              <a:solidFill>
                <a:srgbClr val="FFFFFF"/>
              </a:solidFill>
              <a:effectLst/>
              <a:uFillTx/>
              <a:latin typeface="Arial"/>
            </a:endParaRPr>
          </a:p>
          <a:p>
            <a:pPr algn="ctr" defTabSz="457200">
              <a:lnSpc>
                <a:spcPct val="100000"/>
              </a:lnSpc>
            </a:pPr>
            <a:r>
              <a:rPr lang="en-US" sz="700" b="0" u="none" strike="noStrike">
                <a:solidFill>
                  <a:srgbClr val="B9C7D6"/>
                </a:solidFill>
                <a:effectLst/>
                <a:uFillTx/>
                <a:latin typeface="Calibri"/>
              </a:rPr>
              <a:t>routing · rules + LLM</a:t>
            </a:r>
            <a:endParaRPr lang="en-US" sz="700" b="0" u="none" strike="noStrike">
              <a:solidFill>
                <a:srgbClr val="FFFFFF"/>
              </a:solidFill>
              <a:effectLst/>
              <a:uFillTx/>
              <a:latin typeface="Arial"/>
            </a:endParaRPr>
          </a:p>
        </p:txBody>
      </p:sp>
      <p:sp>
        <p:nvSpPr>
          <p:cNvPr id="158" name="Rounded Rectangle 13"/>
          <p:cNvSpPr/>
          <p:nvPr/>
        </p:nvSpPr>
        <p:spPr>
          <a:xfrm>
            <a:off x="4197240" y="2395800"/>
            <a:ext cx="1873800" cy="529560"/>
          </a:xfrm>
          <a:prstGeom prst="roundRect">
            <a:avLst>
              <a:gd name="adj" fmla="val 10000"/>
            </a:avLst>
          </a:prstGeom>
          <a:solidFill>
            <a:srgbClr val="122840"/>
          </a:solidFill>
          <a:ln w="12700">
            <a:solidFill>
              <a:srgbClr val="12284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000" b="1" u="none" strike="noStrike">
                <a:solidFill>
                  <a:srgbClr val="FFFFFF"/>
                </a:solidFill>
                <a:effectLst/>
                <a:uFillTx/>
                <a:latin typeface="Calibri"/>
              </a:rPr>
              <a:t>Resolution Agent</a:t>
            </a:r>
            <a:endParaRPr lang="en-US" sz="1000" b="0" u="none" strike="noStrike">
              <a:solidFill>
                <a:srgbClr val="FFFFFF"/>
              </a:solidFill>
              <a:effectLst/>
              <a:uFillTx/>
              <a:latin typeface="Arial"/>
            </a:endParaRPr>
          </a:p>
          <a:p>
            <a:pPr algn="ctr" defTabSz="457200">
              <a:lnSpc>
                <a:spcPct val="100000"/>
              </a:lnSpc>
            </a:pPr>
            <a:r>
              <a:rPr lang="en-US" sz="700" b="0" u="none" strike="noStrike">
                <a:solidFill>
                  <a:srgbClr val="B9C7D6"/>
                </a:solidFill>
                <a:effectLst/>
                <a:uFillTx/>
                <a:latin typeface="Calibri"/>
              </a:rPr>
              <a:t>L1 guidance loop</a:t>
            </a:r>
            <a:endParaRPr lang="en-US" sz="700" b="0" u="none" strike="noStrike">
              <a:solidFill>
                <a:srgbClr val="FFFFFF"/>
              </a:solidFill>
              <a:effectLst/>
              <a:uFillTx/>
              <a:latin typeface="Arial"/>
            </a:endParaRPr>
          </a:p>
        </p:txBody>
      </p:sp>
      <p:sp>
        <p:nvSpPr>
          <p:cNvPr id="159" name="Rounded Rectangle 14"/>
          <p:cNvSpPr/>
          <p:nvPr/>
        </p:nvSpPr>
        <p:spPr>
          <a:xfrm>
            <a:off x="6199560" y="2395800"/>
            <a:ext cx="1873800" cy="529560"/>
          </a:xfrm>
          <a:prstGeom prst="roundRect">
            <a:avLst>
              <a:gd name="adj" fmla="val 10000"/>
            </a:avLst>
          </a:prstGeom>
          <a:solidFill>
            <a:srgbClr val="122840"/>
          </a:solidFill>
          <a:ln w="12700">
            <a:solidFill>
              <a:srgbClr val="12284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000" b="1" u="none" strike="noStrike">
                <a:solidFill>
                  <a:srgbClr val="FFFFFF"/>
                </a:solidFill>
                <a:effectLst/>
                <a:uFillTx/>
                <a:latin typeface="Calibri"/>
              </a:rPr>
              <a:t>L2 Copilot</a:t>
            </a:r>
            <a:endParaRPr lang="en-US" sz="1000" b="0" u="none" strike="noStrike">
              <a:solidFill>
                <a:srgbClr val="FFFFFF"/>
              </a:solidFill>
              <a:effectLst/>
              <a:uFillTx/>
              <a:latin typeface="Arial"/>
            </a:endParaRPr>
          </a:p>
          <a:p>
            <a:pPr algn="ctr" defTabSz="457200">
              <a:lnSpc>
                <a:spcPct val="100000"/>
              </a:lnSpc>
            </a:pPr>
            <a:r>
              <a:rPr lang="en-US" sz="700" b="0" u="none" strike="noStrike">
                <a:solidFill>
                  <a:srgbClr val="B9C7D6"/>
                </a:solidFill>
                <a:effectLst/>
                <a:uFillTx/>
                <a:latin typeface="Calibri"/>
              </a:rPr>
              <a:t>assists human engineer</a:t>
            </a:r>
            <a:endParaRPr lang="en-US" sz="700" b="0" u="none" strike="noStrike">
              <a:solidFill>
                <a:srgbClr val="FFFFFF"/>
              </a:solidFill>
              <a:effectLst/>
              <a:uFillTx/>
              <a:latin typeface="Arial"/>
            </a:endParaRPr>
          </a:p>
        </p:txBody>
      </p:sp>
      <p:sp>
        <p:nvSpPr>
          <p:cNvPr id="160" name="Rounded Rectangle 15"/>
          <p:cNvSpPr/>
          <p:nvPr/>
        </p:nvSpPr>
        <p:spPr>
          <a:xfrm>
            <a:off x="8202240" y="2395800"/>
            <a:ext cx="986760" cy="529560"/>
          </a:xfrm>
          <a:prstGeom prst="roundRect">
            <a:avLst>
              <a:gd name="adj" fmla="val 10000"/>
            </a:avLst>
          </a:prstGeom>
          <a:solidFill>
            <a:srgbClr val="E4F2F0"/>
          </a:solidFill>
          <a:ln w="12700">
            <a:solidFill>
              <a:srgbClr val="17928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950" b="1" u="none" strike="noStrike">
                <a:solidFill>
                  <a:srgbClr val="0D665E"/>
                </a:solidFill>
                <a:effectLst/>
                <a:uFillTx/>
                <a:latin typeface="Calibri"/>
              </a:rPr>
              <a:t>prompts/</a:t>
            </a:r>
            <a:endParaRPr lang="en-US" sz="950" b="0" u="none" strike="noStrike">
              <a:solidFill>
                <a:srgbClr val="000000"/>
              </a:solidFill>
              <a:effectLst/>
              <a:uFillTx/>
              <a:latin typeface="Arial"/>
            </a:endParaRPr>
          </a:p>
          <a:p>
            <a:pPr algn="ctr" defTabSz="457200">
              <a:lnSpc>
                <a:spcPct val="100000"/>
              </a:lnSpc>
            </a:pPr>
            <a:r>
              <a:rPr lang="en-US" sz="650" b="0" u="none" strike="noStrike">
                <a:solidFill>
                  <a:srgbClr val="57606D"/>
                </a:solidFill>
                <a:effectLst/>
                <a:uFillTx/>
                <a:latin typeface="Calibri"/>
              </a:rPr>
              <a:t>4 versioned files</a:t>
            </a:r>
            <a:endParaRPr lang="en-US" sz="650" b="0" u="none" strike="noStrike">
              <a:solidFill>
                <a:srgbClr val="000000"/>
              </a:solidFill>
              <a:effectLst/>
              <a:uFillTx/>
              <a:latin typeface="Arial"/>
            </a:endParaRPr>
          </a:p>
        </p:txBody>
      </p:sp>
      <p:sp>
        <p:nvSpPr>
          <p:cNvPr id="161" name="Rounded Rectangle 16"/>
          <p:cNvSpPr/>
          <p:nvPr/>
        </p:nvSpPr>
        <p:spPr>
          <a:xfrm>
            <a:off x="502920" y="3200400"/>
            <a:ext cx="8823240" cy="657720"/>
          </a:xfrm>
          <a:prstGeom prst="roundRect">
            <a:avLst>
              <a:gd name="adj" fmla="val 6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2" name="Rectangle 17"/>
          <p:cNvSpPr/>
          <p:nvPr/>
        </p:nvSpPr>
        <p:spPr>
          <a:xfrm>
            <a:off x="502920" y="3200400"/>
            <a:ext cx="90720" cy="657720"/>
          </a:xfrm>
          <a:prstGeom prst="rect">
            <a:avLst/>
          </a:prstGeom>
          <a:solidFill>
            <a:srgbClr val="B839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360" tIns="45000" rIns="45360" bIns="45000" anchor="ctr">
            <a:noAutofit/>
          </a:bodyPr>
          <a:p>
            <a:endParaRPr lang="en-US" sz="1800" b="0" u="none" strike="noStrike">
              <a:solidFill>
                <a:schemeClr val="lt1"/>
              </a:solidFill>
              <a:effectLst/>
              <a:uFillTx/>
              <a:latin typeface="Calibri"/>
            </a:endParaRPr>
          </a:p>
        </p:txBody>
      </p:sp>
      <p:sp>
        <p:nvSpPr>
          <p:cNvPr id="163" name="TextBox 18"/>
          <p:cNvSpPr/>
          <p:nvPr/>
        </p:nvSpPr>
        <p:spPr>
          <a:xfrm>
            <a:off x="685800" y="3264480"/>
            <a:ext cx="146232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00" b="1" u="none" strike="noStrike">
                <a:solidFill>
                  <a:srgbClr val="B8392C"/>
                </a:solidFill>
                <a:effectLst/>
                <a:uFillTx/>
                <a:latin typeface="Calibri"/>
              </a:rPr>
              <a:t>SAFETY</a:t>
            </a:r>
            <a:endParaRPr lang="en-US" sz="800" b="0" u="none" strike="noStrike">
              <a:solidFill>
                <a:srgbClr val="000000"/>
              </a:solidFill>
              <a:effectLst/>
              <a:uFillTx/>
              <a:latin typeface="Arial"/>
            </a:endParaRPr>
          </a:p>
        </p:txBody>
      </p:sp>
      <p:sp>
        <p:nvSpPr>
          <p:cNvPr id="164" name="Rounded Rectangle 19"/>
          <p:cNvSpPr/>
          <p:nvPr/>
        </p:nvSpPr>
        <p:spPr>
          <a:xfrm>
            <a:off x="2194560" y="3319200"/>
            <a:ext cx="2102400" cy="419760"/>
          </a:xfrm>
          <a:prstGeom prst="roundRect">
            <a:avLst>
              <a:gd name="adj" fmla="val 10000"/>
            </a:avLst>
          </a:prstGeom>
          <a:solidFill>
            <a:srgbClr val="FFFFFF"/>
          </a:solidFill>
          <a:ln w="19050">
            <a:solidFill>
              <a:srgbClr val="0D665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000" b="1" u="none" strike="noStrike">
                <a:solidFill>
                  <a:srgbClr val="0D665E"/>
                </a:solidFill>
                <a:effectLst/>
                <a:uFillTx/>
                <a:latin typeface="Calibri"/>
              </a:rPr>
              <a:t>Deterministic rules</a:t>
            </a:r>
            <a:endParaRPr lang="en-US" sz="1000" b="0" u="none" strike="noStrike">
              <a:solidFill>
                <a:srgbClr val="000000"/>
              </a:solidFill>
              <a:effectLst/>
              <a:uFillTx/>
              <a:latin typeface="Arial"/>
            </a:endParaRPr>
          </a:p>
          <a:p>
            <a:pPr algn="ctr" defTabSz="457200">
              <a:lnSpc>
                <a:spcPct val="100000"/>
              </a:lnSpc>
            </a:pPr>
            <a:r>
              <a:rPr lang="en-US" sz="750" b="0" u="none" strike="noStrike">
                <a:solidFill>
                  <a:srgbClr val="57606D"/>
                </a:solidFill>
                <a:effectLst/>
                <a:uFillTx/>
                <a:latin typeface="Calibri"/>
              </a:rPr>
              <a:t>history ≥2 · fault-class</a:t>
            </a:r>
            <a:endParaRPr lang="en-US" sz="750" b="0" u="none" strike="noStrike">
              <a:solidFill>
                <a:srgbClr val="000000"/>
              </a:solidFill>
              <a:effectLst/>
              <a:uFillTx/>
              <a:latin typeface="Arial"/>
            </a:endParaRPr>
          </a:p>
        </p:txBody>
      </p:sp>
      <p:sp>
        <p:nvSpPr>
          <p:cNvPr id="165" name="Rounded Rectangle 20"/>
          <p:cNvSpPr/>
          <p:nvPr/>
        </p:nvSpPr>
        <p:spPr>
          <a:xfrm>
            <a:off x="4443840" y="3319200"/>
            <a:ext cx="2102400" cy="419760"/>
          </a:xfrm>
          <a:prstGeom prst="roundRect">
            <a:avLst>
              <a:gd name="adj" fmla="val 10000"/>
            </a:avLst>
          </a:prstGeom>
          <a:solidFill>
            <a:srgbClr val="FFFFFF"/>
          </a:solidFill>
          <a:ln w="19050">
            <a:solidFill>
              <a:srgbClr val="B8392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000" b="1" u="none" strike="noStrike">
                <a:solidFill>
                  <a:srgbClr val="B8392C"/>
                </a:solidFill>
                <a:effectLst/>
                <a:uFillTx/>
                <a:latin typeface="Calibri"/>
              </a:rPr>
              <a:t>policy_check() veto</a:t>
            </a:r>
            <a:endParaRPr lang="en-US" sz="1000" b="0" u="none" strike="noStrike">
              <a:solidFill>
                <a:srgbClr val="000000"/>
              </a:solidFill>
              <a:effectLst/>
              <a:uFillTx/>
              <a:latin typeface="Arial"/>
            </a:endParaRPr>
          </a:p>
          <a:p>
            <a:pPr algn="ctr" defTabSz="457200">
              <a:lnSpc>
                <a:spcPct val="100000"/>
              </a:lnSpc>
            </a:pPr>
            <a:r>
              <a:rPr lang="en-US" sz="750" b="0" u="none" strike="noStrike">
                <a:solidFill>
                  <a:srgbClr val="57606D"/>
                </a:solidFill>
                <a:effectLst/>
                <a:uFillTx/>
                <a:latin typeface="Calibri"/>
              </a:rPr>
              <a:t>closed action catalog</a:t>
            </a:r>
            <a:endParaRPr lang="en-US" sz="750" b="0" u="none" strike="noStrike">
              <a:solidFill>
                <a:srgbClr val="000000"/>
              </a:solidFill>
              <a:effectLst/>
              <a:uFillTx/>
              <a:latin typeface="Arial"/>
            </a:endParaRPr>
          </a:p>
        </p:txBody>
      </p:sp>
      <p:sp>
        <p:nvSpPr>
          <p:cNvPr id="166" name="Rounded Rectangle 21"/>
          <p:cNvSpPr/>
          <p:nvPr/>
        </p:nvSpPr>
        <p:spPr>
          <a:xfrm>
            <a:off x="6693480" y="3319200"/>
            <a:ext cx="2102400" cy="419760"/>
          </a:xfrm>
          <a:prstGeom prst="roundRect">
            <a:avLst>
              <a:gd name="adj" fmla="val 10000"/>
            </a:avLst>
          </a:prstGeom>
          <a:solidFill>
            <a:srgbClr val="FFFFFF"/>
          </a:solidFill>
          <a:ln w="19050">
            <a:solidFill>
              <a:srgbClr val="A86A1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000" b="1" u="none" strike="noStrike">
                <a:solidFill>
                  <a:srgbClr val="A86A14"/>
                </a:solidFill>
                <a:effectLst/>
                <a:uFillTx/>
                <a:latin typeface="Calibri"/>
              </a:rPr>
              <a:t>HITL approval gate</a:t>
            </a:r>
            <a:endParaRPr lang="en-US" sz="1000" b="0" u="none" strike="noStrike">
              <a:solidFill>
                <a:srgbClr val="000000"/>
              </a:solidFill>
              <a:effectLst/>
              <a:uFillTx/>
              <a:latin typeface="Arial"/>
            </a:endParaRPr>
          </a:p>
          <a:p>
            <a:pPr algn="ctr" defTabSz="457200">
              <a:lnSpc>
                <a:spcPct val="100000"/>
              </a:lnSpc>
            </a:pPr>
            <a:r>
              <a:rPr lang="en-US" sz="750" b="0" u="none" strike="noStrike">
                <a:solidFill>
                  <a:srgbClr val="57606D"/>
                </a:solidFill>
                <a:effectLst/>
                <a:uFillTx/>
                <a:latin typeface="Calibri"/>
              </a:rPr>
              <a:t>approved=True or refuse</a:t>
            </a:r>
            <a:endParaRPr lang="en-US" sz="750" b="0" u="none" strike="noStrike">
              <a:solidFill>
                <a:srgbClr val="000000"/>
              </a:solidFill>
              <a:effectLst/>
              <a:uFillTx/>
              <a:latin typeface="Arial"/>
            </a:endParaRPr>
          </a:p>
        </p:txBody>
      </p:sp>
      <p:sp>
        <p:nvSpPr>
          <p:cNvPr id="167" name="Rounded Rectangle 22"/>
          <p:cNvSpPr/>
          <p:nvPr/>
        </p:nvSpPr>
        <p:spPr>
          <a:xfrm>
            <a:off x="502920" y="3968640"/>
            <a:ext cx="8823240" cy="785520"/>
          </a:xfrm>
          <a:prstGeom prst="roundRect">
            <a:avLst>
              <a:gd name="adj" fmla="val 6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8" name="Rectangle 23"/>
          <p:cNvSpPr/>
          <p:nvPr/>
        </p:nvSpPr>
        <p:spPr>
          <a:xfrm>
            <a:off x="502920" y="3968640"/>
            <a:ext cx="90720" cy="785520"/>
          </a:xfrm>
          <a:prstGeom prst="rect">
            <a:avLst/>
          </a:prstGeom>
          <a:solidFill>
            <a:srgbClr val="0D66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360" tIns="45000" rIns="45360" bIns="45000" anchor="ctr">
            <a:noAutofit/>
          </a:bodyPr>
          <a:p>
            <a:endParaRPr lang="en-US" sz="1800" b="0" u="none" strike="noStrike">
              <a:solidFill>
                <a:schemeClr val="lt1"/>
              </a:solidFill>
              <a:effectLst/>
              <a:uFillTx/>
              <a:latin typeface="Calibri"/>
            </a:endParaRPr>
          </a:p>
        </p:txBody>
      </p:sp>
      <p:sp>
        <p:nvSpPr>
          <p:cNvPr id="169" name="TextBox 24"/>
          <p:cNvSpPr/>
          <p:nvPr/>
        </p:nvSpPr>
        <p:spPr>
          <a:xfrm>
            <a:off x="685800" y="4032360"/>
            <a:ext cx="146232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00" b="1" u="none" strike="noStrike">
                <a:solidFill>
                  <a:srgbClr val="0D665E"/>
                </a:solidFill>
                <a:effectLst/>
                <a:uFillTx/>
                <a:latin typeface="Calibri"/>
              </a:rPr>
              <a:t>TOOLS</a:t>
            </a:r>
            <a:endParaRPr lang="en-US" sz="800" b="0" u="none" strike="noStrike">
              <a:solidFill>
                <a:srgbClr val="000000"/>
              </a:solidFill>
              <a:effectLst/>
              <a:uFillTx/>
              <a:latin typeface="Arial"/>
            </a:endParaRPr>
          </a:p>
        </p:txBody>
      </p:sp>
      <p:sp>
        <p:nvSpPr>
          <p:cNvPr id="170" name="Rounded Rectangle 25"/>
          <p:cNvSpPr/>
          <p:nvPr/>
        </p:nvSpPr>
        <p:spPr>
          <a:xfrm>
            <a:off x="2194560" y="4087440"/>
            <a:ext cx="2102400" cy="547920"/>
          </a:xfrm>
          <a:prstGeom prst="roundRect">
            <a:avLst>
              <a:gd name="adj" fmla="val 10000"/>
            </a:avLst>
          </a:prstGeom>
          <a:solidFill>
            <a:srgbClr val="E4F2F0"/>
          </a:solidFill>
          <a:ln w="12700">
            <a:solidFill>
              <a:srgbClr val="17928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000" b="1" u="none" strike="noStrike">
                <a:solidFill>
                  <a:srgbClr val="0D665E"/>
                </a:solidFill>
                <a:effectLst/>
                <a:uFillTx/>
                <a:latin typeface="Calibri"/>
              </a:rPr>
              <a:t>Retrieval</a:t>
            </a:r>
            <a:endParaRPr lang="en-US" sz="1000" b="0" u="none" strike="noStrike">
              <a:solidFill>
                <a:srgbClr val="000000"/>
              </a:solidFill>
              <a:effectLst/>
              <a:uFillTx/>
              <a:latin typeface="Arial"/>
            </a:endParaRPr>
          </a:p>
          <a:p>
            <a:pPr algn="ctr" defTabSz="457200">
              <a:lnSpc>
                <a:spcPct val="100000"/>
              </a:lnSpc>
            </a:pPr>
            <a:r>
              <a:rPr lang="en-US" sz="700" b="0" u="none" strike="noStrike">
                <a:solidFill>
                  <a:srgbClr val="57606D"/>
                </a:solidFill>
                <a:effectLst/>
                <a:uFillTx/>
                <a:latin typeface="Calibri"/>
              </a:rPr>
              <a:t>search_knowledge_base</a:t>
            </a:r>
            <a:endParaRPr lang="en-US" sz="700" b="0" u="none" strike="noStrike">
              <a:solidFill>
                <a:srgbClr val="000000"/>
              </a:solidFill>
              <a:effectLst/>
              <a:uFillTx/>
              <a:latin typeface="Arial"/>
            </a:endParaRPr>
          </a:p>
          <a:p>
            <a:pPr algn="ctr" defTabSz="457200">
              <a:lnSpc>
                <a:spcPct val="100000"/>
              </a:lnSpc>
            </a:pPr>
            <a:r>
              <a:rPr lang="en-US" sz="700" b="0" u="none" strike="noStrike">
                <a:solidFill>
                  <a:srgbClr val="57606D"/>
                </a:solidFill>
                <a:effectLst/>
                <a:uFillTx/>
                <a:latin typeface="Calibri"/>
              </a:rPr>
              <a:t>search_faq · get_system_spec</a:t>
            </a:r>
            <a:endParaRPr lang="en-US" sz="700" b="0" u="none" strike="noStrike">
              <a:solidFill>
                <a:srgbClr val="000000"/>
              </a:solidFill>
              <a:effectLst/>
              <a:uFillTx/>
              <a:latin typeface="Arial"/>
            </a:endParaRPr>
          </a:p>
        </p:txBody>
      </p:sp>
      <p:sp>
        <p:nvSpPr>
          <p:cNvPr id="171" name="Rounded Rectangle 26"/>
          <p:cNvSpPr/>
          <p:nvPr/>
        </p:nvSpPr>
        <p:spPr>
          <a:xfrm>
            <a:off x="4443840" y="4087440"/>
            <a:ext cx="2102400" cy="547920"/>
          </a:xfrm>
          <a:prstGeom prst="roundRect">
            <a:avLst>
              <a:gd name="adj" fmla="val 10000"/>
            </a:avLst>
          </a:prstGeom>
          <a:solidFill>
            <a:srgbClr val="E4F2F0"/>
          </a:solidFill>
          <a:ln w="12700">
            <a:solidFill>
              <a:srgbClr val="17928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000" b="1" u="none" strike="noStrike">
                <a:solidFill>
                  <a:srgbClr val="0D665E"/>
                </a:solidFill>
                <a:effectLst/>
                <a:uFillTx/>
                <a:latin typeface="Calibri"/>
              </a:rPr>
              <a:t>Structured data</a:t>
            </a:r>
            <a:endParaRPr lang="en-US" sz="1000" b="0" u="none" strike="noStrike">
              <a:solidFill>
                <a:srgbClr val="000000"/>
              </a:solidFill>
              <a:effectLst/>
              <a:uFillTx/>
              <a:latin typeface="Arial"/>
            </a:endParaRPr>
          </a:p>
          <a:p>
            <a:pPr algn="ctr" defTabSz="457200">
              <a:lnSpc>
                <a:spcPct val="100000"/>
              </a:lnSpc>
            </a:pPr>
            <a:r>
              <a:rPr lang="en-US" sz="700" b="0" u="none" strike="noStrike">
                <a:solidFill>
                  <a:srgbClr val="57606D"/>
                </a:solidFill>
                <a:effectLst/>
                <a:uFillTx/>
                <a:latin typeface="Calibri"/>
              </a:rPr>
              <a:t>get_asset_info · get_store_info</a:t>
            </a:r>
            <a:endParaRPr lang="en-US" sz="700" b="0" u="none" strike="noStrike">
              <a:solidFill>
                <a:srgbClr val="000000"/>
              </a:solidFill>
              <a:effectLst/>
              <a:uFillTx/>
              <a:latin typeface="Arial"/>
            </a:endParaRPr>
          </a:p>
          <a:p>
            <a:pPr algn="ctr" defTabSz="457200">
              <a:lnSpc>
                <a:spcPct val="100000"/>
              </a:lnSpc>
            </a:pPr>
            <a:r>
              <a:rPr lang="en-US" sz="700" b="0" u="none" strike="noStrike">
                <a:solidFill>
                  <a:srgbClr val="57606D"/>
                </a:solidFill>
                <a:effectLst/>
                <a:uFillTx/>
                <a:latin typeface="Calibri"/>
              </a:rPr>
              <a:t>check_sla</a:t>
            </a:r>
            <a:endParaRPr lang="en-US" sz="700" b="0" u="none" strike="noStrike">
              <a:solidFill>
                <a:srgbClr val="000000"/>
              </a:solidFill>
              <a:effectLst/>
              <a:uFillTx/>
              <a:latin typeface="Arial"/>
            </a:endParaRPr>
          </a:p>
        </p:txBody>
      </p:sp>
      <p:sp>
        <p:nvSpPr>
          <p:cNvPr id="172" name="Rounded Rectangle 27"/>
          <p:cNvSpPr/>
          <p:nvPr/>
        </p:nvSpPr>
        <p:spPr>
          <a:xfrm>
            <a:off x="6693480" y="4087440"/>
            <a:ext cx="2102400" cy="547920"/>
          </a:xfrm>
          <a:prstGeom prst="roundRect">
            <a:avLst>
              <a:gd name="adj" fmla="val 10000"/>
            </a:avLst>
          </a:prstGeom>
          <a:solidFill>
            <a:srgbClr val="E4F2F0"/>
          </a:solidFill>
          <a:ln w="12700">
            <a:solidFill>
              <a:srgbClr val="17928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000" b="1" u="none" strike="noStrike">
                <a:solidFill>
                  <a:srgbClr val="0D665E"/>
                </a:solidFill>
                <a:effectLst/>
                <a:uFillTx/>
                <a:latin typeface="Calibri"/>
              </a:rPr>
              <a:t>Actions</a:t>
            </a:r>
            <a:endParaRPr lang="en-US" sz="1000" b="0" u="none" strike="noStrike">
              <a:solidFill>
                <a:srgbClr val="000000"/>
              </a:solidFill>
              <a:effectLst/>
              <a:uFillTx/>
              <a:latin typeface="Arial"/>
            </a:endParaRPr>
          </a:p>
          <a:p>
            <a:pPr algn="ctr" defTabSz="457200">
              <a:lnSpc>
                <a:spcPct val="100000"/>
              </a:lnSpc>
            </a:pPr>
            <a:r>
              <a:rPr lang="en-US" sz="700" b="0" u="none" strike="noStrike">
                <a:solidFill>
                  <a:srgbClr val="57606D"/>
                </a:solidFill>
                <a:effectLst/>
                <a:uFillTx/>
                <a:latin typeface="Calibri"/>
              </a:rPr>
              <a:t>propose_action · execute_action</a:t>
            </a:r>
            <a:endParaRPr lang="en-US" sz="700" b="0" u="none" strike="noStrike">
              <a:solidFill>
                <a:srgbClr val="000000"/>
              </a:solidFill>
              <a:effectLst/>
              <a:uFillTx/>
              <a:latin typeface="Arial"/>
            </a:endParaRPr>
          </a:p>
          <a:p>
            <a:pPr algn="ctr" defTabSz="457200">
              <a:lnSpc>
                <a:spcPct val="100000"/>
              </a:lnSpc>
            </a:pPr>
            <a:r>
              <a:rPr lang="en-US" sz="700" b="0" u="none" strike="noStrike">
                <a:solidFill>
                  <a:srgbClr val="57606D"/>
                </a:solidFill>
                <a:effectLst/>
                <a:uFillTx/>
                <a:latin typeface="Calibri"/>
              </a:rPr>
              <a:t>reply · resolve · escalate</a:t>
            </a:r>
            <a:endParaRPr lang="en-US" sz="700" b="0" u="none" strike="noStrike">
              <a:solidFill>
                <a:srgbClr val="000000"/>
              </a:solidFill>
              <a:effectLst/>
              <a:uFillTx/>
              <a:latin typeface="Arial"/>
            </a:endParaRPr>
          </a:p>
        </p:txBody>
      </p:sp>
      <p:sp>
        <p:nvSpPr>
          <p:cNvPr id="173" name="Rounded Rectangle 28"/>
          <p:cNvSpPr/>
          <p:nvPr/>
        </p:nvSpPr>
        <p:spPr>
          <a:xfrm>
            <a:off x="502920" y="4864680"/>
            <a:ext cx="8823240" cy="730800"/>
          </a:xfrm>
          <a:prstGeom prst="roundRect">
            <a:avLst>
              <a:gd name="adj" fmla="val 6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4" name="Rectangle 29"/>
          <p:cNvSpPr/>
          <p:nvPr/>
        </p:nvSpPr>
        <p:spPr>
          <a:xfrm>
            <a:off x="502920" y="4864680"/>
            <a:ext cx="90720" cy="730800"/>
          </a:xfrm>
          <a:prstGeom prst="rect">
            <a:avLst/>
          </a:prstGeom>
          <a:solidFill>
            <a:srgbClr val="1D3A5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360" tIns="45000" rIns="45360" bIns="45000" anchor="ctr">
            <a:noAutofit/>
          </a:bodyPr>
          <a:p>
            <a:endParaRPr lang="en-US" sz="1800" b="0" u="none" strike="noStrike">
              <a:solidFill>
                <a:schemeClr val="lt1"/>
              </a:solidFill>
              <a:effectLst/>
              <a:uFillTx/>
              <a:latin typeface="Calibri"/>
            </a:endParaRPr>
          </a:p>
        </p:txBody>
      </p:sp>
      <p:sp>
        <p:nvSpPr>
          <p:cNvPr id="175" name="TextBox 30"/>
          <p:cNvSpPr/>
          <p:nvPr/>
        </p:nvSpPr>
        <p:spPr>
          <a:xfrm>
            <a:off x="685800" y="4928760"/>
            <a:ext cx="146232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00" b="1" u="none" strike="noStrike">
                <a:solidFill>
                  <a:srgbClr val="1D3A5C"/>
                </a:solidFill>
                <a:effectLst/>
                <a:uFillTx/>
                <a:latin typeface="Calibri"/>
              </a:rPr>
              <a:t>RETRIEVAL</a:t>
            </a:r>
            <a:endParaRPr lang="en-US" sz="800" b="0" u="none" strike="noStrike">
              <a:solidFill>
                <a:srgbClr val="000000"/>
              </a:solidFill>
              <a:effectLst/>
              <a:uFillTx/>
              <a:latin typeface="Arial"/>
            </a:endParaRPr>
          </a:p>
        </p:txBody>
      </p:sp>
      <p:sp>
        <p:nvSpPr>
          <p:cNvPr id="176" name="Rounded Rectangle 31"/>
          <p:cNvSpPr/>
          <p:nvPr/>
        </p:nvSpPr>
        <p:spPr>
          <a:xfrm>
            <a:off x="2194560" y="4992480"/>
            <a:ext cx="1572120" cy="474840"/>
          </a:xfrm>
          <a:prstGeom prst="roundRect">
            <a:avLst>
              <a:gd name="adj" fmla="val 10000"/>
            </a:avLst>
          </a:prstGeom>
          <a:solidFill>
            <a:srgbClr val="FFFFFF"/>
          </a:solidFill>
          <a:ln w="12700">
            <a:solidFill>
              <a:srgbClr val="1D3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950" b="1" u="none" strike="noStrike">
                <a:solidFill>
                  <a:srgbClr val="1D3A5C"/>
                </a:solidFill>
                <a:effectLst/>
                <a:uFillTx/>
                <a:latin typeface="Calibri"/>
              </a:rPr>
              <a:t>result cache</a:t>
            </a:r>
            <a:endParaRPr lang="en-US" sz="950" b="0" u="none" strike="noStrike">
              <a:solidFill>
                <a:srgbClr val="000000"/>
              </a:solidFill>
              <a:effectLst/>
              <a:uFillTx/>
              <a:latin typeface="Arial"/>
            </a:endParaRPr>
          </a:p>
          <a:p>
            <a:pPr algn="ctr" defTabSz="457200">
              <a:lnSpc>
                <a:spcPct val="100000"/>
              </a:lnSpc>
            </a:pPr>
            <a:r>
              <a:rPr lang="en-US" sz="700" b="0" u="none" strike="noStrike">
                <a:solidFill>
                  <a:srgbClr val="57606D"/>
                </a:solidFill>
                <a:effectLst/>
                <a:uFillTx/>
                <a:latin typeface="Calibri"/>
              </a:rPr>
              <a:t>54% hit</a:t>
            </a:r>
            <a:endParaRPr lang="en-US" sz="700" b="0" u="none" strike="noStrike">
              <a:solidFill>
                <a:srgbClr val="000000"/>
              </a:solidFill>
              <a:effectLst/>
              <a:uFillTx/>
              <a:latin typeface="Arial"/>
            </a:endParaRPr>
          </a:p>
        </p:txBody>
      </p:sp>
      <p:cxnSp>
        <p:nvCxnSpPr>
          <p:cNvPr id="177" name="Connector 32"/>
          <p:cNvCxnSpPr/>
          <p:nvPr/>
        </p:nvCxnSpPr>
        <p:spPr>
          <a:xfrm>
            <a:off x="3767040" y="5230080"/>
            <a:ext cx="275040" cy="720"/>
          </a:xfrm>
          <a:prstGeom prst="straightConnector1">
            <a:avLst/>
          </a:prstGeom>
          <a:ln w="19050">
            <a:solidFill>
              <a:srgbClr val="1D3A5C"/>
            </a:solidFill>
            <a:round/>
            <a:tailEnd len="med" type="triangle" w="med"/>
          </a:ln>
        </p:spPr>
      </p:cxnSp>
      <p:sp>
        <p:nvSpPr>
          <p:cNvPr id="178" name="Rounded Rectangle 33"/>
          <p:cNvSpPr/>
          <p:nvPr/>
        </p:nvSpPr>
        <p:spPr>
          <a:xfrm>
            <a:off x="4041720" y="4992480"/>
            <a:ext cx="1572120" cy="474840"/>
          </a:xfrm>
          <a:prstGeom prst="roundRect">
            <a:avLst>
              <a:gd name="adj" fmla="val 10000"/>
            </a:avLst>
          </a:prstGeom>
          <a:solidFill>
            <a:srgbClr val="FFFFFF"/>
          </a:solidFill>
          <a:ln w="12700">
            <a:solidFill>
              <a:srgbClr val="1D3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950" b="1" u="none" strike="noStrike">
                <a:solidFill>
                  <a:srgbClr val="1D3A5C"/>
                </a:solidFill>
                <a:effectLst/>
                <a:uFillTx/>
                <a:latin typeface="Calibri"/>
              </a:rPr>
              <a:t>embed cache</a:t>
            </a:r>
            <a:endParaRPr lang="en-US" sz="950" b="0" u="none" strike="noStrike">
              <a:solidFill>
                <a:srgbClr val="000000"/>
              </a:solidFill>
              <a:effectLst/>
              <a:uFillTx/>
              <a:latin typeface="Arial"/>
            </a:endParaRPr>
          </a:p>
          <a:p>
            <a:pPr algn="ctr" defTabSz="457200">
              <a:lnSpc>
                <a:spcPct val="100000"/>
              </a:lnSpc>
            </a:pPr>
            <a:r>
              <a:rPr lang="en-US" sz="700" b="0" u="none" strike="noStrike">
                <a:solidFill>
                  <a:srgbClr val="57606D"/>
                </a:solidFill>
                <a:effectLst/>
                <a:uFillTx/>
                <a:latin typeface="Calibri"/>
              </a:rPr>
              <a:t>Titan v2</a:t>
            </a:r>
            <a:endParaRPr lang="en-US" sz="700" b="0" u="none" strike="noStrike">
              <a:solidFill>
                <a:srgbClr val="000000"/>
              </a:solidFill>
              <a:effectLst/>
              <a:uFillTx/>
              <a:latin typeface="Arial"/>
            </a:endParaRPr>
          </a:p>
        </p:txBody>
      </p:sp>
      <p:cxnSp>
        <p:nvCxnSpPr>
          <p:cNvPr id="179" name="Connector 34"/>
          <p:cNvCxnSpPr/>
          <p:nvPr/>
        </p:nvCxnSpPr>
        <p:spPr>
          <a:xfrm>
            <a:off x="5614200" y="5230080"/>
            <a:ext cx="275040" cy="720"/>
          </a:xfrm>
          <a:prstGeom prst="straightConnector1">
            <a:avLst/>
          </a:prstGeom>
          <a:ln w="19050">
            <a:solidFill>
              <a:srgbClr val="1D3A5C"/>
            </a:solidFill>
            <a:round/>
            <a:tailEnd len="med" type="triangle" w="med"/>
          </a:ln>
        </p:spPr>
      </p:cxnSp>
      <p:sp>
        <p:nvSpPr>
          <p:cNvPr id="180" name="Rounded Rectangle 35"/>
          <p:cNvSpPr/>
          <p:nvPr/>
        </p:nvSpPr>
        <p:spPr>
          <a:xfrm>
            <a:off x="5888880" y="4992480"/>
            <a:ext cx="1572120" cy="474840"/>
          </a:xfrm>
          <a:prstGeom prst="roundRect">
            <a:avLst>
              <a:gd name="adj" fmla="val 10000"/>
            </a:avLst>
          </a:prstGeom>
          <a:solidFill>
            <a:srgbClr val="FFFFFF"/>
          </a:solidFill>
          <a:ln w="12700">
            <a:solidFill>
              <a:srgbClr val="1D3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950" b="1" u="none" strike="noStrike">
                <a:solidFill>
                  <a:srgbClr val="1D3A5C"/>
                </a:solidFill>
                <a:effectLst/>
                <a:uFillTx/>
                <a:latin typeface="Calibri"/>
              </a:rPr>
              <a:t>PGVector</a:t>
            </a:r>
            <a:endParaRPr lang="en-US" sz="950" b="0" u="none" strike="noStrike">
              <a:solidFill>
                <a:srgbClr val="000000"/>
              </a:solidFill>
              <a:effectLst/>
              <a:uFillTx/>
              <a:latin typeface="Arial"/>
            </a:endParaRPr>
          </a:p>
          <a:p>
            <a:pPr algn="ctr" defTabSz="457200">
              <a:lnSpc>
                <a:spcPct val="100000"/>
              </a:lnSpc>
            </a:pPr>
            <a:r>
              <a:rPr lang="en-US" sz="700" b="0" u="none" strike="noStrike">
                <a:solidFill>
                  <a:srgbClr val="57606D"/>
                </a:solidFill>
                <a:effectLst/>
                <a:uFillTx/>
                <a:latin typeface="Calibri"/>
              </a:rPr>
              <a:t>main + delta</a:t>
            </a:r>
            <a:endParaRPr lang="en-US" sz="700" b="0" u="none" strike="noStrike">
              <a:solidFill>
                <a:srgbClr val="000000"/>
              </a:solidFill>
              <a:effectLst/>
              <a:uFillTx/>
              <a:latin typeface="Arial"/>
            </a:endParaRPr>
          </a:p>
        </p:txBody>
      </p:sp>
      <p:cxnSp>
        <p:nvCxnSpPr>
          <p:cNvPr id="181" name="Connector 36"/>
          <p:cNvCxnSpPr/>
          <p:nvPr/>
        </p:nvCxnSpPr>
        <p:spPr>
          <a:xfrm>
            <a:off x="7461360" y="5230080"/>
            <a:ext cx="275040" cy="720"/>
          </a:xfrm>
          <a:prstGeom prst="straightConnector1">
            <a:avLst/>
          </a:prstGeom>
          <a:ln w="19050">
            <a:solidFill>
              <a:srgbClr val="1D3A5C"/>
            </a:solidFill>
            <a:round/>
            <a:tailEnd len="med" type="triangle" w="med"/>
          </a:ln>
        </p:spPr>
      </p:cxnSp>
      <p:sp>
        <p:nvSpPr>
          <p:cNvPr id="182" name="Rounded Rectangle 37"/>
          <p:cNvSpPr/>
          <p:nvPr/>
        </p:nvSpPr>
        <p:spPr>
          <a:xfrm>
            <a:off x="7735680" y="4992480"/>
            <a:ext cx="1572120" cy="474840"/>
          </a:xfrm>
          <a:prstGeom prst="roundRect">
            <a:avLst>
              <a:gd name="adj" fmla="val 10000"/>
            </a:avLst>
          </a:prstGeom>
          <a:solidFill>
            <a:srgbClr val="FFFFFF"/>
          </a:solidFill>
          <a:ln w="12700">
            <a:solidFill>
              <a:srgbClr val="1D3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950" b="1" u="none" strike="noStrike">
                <a:solidFill>
                  <a:srgbClr val="1D3A5C"/>
                </a:solidFill>
                <a:effectLst/>
                <a:uFillTx/>
                <a:latin typeface="Calibri"/>
              </a:rPr>
              <a:t>cross-encoder</a:t>
            </a:r>
            <a:endParaRPr lang="en-US" sz="950" b="0" u="none" strike="noStrike">
              <a:solidFill>
                <a:srgbClr val="000000"/>
              </a:solidFill>
              <a:effectLst/>
              <a:uFillTx/>
              <a:latin typeface="Arial"/>
            </a:endParaRPr>
          </a:p>
          <a:p>
            <a:pPr algn="ctr" defTabSz="457200">
              <a:lnSpc>
                <a:spcPct val="100000"/>
              </a:lnSpc>
            </a:pPr>
            <a:r>
              <a:rPr lang="en-US" sz="700" b="0" u="none" strike="noStrike">
                <a:solidFill>
                  <a:srgbClr val="57606D"/>
                </a:solidFill>
                <a:effectLst/>
                <a:uFillTx/>
                <a:latin typeface="Calibri"/>
              </a:rPr>
              <a:t>rerank</a:t>
            </a:r>
            <a:endParaRPr lang="en-US" sz="700" b="0" u="none" strike="noStrike">
              <a:solidFill>
                <a:srgbClr val="000000"/>
              </a:solidFill>
              <a:effectLst/>
              <a:uFillTx/>
              <a:latin typeface="Arial"/>
            </a:endParaRPr>
          </a:p>
        </p:txBody>
      </p:sp>
      <p:sp>
        <p:nvSpPr>
          <p:cNvPr id="183" name="Rounded Rectangle 38"/>
          <p:cNvSpPr/>
          <p:nvPr/>
        </p:nvSpPr>
        <p:spPr>
          <a:xfrm>
            <a:off x="502920" y="5706000"/>
            <a:ext cx="8823240" cy="676080"/>
          </a:xfrm>
          <a:prstGeom prst="roundRect">
            <a:avLst>
              <a:gd name="adj" fmla="val 6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4" name="Rectangle 39"/>
          <p:cNvSpPr/>
          <p:nvPr/>
        </p:nvSpPr>
        <p:spPr>
          <a:xfrm>
            <a:off x="502920" y="5706000"/>
            <a:ext cx="90720" cy="676080"/>
          </a:xfrm>
          <a:prstGeom prst="rect">
            <a:avLst/>
          </a:prstGeom>
          <a:solidFill>
            <a:srgbClr val="57606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360" tIns="45000" rIns="45360" bIns="45000" anchor="ctr">
            <a:noAutofit/>
          </a:bodyPr>
          <a:p>
            <a:endParaRPr lang="en-US" sz="1800" b="0" u="none" strike="noStrike">
              <a:solidFill>
                <a:schemeClr val="lt1"/>
              </a:solidFill>
              <a:effectLst/>
              <a:uFillTx/>
              <a:latin typeface="Calibri"/>
            </a:endParaRPr>
          </a:p>
        </p:txBody>
      </p:sp>
      <p:sp>
        <p:nvSpPr>
          <p:cNvPr id="185" name="TextBox 40"/>
          <p:cNvSpPr/>
          <p:nvPr/>
        </p:nvSpPr>
        <p:spPr>
          <a:xfrm>
            <a:off x="685800" y="5769720"/>
            <a:ext cx="146232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800" b="1" u="none" strike="noStrike">
                <a:solidFill>
                  <a:srgbClr val="57606D"/>
                </a:solidFill>
                <a:effectLst/>
                <a:uFillTx/>
                <a:latin typeface="Calibri"/>
              </a:rPr>
              <a:t>DATA</a:t>
            </a:r>
            <a:endParaRPr lang="en-US" sz="800" b="0" u="none" strike="noStrike">
              <a:solidFill>
                <a:srgbClr val="000000"/>
              </a:solidFill>
              <a:effectLst/>
              <a:uFillTx/>
              <a:latin typeface="Arial"/>
            </a:endParaRPr>
          </a:p>
        </p:txBody>
      </p:sp>
      <p:sp>
        <p:nvSpPr>
          <p:cNvPr id="186" name="Rounded Rectangle 41"/>
          <p:cNvSpPr/>
          <p:nvPr/>
        </p:nvSpPr>
        <p:spPr>
          <a:xfrm>
            <a:off x="2194560" y="5824800"/>
            <a:ext cx="1636200" cy="438120"/>
          </a:xfrm>
          <a:prstGeom prst="roundRect">
            <a:avLst>
              <a:gd name="adj" fmla="val 10000"/>
            </a:avLst>
          </a:prstGeom>
          <a:solidFill>
            <a:srgbClr val="ECEFF2"/>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850" b="1" u="none" strike="noStrike">
                <a:solidFill>
                  <a:srgbClr val="1A202A"/>
                </a:solidFill>
                <a:effectLst/>
                <a:uFillTx/>
                <a:latin typeface="Calibri"/>
              </a:rPr>
              <a:t>kb/  runbooks · FAQ · SOP</a:t>
            </a:r>
            <a:endParaRPr lang="en-US" sz="850" b="0" u="none" strike="noStrike">
              <a:solidFill>
                <a:srgbClr val="000000"/>
              </a:solidFill>
              <a:effectLst/>
              <a:uFillTx/>
              <a:latin typeface="Arial"/>
            </a:endParaRPr>
          </a:p>
          <a:p>
            <a:pPr algn="ctr" defTabSz="457200">
              <a:lnSpc>
                <a:spcPct val="100000"/>
              </a:lnSpc>
            </a:pPr>
            <a:r>
              <a:rPr lang="en-US" sz="700" b="0" u="none" strike="noStrike">
                <a:solidFill>
                  <a:srgbClr val="57606D"/>
                </a:solidFill>
                <a:effectLst/>
                <a:uFillTx/>
                <a:latin typeface="Calibri"/>
              </a:rPr>
              <a:t>markdown, chunked</a:t>
            </a:r>
            <a:endParaRPr lang="en-US" sz="700" b="0" u="none" strike="noStrike">
              <a:solidFill>
                <a:srgbClr val="000000"/>
              </a:solidFill>
              <a:effectLst/>
              <a:uFillTx/>
              <a:latin typeface="Arial"/>
            </a:endParaRPr>
          </a:p>
        </p:txBody>
      </p:sp>
      <p:sp>
        <p:nvSpPr>
          <p:cNvPr id="187" name="Rounded Rectangle 42"/>
          <p:cNvSpPr/>
          <p:nvPr/>
        </p:nvSpPr>
        <p:spPr>
          <a:xfrm>
            <a:off x="3895200" y="5824800"/>
            <a:ext cx="1636200" cy="438120"/>
          </a:xfrm>
          <a:prstGeom prst="roundRect">
            <a:avLst>
              <a:gd name="adj" fmla="val 10000"/>
            </a:avLst>
          </a:prstGeom>
          <a:solidFill>
            <a:srgbClr val="ECEFF2"/>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850" b="1" u="none" strike="noStrike">
                <a:solidFill>
                  <a:srgbClr val="1A202A"/>
                </a:solidFill>
                <a:effectLst/>
                <a:uFillTx/>
                <a:latin typeface="Calibri"/>
              </a:rPr>
              <a:t>PGVector (Postgres)</a:t>
            </a:r>
            <a:endParaRPr lang="en-US" sz="850" b="0" u="none" strike="noStrike">
              <a:solidFill>
                <a:srgbClr val="000000"/>
              </a:solidFill>
              <a:effectLst/>
              <a:uFillTx/>
              <a:latin typeface="Arial"/>
            </a:endParaRPr>
          </a:p>
          <a:p>
            <a:pPr algn="ctr" defTabSz="457200">
              <a:lnSpc>
                <a:spcPct val="100000"/>
              </a:lnSpc>
            </a:pPr>
            <a:r>
              <a:rPr lang="en-US" sz="700" b="0" u="none" strike="noStrike">
                <a:solidFill>
                  <a:srgbClr val="57606D"/>
                </a:solidFill>
                <a:effectLst/>
                <a:uFillTx/>
                <a:latin typeface="Calibri"/>
              </a:rPr>
              <a:t>embeddings</a:t>
            </a:r>
            <a:endParaRPr lang="en-US" sz="700" b="0" u="none" strike="noStrike">
              <a:solidFill>
                <a:srgbClr val="000000"/>
              </a:solidFill>
              <a:effectLst/>
              <a:uFillTx/>
              <a:latin typeface="Arial"/>
            </a:endParaRPr>
          </a:p>
        </p:txBody>
      </p:sp>
      <p:sp>
        <p:nvSpPr>
          <p:cNvPr id="188" name="Rounded Rectangle 43"/>
          <p:cNvSpPr/>
          <p:nvPr/>
        </p:nvSpPr>
        <p:spPr>
          <a:xfrm>
            <a:off x="5596200" y="5824800"/>
            <a:ext cx="1636200" cy="438120"/>
          </a:xfrm>
          <a:prstGeom prst="roundRect">
            <a:avLst>
              <a:gd name="adj" fmla="val 10000"/>
            </a:avLst>
          </a:prstGeom>
          <a:solidFill>
            <a:srgbClr val="ECEFF2"/>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850" b="1" u="none" strike="noStrike">
                <a:solidFill>
                  <a:srgbClr val="1A202A"/>
                </a:solidFill>
                <a:effectLst/>
                <a:uFillTx/>
                <a:latin typeface="Calibri"/>
              </a:rPr>
              <a:t>assets · stores · SLA</a:t>
            </a:r>
            <a:endParaRPr lang="en-US" sz="850" b="0" u="none" strike="noStrike">
              <a:solidFill>
                <a:srgbClr val="000000"/>
              </a:solidFill>
              <a:effectLst/>
              <a:uFillTx/>
              <a:latin typeface="Arial"/>
            </a:endParaRPr>
          </a:p>
          <a:p>
            <a:pPr algn="ctr" defTabSz="457200">
              <a:lnSpc>
                <a:spcPct val="100000"/>
              </a:lnSpc>
            </a:pPr>
            <a:r>
              <a:rPr lang="en-US" sz="700" b="0" u="none" strike="noStrike">
                <a:solidFill>
                  <a:srgbClr val="57606D"/>
                </a:solidFill>
                <a:effectLst/>
                <a:uFillTx/>
                <a:latin typeface="Calibri"/>
              </a:rPr>
              <a:t>CSV → CMDB stand-in</a:t>
            </a:r>
            <a:endParaRPr lang="en-US" sz="700" b="0" u="none" strike="noStrike">
              <a:solidFill>
                <a:srgbClr val="000000"/>
              </a:solidFill>
              <a:effectLst/>
              <a:uFillTx/>
              <a:latin typeface="Arial"/>
            </a:endParaRPr>
          </a:p>
        </p:txBody>
      </p:sp>
      <p:sp>
        <p:nvSpPr>
          <p:cNvPr id="189" name="Rounded Rectangle 44"/>
          <p:cNvSpPr/>
          <p:nvPr/>
        </p:nvSpPr>
        <p:spPr>
          <a:xfrm>
            <a:off x="7296840" y="5824800"/>
            <a:ext cx="1636200" cy="438120"/>
          </a:xfrm>
          <a:prstGeom prst="roundRect">
            <a:avLst>
              <a:gd name="adj" fmla="val 10000"/>
            </a:avLst>
          </a:prstGeom>
          <a:solidFill>
            <a:srgbClr val="ECEFF2"/>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850" b="1" u="none" strike="noStrike">
                <a:solidFill>
                  <a:srgbClr val="1A202A"/>
                </a:solidFill>
                <a:effectLst/>
                <a:uFillTx/>
                <a:latin typeface="Calibri"/>
              </a:rPr>
              <a:t>labels/train_labels.json</a:t>
            </a:r>
            <a:endParaRPr lang="en-US" sz="850" b="0" u="none" strike="noStrike">
              <a:solidFill>
                <a:srgbClr val="000000"/>
              </a:solidFill>
              <a:effectLst/>
              <a:uFillTx/>
              <a:latin typeface="Arial"/>
            </a:endParaRPr>
          </a:p>
          <a:p>
            <a:pPr algn="ctr" defTabSz="457200">
              <a:lnSpc>
                <a:spcPct val="100000"/>
              </a:lnSpc>
            </a:pPr>
            <a:r>
              <a:rPr lang="en-US" sz="700" b="0" u="none" strike="noStrike">
                <a:solidFill>
                  <a:srgbClr val="57606D"/>
                </a:solidFill>
                <a:effectLst/>
                <a:uFillTx/>
                <a:latin typeface="Calibri"/>
              </a:rPr>
              <a:t>answer key</a:t>
            </a:r>
            <a:endParaRPr lang="en-US" sz="700" b="0" u="none" strike="noStrike">
              <a:solidFill>
                <a:srgbClr val="000000"/>
              </a:solidFill>
              <a:effectLst/>
              <a:uFillTx/>
              <a:latin typeface="Arial"/>
            </a:endParaRPr>
          </a:p>
        </p:txBody>
      </p:sp>
      <p:cxnSp>
        <p:nvCxnSpPr>
          <p:cNvPr id="190" name="Connector 45"/>
          <p:cNvCxnSpPr/>
          <p:nvPr/>
        </p:nvCxnSpPr>
        <p:spPr>
          <a:xfrm>
            <a:off x="1737360" y="2103120"/>
            <a:ext cx="720" cy="110160"/>
          </a:xfrm>
          <a:prstGeom prst="straightConnector1">
            <a:avLst/>
          </a:prstGeom>
          <a:ln w="22225">
            <a:solidFill>
              <a:srgbClr val="0D665E"/>
            </a:solidFill>
            <a:round/>
            <a:tailEnd len="med" type="triangle" w="med"/>
          </a:ln>
        </p:spPr>
      </p:cxnSp>
      <p:cxnSp>
        <p:nvCxnSpPr>
          <p:cNvPr id="191" name="Connector 46"/>
          <p:cNvCxnSpPr/>
          <p:nvPr/>
        </p:nvCxnSpPr>
        <p:spPr>
          <a:xfrm>
            <a:off x="1737360" y="3090600"/>
            <a:ext cx="720" cy="110520"/>
          </a:xfrm>
          <a:prstGeom prst="straightConnector1">
            <a:avLst/>
          </a:prstGeom>
          <a:ln w="22225">
            <a:solidFill>
              <a:srgbClr val="0D665E"/>
            </a:solidFill>
            <a:round/>
            <a:tailEnd len="med" type="triangle" w="med"/>
          </a:ln>
        </p:spPr>
      </p:cxnSp>
      <p:cxnSp>
        <p:nvCxnSpPr>
          <p:cNvPr id="192" name="Connector 47"/>
          <p:cNvCxnSpPr/>
          <p:nvPr/>
        </p:nvCxnSpPr>
        <p:spPr>
          <a:xfrm>
            <a:off x="1737360" y="3858480"/>
            <a:ext cx="720" cy="110520"/>
          </a:xfrm>
          <a:prstGeom prst="straightConnector1">
            <a:avLst/>
          </a:prstGeom>
          <a:ln w="22225">
            <a:solidFill>
              <a:srgbClr val="0D665E"/>
            </a:solidFill>
            <a:round/>
            <a:tailEnd len="med" type="triangle" w="med"/>
          </a:ln>
        </p:spPr>
      </p:cxnSp>
      <p:cxnSp>
        <p:nvCxnSpPr>
          <p:cNvPr id="193" name="Connector 48"/>
          <p:cNvCxnSpPr/>
          <p:nvPr/>
        </p:nvCxnSpPr>
        <p:spPr>
          <a:xfrm>
            <a:off x="1737360" y="4754880"/>
            <a:ext cx="720" cy="110160"/>
          </a:xfrm>
          <a:prstGeom prst="straightConnector1">
            <a:avLst/>
          </a:prstGeom>
          <a:ln w="22225">
            <a:solidFill>
              <a:srgbClr val="0D665E"/>
            </a:solidFill>
            <a:round/>
            <a:tailEnd len="med" type="triangle" w="med"/>
          </a:ln>
        </p:spPr>
      </p:cxnSp>
      <p:cxnSp>
        <p:nvCxnSpPr>
          <p:cNvPr id="194" name="Connector 49"/>
          <p:cNvCxnSpPr/>
          <p:nvPr/>
        </p:nvCxnSpPr>
        <p:spPr>
          <a:xfrm>
            <a:off x="1737360" y="5595840"/>
            <a:ext cx="720" cy="110520"/>
          </a:xfrm>
          <a:prstGeom prst="straightConnector1">
            <a:avLst/>
          </a:prstGeom>
          <a:ln w="22225">
            <a:solidFill>
              <a:srgbClr val="0D665E"/>
            </a:solidFill>
            <a:round/>
            <a:tailEnd len="med" type="triangle" w="med"/>
          </a:ln>
        </p:spPr>
      </p:cxnSp>
      <p:sp>
        <p:nvSpPr>
          <p:cNvPr id="195" name="Rounded Rectangle 50"/>
          <p:cNvSpPr/>
          <p:nvPr/>
        </p:nvSpPr>
        <p:spPr>
          <a:xfrm>
            <a:off x="9528120" y="1444680"/>
            <a:ext cx="2129760" cy="4937040"/>
          </a:xfrm>
          <a:prstGeom prst="roundRect">
            <a:avLst>
              <a:gd name="adj" fmla="val 4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6" name="Rounded Rectangle 51"/>
          <p:cNvSpPr/>
          <p:nvPr/>
        </p:nvSpPr>
        <p:spPr>
          <a:xfrm>
            <a:off x="9528120" y="1444680"/>
            <a:ext cx="2129760" cy="273600"/>
          </a:xfrm>
          <a:prstGeom prst="roundRect">
            <a:avLst>
              <a:gd name="adj" fmla="val 30000"/>
            </a:avLst>
          </a:prstGeom>
          <a:solidFill>
            <a:srgbClr val="1228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7" name="Rectangle 52"/>
          <p:cNvSpPr/>
          <p:nvPr/>
        </p:nvSpPr>
        <p:spPr>
          <a:xfrm>
            <a:off x="9528120" y="1591200"/>
            <a:ext cx="2129760" cy="127440"/>
          </a:xfrm>
          <a:prstGeom prst="rect">
            <a:avLst/>
          </a:prstGeom>
          <a:solidFill>
            <a:srgbClr val="1228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8" name="TextBox 53"/>
          <p:cNvSpPr/>
          <p:nvPr/>
        </p:nvSpPr>
        <p:spPr>
          <a:xfrm>
            <a:off x="9528120" y="1499760"/>
            <a:ext cx="2129760" cy="21888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850" b="1" u="none" strike="noStrike">
                <a:solidFill>
                  <a:srgbClr val="FFFFFF"/>
                </a:solidFill>
                <a:effectLst/>
                <a:uFillTx/>
                <a:latin typeface="Calibri"/>
              </a:rPr>
              <a:t>OBSERVABILITY &amp; EVAL</a:t>
            </a:r>
            <a:endParaRPr lang="en-US" sz="850" b="0" u="none" strike="noStrike">
              <a:solidFill>
                <a:srgbClr val="000000"/>
              </a:solidFill>
              <a:effectLst/>
              <a:uFillTx/>
              <a:latin typeface="Arial"/>
            </a:endParaRPr>
          </a:p>
        </p:txBody>
      </p:sp>
      <p:sp>
        <p:nvSpPr>
          <p:cNvPr id="199" name="TextBox 54"/>
          <p:cNvSpPr/>
          <p:nvPr/>
        </p:nvSpPr>
        <p:spPr>
          <a:xfrm>
            <a:off x="9674280" y="1847160"/>
            <a:ext cx="18554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50" b="1" u="none" strike="noStrike">
                <a:solidFill>
                  <a:srgbClr val="122840"/>
                </a:solidFill>
                <a:effectLst/>
                <a:uFillTx/>
                <a:latin typeface="Calibri"/>
              </a:rPr>
              <a:t>Per-step trace</a:t>
            </a:r>
            <a:endParaRPr lang="en-US" sz="950" b="0" u="none" strike="noStrike">
              <a:solidFill>
                <a:srgbClr val="000000"/>
              </a:solidFill>
              <a:effectLst/>
              <a:uFillTx/>
              <a:latin typeface="Arial"/>
            </a:endParaRPr>
          </a:p>
        </p:txBody>
      </p:sp>
      <p:sp>
        <p:nvSpPr>
          <p:cNvPr id="200" name="TextBox 55"/>
          <p:cNvSpPr/>
          <p:nvPr/>
        </p:nvSpPr>
        <p:spPr>
          <a:xfrm>
            <a:off x="9674280" y="2039040"/>
            <a:ext cx="1855440" cy="310320"/>
          </a:xfrm>
          <a:prstGeom prst="rect">
            <a:avLst/>
          </a:prstGeom>
          <a:noFill/>
          <a:ln w="0">
            <a:noFill/>
          </a:ln>
        </p:spPr>
        <p:style>
          <a:lnRef idx="0"/>
          <a:fillRef idx="0"/>
          <a:effectRef idx="0"/>
          <a:fontRef idx="minor"/>
        </p:style>
        <p:txBody>
          <a:bodyPr lIns="0" tIns="0" rIns="0" bIns="0" anchor="t">
            <a:spAutoFit/>
          </a:bodyPr>
          <a:p>
            <a:pPr defTabSz="457200">
              <a:lnSpc>
                <a:spcPct val="105000"/>
              </a:lnSpc>
            </a:pPr>
            <a:r>
              <a:rPr lang="en-US" sz="750" b="0" u="none" strike="noStrike">
                <a:solidFill>
                  <a:srgbClr val="57606D"/>
                </a:solidFill>
                <a:effectLst/>
                <a:uFillTx/>
                <a:latin typeface="Calibri"/>
              </a:rPr>
              <a:t>every tool call, timed</a:t>
            </a:r>
            <a:endParaRPr lang="en-US" sz="750" b="0" u="none" strike="noStrike">
              <a:solidFill>
                <a:srgbClr val="000000"/>
              </a:solidFill>
              <a:effectLst/>
              <a:uFillTx/>
              <a:latin typeface="Arial"/>
            </a:endParaRPr>
          </a:p>
        </p:txBody>
      </p:sp>
      <p:sp>
        <p:nvSpPr>
          <p:cNvPr id="201" name="TextBox 56"/>
          <p:cNvSpPr/>
          <p:nvPr/>
        </p:nvSpPr>
        <p:spPr>
          <a:xfrm>
            <a:off x="9674280" y="2487240"/>
            <a:ext cx="18554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50" b="1" u="none" strike="noStrike">
                <a:solidFill>
                  <a:srgbClr val="122840"/>
                </a:solidFill>
                <a:effectLst/>
                <a:uFillTx/>
                <a:latin typeface="Calibri"/>
              </a:rPr>
              <a:t>LangSmith</a:t>
            </a:r>
            <a:endParaRPr lang="en-US" sz="950" b="0" u="none" strike="noStrike">
              <a:solidFill>
                <a:srgbClr val="000000"/>
              </a:solidFill>
              <a:effectLst/>
              <a:uFillTx/>
              <a:latin typeface="Arial"/>
            </a:endParaRPr>
          </a:p>
        </p:txBody>
      </p:sp>
      <p:sp>
        <p:nvSpPr>
          <p:cNvPr id="202" name="TextBox 57"/>
          <p:cNvSpPr/>
          <p:nvPr/>
        </p:nvSpPr>
        <p:spPr>
          <a:xfrm>
            <a:off x="9674280" y="2679120"/>
            <a:ext cx="1855440" cy="310320"/>
          </a:xfrm>
          <a:prstGeom prst="rect">
            <a:avLst/>
          </a:prstGeom>
          <a:noFill/>
          <a:ln w="0">
            <a:noFill/>
          </a:ln>
        </p:spPr>
        <p:style>
          <a:lnRef idx="0"/>
          <a:fillRef idx="0"/>
          <a:effectRef idx="0"/>
          <a:fontRef idx="minor"/>
        </p:style>
        <p:txBody>
          <a:bodyPr lIns="0" tIns="0" rIns="0" bIns="0" anchor="t">
            <a:spAutoFit/>
          </a:bodyPr>
          <a:p>
            <a:pPr defTabSz="457200">
              <a:lnSpc>
                <a:spcPct val="105000"/>
              </a:lnSpc>
            </a:pPr>
            <a:r>
              <a:rPr lang="en-US" sz="750" b="0" u="none" strike="noStrike">
                <a:solidFill>
                  <a:srgbClr val="57606D"/>
                </a:solidFill>
                <a:effectLst/>
                <a:uFillTx/>
                <a:latin typeface="Calibri"/>
              </a:rPr>
              <a:t>distributed traces</a:t>
            </a:r>
            <a:endParaRPr lang="en-US" sz="750" b="0" u="none" strike="noStrike">
              <a:solidFill>
                <a:srgbClr val="000000"/>
              </a:solidFill>
              <a:effectLst/>
              <a:uFillTx/>
              <a:latin typeface="Arial"/>
            </a:endParaRPr>
          </a:p>
        </p:txBody>
      </p:sp>
      <p:sp>
        <p:nvSpPr>
          <p:cNvPr id="203" name="TextBox 58"/>
          <p:cNvSpPr/>
          <p:nvPr/>
        </p:nvSpPr>
        <p:spPr>
          <a:xfrm>
            <a:off x="9674280" y="3127320"/>
            <a:ext cx="18554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50" b="1" u="none" strike="noStrike">
                <a:solidFill>
                  <a:srgbClr val="122840"/>
                </a:solidFill>
                <a:effectLst/>
                <a:uFillTx/>
                <a:latin typeface="Calibri"/>
              </a:rPr>
              <a:t>eval_labeled.py</a:t>
            </a:r>
            <a:endParaRPr lang="en-US" sz="950" b="0" u="none" strike="noStrike">
              <a:solidFill>
                <a:srgbClr val="000000"/>
              </a:solidFill>
              <a:effectLst/>
              <a:uFillTx/>
              <a:latin typeface="Arial"/>
            </a:endParaRPr>
          </a:p>
        </p:txBody>
      </p:sp>
      <p:sp>
        <p:nvSpPr>
          <p:cNvPr id="204" name="TextBox 59"/>
          <p:cNvSpPr/>
          <p:nvPr/>
        </p:nvSpPr>
        <p:spPr>
          <a:xfrm>
            <a:off x="9674280" y="3319200"/>
            <a:ext cx="1855440" cy="310320"/>
          </a:xfrm>
          <a:prstGeom prst="rect">
            <a:avLst/>
          </a:prstGeom>
          <a:noFill/>
          <a:ln w="0">
            <a:noFill/>
          </a:ln>
        </p:spPr>
        <p:style>
          <a:lnRef idx="0"/>
          <a:fillRef idx="0"/>
          <a:effectRef idx="0"/>
          <a:fontRef idx="minor"/>
        </p:style>
        <p:txBody>
          <a:bodyPr lIns="0" tIns="0" rIns="0" bIns="0" anchor="t">
            <a:spAutoFit/>
          </a:bodyPr>
          <a:p>
            <a:pPr defTabSz="457200">
              <a:lnSpc>
                <a:spcPct val="105000"/>
              </a:lnSpc>
            </a:pPr>
            <a:r>
              <a:rPr lang="en-US" sz="750" b="0" u="none" strike="noStrike">
                <a:solidFill>
                  <a:srgbClr val="57606D"/>
                </a:solidFill>
                <a:effectLst/>
                <a:uFillTx/>
                <a:latin typeface="Calibri"/>
              </a:rPr>
              <a:t>routing + retrieval</a:t>
            </a:r>
            <a:endParaRPr lang="en-US" sz="750" b="0" u="none" strike="noStrike">
              <a:solidFill>
                <a:srgbClr val="000000"/>
              </a:solidFill>
              <a:effectLst/>
              <a:uFillTx/>
              <a:latin typeface="Arial"/>
            </a:endParaRPr>
          </a:p>
        </p:txBody>
      </p:sp>
      <p:sp>
        <p:nvSpPr>
          <p:cNvPr id="205" name="TextBox 60"/>
          <p:cNvSpPr/>
          <p:nvPr/>
        </p:nvSpPr>
        <p:spPr>
          <a:xfrm>
            <a:off x="9674280" y="3767400"/>
            <a:ext cx="18554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50" b="1" u="none" strike="noStrike">
                <a:solidFill>
                  <a:srgbClr val="122840"/>
                </a:solidFill>
                <a:effectLst/>
                <a:uFillTx/>
                <a:latin typeface="Calibri"/>
              </a:rPr>
              <a:t>eval_quality.py</a:t>
            </a:r>
            <a:endParaRPr lang="en-US" sz="950" b="0" u="none" strike="noStrike">
              <a:solidFill>
                <a:srgbClr val="000000"/>
              </a:solidFill>
              <a:effectLst/>
              <a:uFillTx/>
              <a:latin typeface="Arial"/>
            </a:endParaRPr>
          </a:p>
        </p:txBody>
      </p:sp>
      <p:sp>
        <p:nvSpPr>
          <p:cNvPr id="206" name="TextBox 61"/>
          <p:cNvSpPr/>
          <p:nvPr/>
        </p:nvSpPr>
        <p:spPr>
          <a:xfrm>
            <a:off x="9674280" y="3959280"/>
            <a:ext cx="1855440" cy="310320"/>
          </a:xfrm>
          <a:prstGeom prst="rect">
            <a:avLst/>
          </a:prstGeom>
          <a:noFill/>
          <a:ln w="0">
            <a:noFill/>
          </a:ln>
        </p:spPr>
        <p:style>
          <a:lnRef idx="0"/>
          <a:fillRef idx="0"/>
          <a:effectRef idx="0"/>
          <a:fontRef idx="minor"/>
        </p:style>
        <p:txBody>
          <a:bodyPr lIns="0" tIns="0" rIns="0" bIns="0" anchor="t">
            <a:spAutoFit/>
          </a:bodyPr>
          <a:p>
            <a:pPr defTabSz="457200">
              <a:lnSpc>
                <a:spcPct val="105000"/>
              </a:lnSpc>
            </a:pPr>
            <a:r>
              <a:rPr lang="en-US" sz="750" b="0" u="none" strike="noStrike">
                <a:solidFill>
                  <a:srgbClr val="57606D"/>
                </a:solidFill>
                <a:effectLst/>
                <a:uFillTx/>
                <a:latin typeface="Calibri"/>
              </a:rPr>
              <a:t>groundedness · guardrails</a:t>
            </a:r>
            <a:endParaRPr lang="en-US" sz="750" b="0" u="none" strike="noStrike">
              <a:solidFill>
                <a:srgbClr val="000000"/>
              </a:solidFill>
              <a:effectLst/>
              <a:uFillTx/>
              <a:latin typeface="Arial"/>
            </a:endParaRPr>
          </a:p>
        </p:txBody>
      </p:sp>
      <p:sp>
        <p:nvSpPr>
          <p:cNvPr id="207" name="TextBox 62"/>
          <p:cNvSpPr/>
          <p:nvPr/>
        </p:nvSpPr>
        <p:spPr>
          <a:xfrm>
            <a:off x="9674280" y="4407480"/>
            <a:ext cx="18554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50" b="1" u="none" strike="noStrike">
                <a:solidFill>
                  <a:srgbClr val="122840"/>
                </a:solidFill>
                <a:effectLst/>
                <a:uFillTx/>
                <a:latin typeface="Calibri"/>
              </a:rPr>
              <a:t>Wall-clock timing</a:t>
            </a:r>
            <a:endParaRPr lang="en-US" sz="950" b="0" u="none" strike="noStrike">
              <a:solidFill>
                <a:srgbClr val="000000"/>
              </a:solidFill>
              <a:effectLst/>
              <a:uFillTx/>
              <a:latin typeface="Arial"/>
            </a:endParaRPr>
          </a:p>
        </p:txBody>
      </p:sp>
      <p:sp>
        <p:nvSpPr>
          <p:cNvPr id="208" name="TextBox 63"/>
          <p:cNvSpPr/>
          <p:nvPr/>
        </p:nvSpPr>
        <p:spPr>
          <a:xfrm>
            <a:off x="9674280" y="4599360"/>
            <a:ext cx="1855440" cy="310320"/>
          </a:xfrm>
          <a:prstGeom prst="rect">
            <a:avLst/>
          </a:prstGeom>
          <a:noFill/>
          <a:ln w="0">
            <a:noFill/>
          </a:ln>
        </p:spPr>
        <p:style>
          <a:lnRef idx="0"/>
          <a:fillRef idx="0"/>
          <a:effectRef idx="0"/>
          <a:fontRef idx="minor"/>
        </p:style>
        <p:txBody>
          <a:bodyPr lIns="0" tIns="0" rIns="0" bIns="0" anchor="t">
            <a:spAutoFit/>
          </a:bodyPr>
          <a:p>
            <a:pPr defTabSz="457200">
              <a:lnSpc>
                <a:spcPct val="105000"/>
              </a:lnSpc>
            </a:pPr>
            <a:r>
              <a:rPr lang="en-US" sz="750" b="0" u="none" strike="noStrike">
                <a:solidFill>
                  <a:srgbClr val="57606D"/>
                </a:solidFill>
                <a:effectLst/>
                <a:uFillTx/>
                <a:latin typeface="Calibri"/>
              </a:rPr>
              <a:t>concurrency-safe</a:t>
            </a:r>
            <a:endParaRPr lang="en-US" sz="750" b="0" u="none" strike="noStrike">
              <a:solidFill>
                <a:srgbClr val="000000"/>
              </a:solidFill>
              <a:effectLst/>
              <a:uFillTx/>
              <a:latin typeface="Arial"/>
            </a:endParaRPr>
          </a:p>
        </p:txBody>
      </p:sp>
      <p:sp>
        <p:nvSpPr>
          <p:cNvPr id="209" name="TextBox 64"/>
          <p:cNvSpPr/>
          <p:nvPr/>
        </p:nvSpPr>
        <p:spPr>
          <a:xfrm>
            <a:off x="9674280" y="5047560"/>
            <a:ext cx="18554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50" b="1" u="none" strike="noStrike">
                <a:solidFill>
                  <a:srgbClr val="122840"/>
                </a:solidFill>
                <a:effectLst/>
                <a:uFillTx/>
                <a:latin typeface="Calibri"/>
              </a:rPr>
              <a:t>Run history</a:t>
            </a:r>
            <a:endParaRPr lang="en-US" sz="950" b="0" u="none" strike="noStrike">
              <a:solidFill>
                <a:srgbClr val="000000"/>
              </a:solidFill>
              <a:effectLst/>
              <a:uFillTx/>
              <a:latin typeface="Arial"/>
            </a:endParaRPr>
          </a:p>
        </p:txBody>
      </p:sp>
      <p:sp>
        <p:nvSpPr>
          <p:cNvPr id="210" name="TextBox 65"/>
          <p:cNvSpPr/>
          <p:nvPr/>
        </p:nvSpPr>
        <p:spPr>
          <a:xfrm>
            <a:off x="9674280" y="5239440"/>
            <a:ext cx="1855440" cy="310320"/>
          </a:xfrm>
          <a:prstGeom prst="rect">
            <a:avLst/>
          </a:prstGeom>
          <a:noFill/>
          <a:ln w="0">
            <a:noFill/>
          </a:ln>
        </p:spPr>
        <p:style>
          <a:lnRef idx="0"/>
          <a:fillRef idx="0"/>
          <a:effectRef idx="0"/>
          <a:fontRef idx="minor"/>
        </p:style>
        <p:txBody>
          <a:bodyPr lIns="0" tIns="0" rIns="0" bIns="0" anchor="t">
            <a:spAutoFit/>
          </a:bodyPr>
          <a:p>
            <a:pPr defTabSz="457200">
              <a:lnSpc>
                <a:spcPct val="105000"/>
              </a:lnSpc>
            </a:pPr>
            <a:r>
              <a:rPr lang="en-US" sz="750" b="0" u="none" strike="noStrike">
                <a:solidFill>
                  <a:srgbClr val="57606D"/>
                </a:solidFill>
                <a:effectLst/>
                <a:uFillTx/>
                <a:latin typeface="Calibri"/>
              </a:rPr>
              <a:t>every run archived</a:t>
            </a:r>
            <a:endParaRPr lang="en-US" sz="750" b="0" u="none" strike="noStrike">
              <a:solidFill>
                <a:srgbClr val="000000"/>
              </a:solidFill>
              <a:effectLst/>
              <a:uFillTx/>
              <a:latin typeface="Arial"/>
            </a:endParaRPr>
          </a:p>
        </p:txBody>
      </p:sp>
      <p:sp>
        <p:nvSpPr>
          <p:cNvPr id="211" name="TextBox 66"/>
          <p:cNvSpPr/>
          <p:nvPr/>
        </p:nvSpPr>
        <p:spPr>
          <a:xfrm>
            <a:off x="9674280" y="5687640"/>
            <a:ext cx="1855440" cy="218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50" b="1" u="none" strike="noStrike">
                <a:solidFill>
                  <a:srgbClr val="122840"/>
                </a:solidFill>
                <a:effectLst/>
                <a:uFillTx/>
                <a:latin typeface="Calibri"/>
              </a:rPr>
              <a:t>logs/ticket_actions</a:t>
            </a:r>
            <a:endParaRPr lang="en-US" sz="950" b="0" u="none" strike="noStrike">
              <a:solidFill>
                <a:srgbClr val="000000"/>
              </a:solidFill>
              <a:effectLst/>
              <a:uFillTx/>
              <a:latin typeface="Arial"/>
            </a:endParaRPr>
          </a:p>
        </p:txBody>
      </p:sp>
      <p:sp>
        <p:nvSpPr>
          <p:cNvPr id="212" name="TextBox 67"/>
          <p:cNvSpPr/>
          <p:nvPr/>
        </p:nvSpPr>
        <p:spPr>
          <a:xfrm>
            <a:off x="9674280" y="5879520"/>
            <a:ext cx="1855440" cy="310320"/>
          </a:xfrm>
          <a:prstGeom prst="rect">
            <a:avLst/>
          </a:prstGeom>
          <a:noFill/>
          <a:ln w="0">
            <a:noFill/>
          </a:ln>
        </p:spPr>
        <p:style>
          <a:lnRef idx="0"/>
          <a:fillRef idx="0"/>
          <a:effectRef idx="0"/>
          <a:fontRef idx="minor"/>
        </p:style>
        <p:txBody>
          <a:bodyPr lIns="0" tIns="0" rIns="0" bIns="0" anchor="t">
            <a:spAutoFit/>
          </a:bodyPr>
          <a:p>
            <a:pPr defTabSz="457200">
              <a:lnSpc>
                <a:spcPct val="105000"/>
              </a:lnSpc>
            </a:pPr>
            <a:r>
              <a:rPr lang="en-US" sz="750" b="0" u="none" strike="noStrike">
                <a:solidFill>
                  <a:srgbClr val="57606D"/>
                </a:solidFill>
                <a:effectLst/>
                <a:uFillTx/>
                <a:latin typeface="Calibri"/>
              </a:rPr>
              <a:t>append-only audit</a:t>
            </a:r>
            <a:endParaRPr lang="en-US" sz="750" b="0" u="none" strike="noStrike">
              <a:solidFill>
                <a:srgbClr val="000000"/>
              </a:solidFill>
              <a:effectLst/>
              <a:uFillTx/>
              <a:latin typeface="Arial"/>
            </a:endParaRPr>
          </a:p>
        </p:txBody>
      </p:sp>
      <p:sp>
        <p:nvSpPr>
          <p:cNvPr id="213" name="TextBox 68"/>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Component architecture — every box is a real module in the repo</a:t>
            </a:r>
            <a:endParaRPr lang="en-US" sz="900" b="0" u="none" strike="noStrike">
              <a:solidFill>
                <a:srgbClr val="000000"/>
              </a:solidFill>
              <a:effectLst/>
              <a:uFillTx/>
              <a:latin typeface="Arial"/>
            </a:endParaRPr>
          </a:p>
        </p:txBody>
      </p:sp>
      <p:sp>
        <p:nvSpPr>
          <p:cNvPr id="214" name="TextBox 69"/>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215"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ARCHITECTURE</a:t>
            </a:r>
            <a:endParaRPr lang="en-US" sz="1200" b="0" u="none" strike="noStrike">
              <a:solidFill>
                <a:srgbClr val="000000"/>
              </a:solidFill>
              <a:effectLst/>
              <a:uFillTx/>
              <a:latin typeface="Arial"/>
            </a:endParaRPr>
          </a:p>
        </p:txBody>
      </p:sp>
      <p:sp>
        <p:nvSpPr>
          <p:cNvPr id="216"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What happens to one ticket, and where the time goes</a:t>
            </a:r>
            <a:endParaRPr lang="en-US" sz="2700" b="0" u="none" strike="noStrike">
              <a:solidFill>
                <a:srgbClr val="000000"/>
              </a:solidFill>
              <a:effectLst/>
              <a:uFillTx/>
              <a:latin typeface="Arial"/>
            </a:endParaRPr>
          </a:p>
        </p:txBody>
      </p:sp>
      <p:sp>
        <p:nvSpPr>
          <p:cNvPr id="217"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sp>
        <p:nvSpPr>
          <p:cNvPr id="218" name="Rounded Rectangle 4"/>
          <p:cNvSpPr/>
          <p:nvPr/>
        </p:nvSpPr>
        <p:spPr>
          <a:xfrm>
            <a:off x="502920" y="1691640"/>
            <a:ext cx="2120760" cy="959400"/>
          </a:xfrm>
          <a:prstGeom prst="roundRect">
            <a:avLst>
              <a:gd name="adj" fmla="val 10000"/>
            </a:avLst>
          </a:prstGeom>
          <a:solidFill>
            <a:srgbClr val="FFFFFF"/>
          </a:solidFill>
          <a:ln w="22225">
            <a:solidFill>
              <a:srgbClr val="12284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300" b="1" u="none" strike="noStrike">
                <a:solidFill>
                  <a:srgbClr val="122840"/>
                </a:solidFill>
                <a:effectLst/>
                <a:uFillTx/>
                <a:latin typeface="Calibri"/>
              </a:rPr>
              <a:t>Ingest</a:t>
            </a:r>
            <a:endParaRPr lang="en-US" sz="13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ticket JSON</a:t>
            </a:r>
            <a:endParaRPr lang="en-US" sz="9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PII masked</a:t>
            </a:r>
            <a:endParaRPr lang="en-US" sz="900" b="0" u="none" strike="noStrike">
              <a:solidFill>
                <a:srgbClr val="000000"/>
              </a:solidFill>
              <a:effectLst/>
              <a:uFillTx/>
              <a:latin typeface="Arial"/>
            </a:endParaRPr>
          </a:p>
        </p:txBody>
      </p:sp>
      <p:sp>
        <p:nvSpPr>
          <p:cNvPr id="219" name="TextBox 5"/>
          <p:cNvSpPr/>
          <p:nvPr/>
        </p:nvSpPr>
        <p:spPr>
          <a:xfrm>
            <a:off x="502920" y="2734200"/>
            <a:ext cx="2120760" cy="27360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200" b="1" u="none" strike="noStrike">
                <a:solidFill>
                  <a:srgbClr val="1A202A"/>
                </a:solidFill>
                <a:effectLst/>
                <a:uFillTx/>
                <a:latin typeface="Calibri"/>
              </a:rPr>
              <a:t>~0ms</a:t>
            </a:r>
            <a:endParaRPr lang="en-US" sz="1200" b="0" u="none" strike="noStrike">
              <a:solidFill>
                <a:srgbClr val="000000"/>
              </a:solidFill>
              <a:effectLst/>
              <a:uFillTx/>
              <a:latin typeface="Arial"/>
            </a:endParaRPr>
          </a:p>
        </p:txBody>
      </p:sp>
      <p:cxnSp>
        <p:nvCxnSpPr>
          <p:cNvPr id="220" name="Connector 6"/>
          <p:cNvCxnSpPr/>
          <p:nvPr/>
        </p:nvCxnSpPr>
        <p:spPr>
          <a:xfrm>
            <a:off x="2624040" y="2166840"/>
            <a:ext cx="201960" cy="720"/>
          </a:xfrm>
          <a:prstGeom prst="straightConnector1">
            <a:avLst/>
          </a:prstGeom>
          <a:ln w="0">
            <a:solidFill>
              <a:srgbClr val="122840"/>
            </a:solidFill>
            <a:tailEnd len="med" type="triangle" w="med"/>
          </a:ln>
        </p:spPr>
      </p:cxnSp>
      <p:sp>
        <p:nvSpPr>
          <p:cNvPr id="221" name="Rounded Rectangle 7"/>
          <p:cNvSpPr/>
          <p:nvPr/>
        </p:nvSpPr>
        <p:spPr>
          <a:xfrm>
            <a:off x="2825640" y="1691640"/>
            <a:ext cx="2120760" cy="959400"/>
          </a:xfrm>
          <a:prstGeom prst="roundRect">
            <a:avLst>
              <a:gd name="adj" fmla="val 10000"/>
            </a:avLst>
          </a:prstGeom>
          <a:solidFill>
            <a:srgbClr val="FFFFFF"/>
          </a:solidFill>
          <a:ln w="22225">
            <a:solidFill>
              <a:srgbClr val="0D665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300" b="1" u="none" strike="noStrike">
                <a:solidFill>
                  <a:srgbClr val="0D665E"/>
                </a:solidFill>
                <a:effectLst/>
                <a:uFillTx/>
                <a:latin typeface="Calibri"/>
              </a:rPr>
              <a:t>Triage</a:t>
            </a:r>
            <a:endParaRPr lang="en-US" sz="13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rule or LLM</a:t>
            </a:r>
            <a:endParaRPr lang="en-US" sz="9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decides queue</a:t>
            </a:r>
            <a:endParaRPr lang="en-US" sz="900" b="0" u="none" strike="noStrike">
              <a:solidFill>
                <a:srgbClr val="000000"/>
              </a:solidFill>
              <a:effectLst/>
              <a:uFillTx/>
              <a:latin typeface="Arial"/>
            </a:endParaRPr>
          </a:p>
        </p:txBody>
      </p:sp>
      <p:sp>
        <p:nvSpPr>
          <p:cNvPr id="222" name="TextBox 8"/>
          <p:cNvSpPr/>
          <p:nvPr/>
        </p:nvSpPr>
        <p:spPr>
          <a:xfrm>
            <a:off x="2825640" y="2734200"/>
            <a:ext cx="2120760" cy="27360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200" b="1" u="none" strike="noStrike">
                <a:solidFill>
                  <a:srgbClr val="1A202A"/>
                </a:solidFill>
                <a:effectLst/>
                <a:uFillTx/>
                <a:latin typeface="Calibri"/>
              </a:rPr>
              <a:t>0.28s</a:t>
            </a:r>
            <a:endParaRPr lang="en-US" sz="1200" b="0" u="none" strike="noStrike">
              <a:solidFill>
                <a:srgbClr val="000000"/>
              </a:solidFill>
              <a:effectLst/>
              <a:uFillTx/>
              <a:latin typeface="Arial"/>
            </a:endParaRPr>
          </a:p>
        </p:txBody>
      </p:sp>
      <p:cxnSp>
        <p:nvCxnSpPr>
          <p:cNvPr id="223" name="Connector 9"/>
          <p:cNvCxnSpPr/>
          <p:nvPr/>
        </p:nvCxnSpPr>
        <p:spPr>
          <a:xfrm>
            <a:off x="4946760" y="2166840"/>
            <a:ext cx="201960" cy="720"/>
          </a:xfrm>
          <a:prstGeom prst="straightConnector1">
            <a:avLst/>
          </a:prstGeom>
          <a:ln w="0">
            <a:solidFill>
              <a:srgbClr val="0D665E"/>
            </a:solidFill>
            <a:tailEnd len="med" type="triangle" w="med"/>
          </a:ln>
        </p:spPr>
      </p:cxnSp>
      <p:sp>
        <p:nvSpPr>
          <p:cNvPr id="224" name="Rounded Rectangle 10"/>
          <p:cNvSpPr/>
          <p:nvPr/>
        </p:nvSpPr>
        <p:spPr>
          <a:xfrm>
            <a:off x="5148000" y="1691640"/>
            <a:ext cx="2120760" cy="959400"/>
          </a:xfrm>
          <a:prstGeom prst="roundRect">
            <a:avLst>
              <a:gd name="adj" fmla="val 10000"/>
            </a:avLst>
          </a:prstGeom>
          <a:solidFill>
            <a:srgbClr val="FFFFFF"/>
          </a:solidFill>
          <a:ln w="22225">
            <a:solidFill>
              <a:srgbClr val="1D3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300" b="1" u="none" strike="noStrike">
                <a:solidFill>
                  <a:srgbClr val="1D3A5C"/>
                </a:solidFill>
                <a:effectLst/>
                <a:uFillTx/>
                <a:latin typeface="Calibri"/>
              </a:rPr>
              <a:t>Parallel fetch</a:t>
            </a:r>
            <a:endParaRPr lang="en-US" sz="13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3 searches + spec</a:t>
            </a:r>
            <a:endParaRPr lang="en-US" sz="9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 CMDB enrich</a:t>
            </a:r>
            <a:endParaRPr lang="en-US" sz="900" b="0" u="none" strike="noStrike">
              <a:solidFill>
                <a:srgbClr val="000000"/>
              </a:solidFill>
              <a:effectLst/>
              <a:uFillTx/>
              <a:latin typeface="Arial"/>
            </a:endParaRPr>
          </a:p>
        </p:txBody>
      </p:sp>
      <p:sp>
        <p:nvSpPr>
          <p:cNvPr id="225" name="TextBox 11"/>
          <p:cNvSpPr/>
          <p:nvPr/>
        </p:nvSpPr>
        <p:spPr>
          <a:xfrm>
            <a:off x="5148000" y="2734200"/>
            <a:ext cx="2120760" cy="27360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200" b="1" u="none" strike="noStrike">
                <a:solidFill>
                  <a:srgbClr val="1A202A"/>
                </a:solidFill>
                <a:effectLst/>
                <a:uFillTx/>
                <a:latin typeface="Calibri"/>
              </a:rPr>
              <a:t>0.9s</a:t>
            </a:r>
            <a:endParaRPr lang="en-US" sz="1200" b="0" u="none" strike="noStrike">
              <a:solidFill>
                <a:srgbClr val="000000"/>
              </a:solidFill>
              <a:effectLst/>
              <a:uFillTx/>
              <a:latin typeface="Arial"/>
            </a:endParaRPr>
          </a:p>
        </p:txBody>
      </p:sp>
      <p:cxnSp>
        <p:nvCxnSpPr>
          <p:cNvPr id="226" name="Connector 12"/>
          <p:cNvCxnSpPr/>
          <p:nvPr/>
        </p:nvCxnSpPr>
        <p:spPr>
          <a:xfrm>
            <a:off x="7269480" y="2166840"/>
            <a:ext cx="201600" cy="720"/>
          </a:xfrm>
          <a:prstGeom prst="straightConnector1">
            <a:avLst/>
          </a:prstGeom>
          <a:ln w="0">
            <a:solidFill>
              <a:srgbClr val="1D3A5C"/>
            </a:solidFill>
            <a:tailEnd len="med" type="triangle" w="med"/>
          </a:ln>
        </p:spPr>
      </p:cxnSp>
      <p:sp>
        <p:nvSpPr>
          <p:cNvPr id="227" name="Rounded Rectangle 13"/>
          <p:cNvSpPr/>
          <p:nvPr/>
        </p:nvSpPr>
        <p:spPr>
          <a:xfrm>
            <a:off x="7470720" y="1691640"/>
            <a:ext cx="2120760" cy="959400"/>
          </a:xfrm>
          <a:prstGeom prst="roundRect">
            <a:avLst>
              <a:gd name="adj" fmla="val 10000"/>
            </a:avLst>
          </a:prstGeom>
          <a:solidFill>
            <a:srgbClr val="FFFFFF"/>
          </a:solidFill>
          <a:ln w="22225">
            <a:solidFill>
              <a:srgbClr val="0D665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300" b="1" u="none" strike="noStrike">
                <a:solidFill>
                  <a:srgbClr val="0D665E"/>
                </a:solidFill>
                <a:effectLst/>
                <a:uFillTx/>
                <a:latin typeface="Calibri"/>
              </a:rPr>
              <a:t>Reason loop</a:t>
            </a:r>
            <a:endParaRPr lang="en-US" sz="13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≤5 turns, capped</a:t>
            </a:r>
            <a:endParaRPr lang="en-US" sz="9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search budget</a:t>
            </a:r>
            <a:endParaRPr lang="en-US" sz="900" b="0" u="none" strike="noStrike">
              <a:solidFill>
                <a:srgbClr val="000000"/>
              </a:solidFill>
              <a:effectLst/>
              <a:uFillTx/>
              <a:latin typeface="Arial"/>
            </a:endParaRPr>
          </a:p>
        </p:txBody>
      </p:sp>
      <p:sp>
        <p:nvSpPr>
          <p:cNvPr id="228" name="TextBox 14"/>
          <p:cNvSpPr/>
          <p:nvPr/>
        </p:nvSpPr>
        <p:spPr>
          <a:xfrm>
            <a:off x="7470720" y="2734200"/>
            <a:ext cx="2120760" cy="27360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200" b="1" u="none" strike="noStrike">
                <a:solidFill>
                  <a:srgbClr val="1A202A"/>
                </a:solidFill>
                <a:effectLst/>
                <a:uFillTx/>
                <a:latin typeface="Calibri"/>
              </a:rPr>
              <a:t>1.17s</a:t>
            </a:r>
            <a:endParaRPr lang="en-US" sz="1200" b="0" u="none" strike="noStrike">
              <a:solidFill>
                <a:srgbClr val="000000"/>
              </a:solidFill>
              <a:effectLst/>
              <a:uFillTx/>
              <a:latin typeface="Arial"/>
            </a:endParaRPr>
          </a:p>
        </p:txBody>
      </p:sp>
      <p:cxnSp>
        <p:nvCxnSpPr>
          <p:cNvPr id="229" name="Connector 15"/>
          <p:cNvCxnSpPr/>
          <p:nvPr/>
        </p:nvCxnSpPr>
        <p:spPr>
          <a:xfrm>
            <a:off x="9591840" y="2166840"/>
            <a:ext cx="201960" cy="720"/>
          </a:xfrm>
          <a:prstGeom prst="straightConnector1">
            <a:avLst/>
          </a:prstGeom>
          <a:ln w="0">
            <a:solidFill>
              <a:srgbClr val="0D665E"/>
            </a:solidFill>
            <a:tailEnd len="med" type="triangle" w="med"/>
          </a:ln>
        </p:spPr>
      </p:cxnSp>
      <p:sp>
        <p:nvSpPr>
          <p:cNvPr id="230" name="Rounded Rectangle 16"/>
          <p:cNvSpPr/>
          <p:nvPr/>
        </p:nvSpPr>
        <p:spPr>
          <a:xfrm>
            <a:off x="9793080" y="1691640"/>
            <a:ext cx="2120760" cy="959400"/>
          </a:xfrm>
          <a:prstGeom prst="roundRect">
            <a:avLst>
              <a:gd name="adj" fmla="val 10000"/>
            </a:avLst>
          </a:prstGeom>
          <a:solidFill>
            <a:srgbClr val="FFFFFF"/>
          </a:solidFill>
          <a:ln w="22225">
            <a:solidFill>
              <a:srgbClr val="A86A1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300" b="1" u="none" strike="noStrike">
                <a:solidFill>
                  <a:srgbClr val="A86A14"/>
                </a:solidFill>
                <a:effectLst/>
                <a:uFillTx/>
                <a:latin typeface="Calibri"/>
              </a:rPr>
              <a:t>Act</a:t>
            </a:r>
            <a:endParaRPr lang="en-US" sz="13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reply / resolve /</a:t>
            </a:r>
            <a:endParaRPr lang="en-US" sz="9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propose action</a:t>
            </a:r>
            <a:endParaRPr lang="en-US" sz="900" b="0" u="none" strike="noStrike">
              <a:solidFill>
                <a:srgbClr val="000000"/>
              </a:solidFill>
              <a:effectLst/>
              <a:uFillTx/>
              <a:latin typeface="Arial"/>
            </a:endParaRPr>
          </a:p>
        </p:txBody>
      </p:sp>
      <p:sp>
        <p:nvSpPr>
          <p:cNvPr id="231" name="TextBox 17"/>
          <p:cNvSpPr/>
          <p:nvPr/>
        </p:nvSpPr>
        <p:spPr>
          <a:xfrm>
            <a:off x="9793080" y="2734200"/>
            <a:ext cx="2120760" cy="27360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200" b="1" u="none" strike="noStrike">
                <a:solidFill>
                  <a:srgbClr val="1A202A"/>
                </a:solidFill>
                <a:effectLst/>
                <a:uFillTx/>
                <a:latin typeface="Calibri"/>
              </a:rPr>
              <a:t>~0ms</a:t>
            </a:r>
            <a:endParaRPr lang="en-US" sz="1200" b="0" u="none" strike="noStrike">
              <a:solidFill>
                <a:srgbClr val="000000"/>
              </a:solidFill>
              <a:effectLst/>
              <a:uFillTx/>
              <a:latin typeface="Arial"/>
            </a:endParaRPr>
          </a:p>
        </p:txBody>
      </p:sp>
      <p:sp>
        <p:nvSpPr>
          <p:cNvPr id="232" name="TextBox 18"/>
          <p:cNvSpPr/>
          <p:nvPr/>
        </p:nvSpPr>
        <p:spPr>
          <a:xfrm>
            <a:off x="502920" y="3127320"/>
            <a:ext cx="1115496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TWO THINGS THAT MATTER HERE</a:t>
            </a:r>
            <a:endParaRPr lang="en-US" sz="1200" b="0" u="none" strike="noStrike">
              <a:solidFill>
                <a:srgbClr val="000000"/>
              </a:solidFill>
              <a:effectLst/>
              <a:uFillTx/>
              <a:latin typeface="Arial"/>
            </a:endParaRPr>
          </a:p>
        </p:txBody>
      </p:sp>
      <p:sp>
        <p:nvSpPr>
          <p:cNvPr id="233" name="TextBox 19"/>
          <p:cNvSpPr/>
          <p:nvPr/>
        </p:nvSpPr>
        <p:spPr>
          <a:xfrm>
            <a:off x="502920" y="3493080"/>
            <a:ext cx="5485680" cy="2376720"/>
          </a:xfrm>
          <a:prstGeom prst="rect">
            <a:avLst/>
          </a:prstGeom>
          <a:noFill/>
          <a:ln w="0">
            <a:noFill/>
          </a:ln>
        </p:spPr>
        <p:style>
          <a:lnRef idx="0"/>
          <a:fillRef idx="0"/>
          <a:effectRef idx="0"/>
          <a:fontRef idx="minor"/>
        </p:style>
        <p:txBody>
          <a:bodyPr lIns="0" tIns="0" rIns="0" bIns="0" anchor="t">
            <a:spAutoFit/>
          </a:bodyPr>
          <a:p>
            <a:pPr defTabSz="457200">
              <a:lnSpc>
                <a:spcPct val="112000"/>
              </a:lnSpc>
              <a:spcAft>
                <a:spcPts val="1400"/>
              </a:spcAft>
              <a:tabLst>
                <a:tab pos="0" algn="l"/>
              </a:tabLst>
            </a:pPr>
            <a:r>
              <a:rPr lang="en-US" sz="1300" b="1" u="none" strike="noStrike">
                <a:solidFill>
                  <a:srgbClr val="179285"/>
                </a:solidFill>
                <a:effectLst/>
                <a:uFillTx/>
                <a:latin typeface="Calibri"/>
              </a:rPr>
              <a:t>•  </a:t>
            </a:r>
            <a:r>
              <a:rPr lang="en-US" sz="1300" b="1" u="none" strike="noStrike">
                <a:solidFill>
                  <a:srgbClr val="1A202A"/>
                </a:solidFill>
                <a:effectLst/>
                <a:uFillTx/>
                <a:latin typeface="Calibri"/>
              </a:rPr>
              <a:t>They overlap.  </a:t>
            </a:r>
            <a:r>
              <a:rPr lang="en-US" sz="1300" b="0" u="none" strike="noStrike">
                <a:solidFill>
                  <a:srgbClr val="57606D"/>
                </a:solidFill>
                <a:effectLst/>
                <a:uFillTx/>
                <a:latin typeface="Calibri"/>
              </a:rPr>
              <a:t>Retrieval, FAQ, the spec-sheet lookup and the CMDB enrichment all run concurrently in one thread pool. Summing the per-step timings over-counts real elapsed time by 25–65%, so the harness stamps true wall-clock instead.</a:t>
            </a:r>
            <a:endParaRPr lang="en-US" sz="1300" b="0" u="none" strike="noStrike">
              <a:solidFill>
                <a:srgbClr val="000000"/>
              </a:solidFill>
              <a:effectLst/>
              <a:uFillTx/>
              <a:latin typeface="Arial"/>
            </a:endParaRPr>
          </a:p>
          <a:p>
            <a:pPr defTabSz="457200">
              <a:lnSpc>
                <a:spcPct val="112000"/>
              </a:lnSpc>
              <a:spcAft>
                <a:spcPts val="1400"/>
              </a:spcAft>
              <a:tabLst>
                <a:tab pos="0" algn="l"/>
              </a:tabLst>
            </a:pPr>
            <a:r>
              <a:rPr lang="en-US" sz="1300" b="1" u="none" strike="noStrike">
                <a:solidFill>
                  <a:srgbClr val="179285"/>
                </a:solidFill>
                <a:effectLst/>
                <a:uFillTx/>
                <a:latin typeface="Calibri"/>
              </a:rPr>
              <a:t>•  </a:t>
            </a:r>
            <a:r>
              <a:rPr lang="en-US" sz="1300" b="1" u="none" strike="noStrike">
                <a:solidFill>
                  <a:srgbClr val="1A202A"/>
                </a:solidFill>
                <a:effectLst/>
                <a:uFillTx/>
                <a:latin typeface="Calibri"/>
              </a:rPr>
              <a:t>Escalation short-circuits.  </a:t>
            </a:r>
            <a:r>
              <a:rPr lang="en-US" sz="1300" b="0" u="none" strike="noStrike">
                <a:solidFill>
                  <a:srgbClr val="57606D"/>
                </a:solidFill>
                <a:effectLst/>
                <a:uFillTx/>
                <a:latin typeface="Calibri"/>
              </a:rPr>
              <a:t>A ticket routed to L2 never enters the resolution loop at all — triage is a single LLM call on ticket text, with no retrieval.</a:t>
            </a:r>
            <a:endParaRPr lang="en-US" sz="1300" b="0" u="none" strike="noStrike">
              <a:solidFill>
                <a:srgbClr val="000000"/>
              </a:solidFill>
              <a:effectLst/>
              <a:uFillTx/>
              <a:latin typeface="Arial"/>
            </a:endParaRPr>
          </a:p>
        </p:txBody>
      </p:sp>
      <p:sp>
        <p:nvSpPr>
          <p:cNvPr id="234" name="Rounded Rectangle 20"/>
          <p:cNvSpPr/>
          <p:nvPr/>
        </p:nvSpPr>
        <p:spPr>
          <a:xfrm>
            <a:off x="6400800" y="3493080"/>
            <a:ext cx="2486520" cy="114228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5" name="TextBox 21"/>
          <p:cNvSpPr/>
          <p:nvPr/>
        </p:nvSpPr>
        <p:spPr>
          <a:xfrm>
            <a:off x="6583680" y="3630240"/>
            <a:ext cx="212076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MEDIAN</a:t>
            </a:r>
            <a:endParaRPr lang="en-US" sz="1050" b="0" u="none" strike="noStrike">
              <a:solidFill>
                <a:srgbClr val="000000"/>
              </a:solidFill>
              <a:effectLst/>
              <a:uFillTx/>
              <a:latin typeface="Arial"/>
            </a:endParaRPr>
          </a:p>
        </p:txBody>
      </p:sp>
      <p:sp>
        <p:nvSpPr>
          <p:cNvPr id="236" name="TextBox 22"/>
          <p:cNvSpPr/>
          <p:nvPr/>
        </p:nvSpPr>
        <p:spPr>
          <a:xfrm>
            <a:off x="6583680" y="3922920"/>
            <a:ext cx="212076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0D665E"/>
                </a:solidFill>
                <a:effectLst/>
                <a:uFillTx/>
                <a:latin typeface="Calibri"/>
              </a:rPr>
              <a:t>0.62s</a:t>
            </a:r>
            <a:endParaRPr lang="en-US" sz="2700" b="0" u="none" strike="noStrike">
              <a:solidFill>
                <a:srgbClr val="000000"/>
              </a:solidFill>
              <a:effectLst/>
              <a:uFillTx/>
              <a:latin typeface="Arial"/>
            </a:endParaRPr>
          </a:p>
        </p:txBody>
      </p:sp>
      <p:sp>
        <p:nvSpPr>
          <p:cNvPr id="237" name="TextBox 23"/>
          <p:cNvSpPr/>
          <p:nvPr/>
        </p:nvSpPr>
        <p:spPr>
          <a:xfrm>
            <a:off x="6583680" y="4270320"/>
            <a:ext cx="212076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half of tickets</a:t>
            </a:r>
            <a:endParaRPr lang="en-US" sz="1000" b="0" u="none" strike="noStrike">
              <a:solidFill>
                <a:srgbClr val="000000"/>
              </a:solidFill>
              <a:effectLst/>
              <a:uFillTx/>
              <a:latin typeface="Arial"/>
            </a:endParaRPr>
          </a:p>
        </p:txBody>
      </p:sp>
      <p:sp>
        <p:nvSpPr>
          <p:cNvPr id="238" name="Rounded Rectangle 24"/>
          <p:cNvSpPr/>
          <p:nvPr/>
        </p:nvSpPr>
        <p:spPr>
          <a:xfrm>
            <a:off x="9162360" y="3493080"/>
            <a:ext cx="2486520" cy="114228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9" name="TextBox 25"/>
          <p:cNvSpPr/>
          <p:nvPr/>
        </p:nvSpPr>
        <p:spPr>
          <a:xfrm>
            <a:off x="9345240" y="3630240"/>
            <a:ext cx="212076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P95</a:t>
            </a:r>
            <a:endParaRPr lang="en-US" sz="1050" b="0" u="none" strike="noStrike">
              <a:solidFill>
                <a:srgbClr val="000000"/>
              </a:solidFill>
              <a:effectLst/>
              <a:uFillTx/>
              <a:latin typeface="Arial"/>
            </a:endParaRPr>
          </a:p>
        </p:txBody>
      </p:sp>
      <p:sp>
        <p:nvSpPr>
          <p:cNvPr id="240" name="TextBox 26"/>
          <p:cNvSpPr/>
          <p:nvPr/>
        </p:nvSpPr>
        <p:spPr>
          <a:xfrm>
            <a:off x="9345240" y="3922920"/>
            <a:ext cx="212076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22840"/>
                </a:solidFill>
                <a:effectLst/>
                <a:uFillTx/>
                <a:latin typeface="Calibri"/>
              </a:rPr>
              <a:t>3.9s</a:t>
            </a:r>
            <a:endParaRPr lang="en-US" sz="2700" b="0" u="none" strike="noStrike">
              <a:solidFill>
                <a:srgbClr val="000000"/>
              </a:solidFill>
              <a:effectLst/>
              <a:uFillTx/>
              <a:latin typeface="Arial"/>
            </a:endParaRPr>
          </a:p>
        </p:txBody>
      </p:sp>
      <p:sp>
        <p:nvSpPr>
          <p:cNvPr id="241" name="TextBox 27"/>
          <p:cNvSpPr/>
          <p:nvPr/>
        </p:nvSpPr>
        <p:spPr>
          <a:xfrm>
            <a:off x="9345240" y="4270320"/>
            <a:ext cx="212076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worst realistic case</a:t>
            </a:r>
            <a:endParaRPr lang="en-US" sz="1000" b="0" u="none" strike="noStrike">
              <a:solidFill>
                <a:srgbClr val="000000"/>
              </a:solidFill>
              <a:effectLst/>
              <a:uFillTx/>
              <a:latin typeface="Arial"/>
            </a:endParaRPr>
          </a:p>
        </p:txBody>
      </p:sp>
      <p:sp>
        <p:nvSpPr>
          <p:cNvPr id="242" name="Rounded Rectangle 28"/>
          <p:cNvSpPr/>
          <p:nvPr/>
        </p:nvSpPr>
        <p:spPr>
          <a:xfrm>
            <a:off x="6400800" y="4773240"/>
            <a:ext cx="2486520" cy="114228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3" name="TextBox 29"/>
          <p:cNvSpPr/>
          <p:nvPr/>
        </p:nvSpPr>
        <p:spPr>
          <a:xfrm>
            <a:off x="6583680" y="4910400"/>
            <a:ext cx="212076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MEAN</a:t>
            </a:r>
            <a:endParaRPr lang="en-US" sz="1050" b="0" u="none" strike="noStrike">
              <a:solidFill>
                <a:srgbClr val="000000"/>
              </a:solidFill>
              <a:effectLst/>
              <a:uFillTx/>
              <a:latin typeface="Arial"/>
            </a:endParaRPr>
          </a:p>
        </p:txBody>
      </p:sp>
      <p:sp>
        <p:nvSpPr>
          <p:cNvPr id="244" name="TextBox 30"/>
          <p:cNvSpPr/>
          <p:nvPr/>
        </p:nvSpPr>
        <p:spPr>
          <a:xfrm>
            <a:off x="6583680" y="5203080"/>
            <a:ext cx="212076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0D665E"/>
                </a:solidFill>
                <a:effectLst/>
                <a:uFillTx/>
                <a:latin typeface="Calibri"/>
              </a:rPr>
              <a:t>1.17s</a:t>
            </a:r>
            <a:endParaRPr lang="en-US" sz="2700" b="0" u="none" strike="noStrike">
              <a:solidFill>
                <a:srgbClr val="000000"/>
              </a:solidFill>
              <a:effectLst/>
              <a:uFillTx/>
              <a:latin typeface="Arial"/>
            </a:endParaRPr>
          </a:p>
        </p:txBody>
      </p:sp>
      <p:sp>
        <p:nvSpPr>
          <p:cNvPr id="245" name="TextBox 31"/>
          <p:cNvSpPr/>
          <p:nvPr/>
        </p:nvSpPr>
        <p:spPr>
          <a:xfrm>
            <a:off x="6583680" y="5550480"/>
            <a:ext cx="212076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excl. one transient stall</a:t>
            </a:r>
            <a:endParaRPr lang="en-US" sz="1000" b="0" u="none" strike="noStrike">
              <a:solidFill>
                <a:srgbClr val="000000"/>
              </a:solidFill>
              <a:effectLst/>
              <a:uFillTx/>
              <a:latin typeface="Arial"/>
            </a:endParaRPr>
          </a:p>
        </p:txBody>
      </p:sp>
      <p:sp>
        <p:nvSpPr>
          <p:cNvPr id="246" name="Rounded Rectangle 32"/>
          <p:cNvSpPr/>
          <p:nvPr/>
        </p:nvSpPr>
        <p:spPr>
          <a:xfrm>
            <a:off x="9162360" y="4773240"/>
            <a:ext cx="2486520" cy="114228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7" name="TextBox 33"/>
          <p:cNvSpPr/>
          <p:nvPr/>
        </p:nvSpPr>
        <p:spPr>
          <a:xfrm>
            <a:off x="9345240" y="4910400"/>
            <a:ext cx="212076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VS. TODAY</a:t>
            </a:r>
            <a:endParaRPr lang="en-US" sz="1050" b="0" u="none" strike="noStrike">
              <a:solidFill>
                <a:srgbClr val="000000"/>
              </a:solidFill>
              <a:effectLst/>
              <a:uFillTx/>
              <a:latin typeface="Arial"/>
            </a:endParaRPr>
          </a:p>
        </p:txBody>
      </p:sp>
      <p:sp>
        <p:nvSpPr>
          <p:cNvPr id="248" name="TextBox 34"/>
          <p:cNvSpPr/>
          <p:nvPr/>
        </p:nvSpPr>
        <p:spPr>
          <a:xfrm>
            <a:off x="9345240" y="5203080"/>
            <a:ext cx="212076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22840"/>
                </a:solidFill>
                <a:effectLst/>
                <a:uFillTx/>
                <a:latin typeface="Calibri"/>
              </a:rPr>
              <a:t>30–45 min</a:t>
            </a:r>
            <a:endParaRPr lang="en-US" sz="2700" b="0" u="none" strike="noStrike">
              <a:solidFill>
                <a:srgbClr val="000000"/>
              </a:solidFill>
              <a:effectLst/>
              <a:uFillTx/>
              <a:latin typeface="Arial"/>
            </a:endParaRPr>
          </a:p>
        </p:txBody>
      </p:sp>
      <p:sp>
        <p:nvSpPr>
          <p:cNvPr id="249" name="TextBox 35"/>
          <p:cNvSpPr/>
          <p:nvPr/>
        </p:nvSpPr>
        <p:spPr>
          <a:xfrm>
            <a:off x="9345240" y="5550480"/>
            <a:ext cx="212076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ServeWell's stated baseline</a:t>
            </a:r>
            <a:endParaRPr lang="en-US" sz="1000" b="0" u="none" strike="noStrike">
              <a:solidFill>
                <a:srgbClr val="000000"/>
              </a:solidFill>
              <a:effectLst/>
              <a:uFillTx/>
              <a:latin typeface="Arial"/>
            </a:endParaRPr>
          </a:p>
        </p:txBody>
      </p:sp>
      <p:sp>
        <p:nvSpPr>
          <p:cNvPr id="250" name="TextBox 36"/>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ServeWell IT Support Agent Suite — phData Intelligence Platform</a:t>
            </a:r>
            <a:endParaRPr lang="en-US" sz="900" b="0" u="none" strike="noStrike">
              <a:solidFill>
                <a:srgbClr val="000000"/>
              </a:solidFill>
              <a:effectLst/>
              <a:uFillTx/>
              <a:latin typeface="Arial"/>
            </a:endParaRPr>
          </a:p>
        </p:txBody>
      </p:sp>
      <p:sp>
        <p:nvSpPr>
          <p:cNvPr id="251" name="TextBox 37"/>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252"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REQUIREMENT I</a:t>
            </a:r>
            <a:endParaRPr lang="en-US" sz="1200" b="0" u="none" strike="noStrike">
              <a:solidFill>
                <a:srgbClr val="000000"/>
              </a:solidFill>
              <a:effectLst/>
              <a:uFillTx/>
              <a:latin typeface="Arial"/>
            </a:endParaRPr>
          </a:p>
        </p:txBody>
      </p:sp>
      <p:sp>
        <p:nvSpPr>
          <p:cNvPr id="253"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The agents, and how work is orchestrated</a:t>
            </a:r>
            <a:endParaRPr lang="en-US" sz="2700" b="0" u="none" strike="noStrike">
              <a:solidFill>
                <a:srgbClr val="000000"/>
              </a:solidFill>
              <a:effectLst/>
              <a:uFillTx/>
              <a:latin typeface="Arial"/>
            </a:endParaRPr>
          </a:p>
        </p:txBody>
      </p:sp>
      <p:sp>
        <p:nvSpPr>
          <p:cNvPr id="254"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graphicFrame>
        <p:nvGraphicFramePr>
          <p:cNvPr id="255" name="Table 4"/>
          <p:cNvGraphicFramePr/>
          <p:nvPr/>
        </p:nvGraphicFramePr>
        <p:xfrm>
          <a:off x="502920" y="1554480"/>
          <a:ext cx="11154600" cy="2285280"/>
        </p:xfrm>
        <a:graphic>
          <a:graphicData uri="http://schemas.openxmlformats.org/drawingml/2006/table">
            <a:tbl>
              <a:tblPr/>
              <a:tblGrid>
                <a:gridCol w="1622520"/>
                <a:gridCol w="3245040"/>
                <a:gridCol w="3954960"/>
                <a:gridCol w="2332440"/>
              </a:tblGrid>
              <a:tr h="571320">
                <a:tc>
                  <a:txBody>
                    <a:bodyPr tIns="63360" bIns="63360" anchor="ctr">
                      <a:noAutofit/>
                    </a:bodyPr>
                    <a:p>
                      <a:pPr defTabSz="457200">
                        <a:lnSpc>
                          <a:spcPct val="100000"/>
                        </a:lnSpc>
                      </a:pPr>
                      <a:r>
                        <a:rPr lang="en-US" sz="1200" b="1" u="none" strike="noStrike">
                          <a:solidFill>
                            <a:srgbClr val="FFFFFF"/>
                          </a:solidFill>
                          <a:effectLst/>
                          <a:uFillTx/>
                          <a:latin typeface="Calibri"/>
                        </a:rPr>
                        <a:t>Agent</a:t>
                      </a:r>
                      <a:endParaRPr lang="en-US" sz="1200" b="0" u="none" strike="noStrike">
                        <a:solidFill>
                          <a:srgbClr val="FFFFFF"/>
                        </a:solidFill>
                        <a:effectLst/>
                        <a:uFillTx/>
                        <a:latin typeface="Arial"/>
                      </a:endParaRPr>
                    </a:p>
                  </a:txBody>
                  <a:tcPr anchor="ctr" marL="91440" marR="91440" marT="63360" marB="63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840"/>
                    </a:solidFill>
                  </a:tcPr>
                </a:tc>
                <a:tc>
                  <a:txBody>
                    <a:bodyPr tIns="63360" bIns="63360" anchor="ctr">
                      <a:noAutofit/>
                    </a:bodyPr>
                    <a:p>
                      <a:pPr defTabSz="457200">
                        <a:lnSpc>
                          <a:spcPct val="100000"/>
                        </a:lnSpc>
                      </a:pPr>
                      <a:r>
                        <a:rPr lang="en-US" sz="1200" b="1" u="none" strike="noStrike">
                          <a:solidFill>
                            <a:srgbClr val="FFFFFF"/>
                          </a:solidFill>
                          <a:effectLst/>
                          <a:uFillTx/>
                          <a:latin typeface="Calibri"/>
                        </a:rPr>
                        <a:t>Responsibility</a:t>
                      </a:r>
                      <a:endParaRPr lang="en-US" sz="1200" b="0" u="none" strike="noStrike">
                        <a:solidFill>
                          <a:srgbClr val="FFFFFF"/>
                        </a:solidFill>
                        <a:effectLst/>
                        <a:uFillTx/>
                        <a:latin typeface="Arial"/>
                      </a:endParaRPr>
                    </a:p>
                  </a:txBody>
                  <a:tcPr anchor="ctr" marL="91440" marR="91440" marT="63360" marB="63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840"/>
                    </a:solidFill>
                  </a:tcPr>
                </a:tc>
                <a:tc>
                  <a:txBody>
                    <a:bodyPr tIns="63360" bIns="63360" anchor="ctr">
                      <a:noAutofit/>
                    </a:bodyPr>
                    <a:p>
                      <a:pPr defTabSz="457200">
                        <a:lnSpc>
                          <a:spcPct val="100000"/>
                        </a:lnSpc>
                      </a:pPr>
                      <a:r>
                        <a:rPr lang="en-US" sz="1200" b="1" u="none" strike="noStrike">
                          <a:solidFill>
                            <a:srgbClr val="FFFFFF"/>
                          </a:solidFill>
                          <a:effectLst/>
                          <a:uFillTx/>
                          <a:latin typeface="Calibri"/>
                        </a:rPr>
                        <a:t>Control flow</a:t>
                      </a:r>
                      <a:endParaRPr lang="en-US" sz="1200" b="0" u="none" strike="noStrike">
                        <a:solidFill>
                          <a:srgbClr val="FFFFFF"/>
                        </a:solidFill>
                        <a:effectLst/>
                        <a:uFillTx/>
                        <a:latin typeface="Arial"/>
                      </a:endParaRPr>
                    </a:p>
                  </a:txBody>
                  <a:tcPr anchor="ctr" marL="91440" marR="91440" marT="63360" marB="63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840"/>
                    </a:solidFill>
                  </a:tcPr>
                </a:tc>
                <a:tc>
                  <a:txBody>
                    <a:bodyPr tIns="63360" bIns="63360" anchor="ctr">
                      <a:noAutofit/>
                    </a:bodyPr>
                    <a:p>
                      <a:pPr defTabSz="457200">
                        <a:lnSpc>
                          <a:spcPct val="100000"/>
                        </a:lnSpc>
                      </a:pPr>
                      <a:r>
                        <a:rPr lang="en-US" sz="1200" b="1" u="none" strike="noStrike">
                          <a:solidFill>
                            <a:srgbClr val="FFFFFF"/>
                          </a:solidFill>
                          <a:effectLst/>
                          <a:uFillTx/>
                          <a:latin typeface="Calibri"/>
                        </a:rPr>
                        <a:t>Tool access</a:t>
                      </a:r>
                      <a:endParaRPr lang="en-US" sz="1200" b="0" u="none" strike="noStrike">
                        <a:solidFill>
                          <a:srgbClr val="FFFFFF"/>
                        </a:solidFill>
                        <a:effectLst/>
                        <a:uFillTx/>
                        <a:latin typeface="Arial"/>
                      </a:endParaRPr>
                    </a:p>
                  </a:txBody>
                  <a:tcPr anchor="ctr" marL="91440" marR="91440" marT="63360" marB="63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840"/>
                    </a:solidFill>
                  </a:tcPr>
                </a:tc>
              </a:tr>
              <a:tr h="571320">
                <a:tc>
                  <a:txBody>
                    <a:bodyPr tIns="50760" bIns="50760" anchor="ctr">
                      <a:noAutofit/>
                    </a:bodyPr>
                    <a:p>
                      <a:pPr defTabSz="457200">
                        <a:lnSpc>
                          <a:spcPct val="100000"/>
                        </a:lnSpc>
                      </a:pPr>
                      <a:r>
                        <a:rPr lang="en-US" sz="1100" b="0" u="none" strike="noStrike">
                          <a:solidFill>
                            <a:srgbClr val="1A202A"/>
                          </a:solidFill>
                          <a:effectLst/>
                          <a:uFillTx/>
                          <a:latin typeface="Calibri"/>
                        </a:rPr>
                        <a:t>Triage Agent</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Decide the queue: L1_GUIDED, L2_ESCALATION or NON_IT</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Deterministic rules first, one LLM call only for genuine judgement calls</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No tools. Ticket text only.</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71320">
                <a:tc>
                  <a:txBody>
                    <a:bodyPr tIns="50760" bIns="50760" anchor="ctr">
                      <a:noAutofit/>
                    </a:bodyPr>
                    <a:p>
                      <a:pPr defTabSz="457200">
                        <a:lnSpc>
                          <a:spcPct val="100000"/>
                        </a:lnSpc>
                      </a:pPr>
                      <a:r>
                        <a:rPr lang="en-US" sz="1100" b="0" u="none" strike="noStrike">
                          <a:solidFill>
                            <a:srgbClr val="1A202A"/>
                          </a:solidFill>
                          <a:effectLst/>
                          <a:uFillTx/>
                          <a:latin typeface="Calibri"/>
                        </a:rPr>
                        <a:t>Resolution Agent</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Guide the store through the runbook, or hand off</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Bounded loop: ≤5 turns, ≤2 KB searches, 1 action proposal</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Retrieval + CMDB + actions</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r>
              <a:tr h="571320">
                <a:tc>
                  <a:txBody>
                    <a:bodyPr tIns="50760" bIns="50760" anchor="ctr">
                      <a:noAutofit/>
                    </a:bodyPr>
                    <a:p>
                      <a:pPr defTabSz="457200">
                        <a:lnSpc>
                          <a:spcPct val="100000"/>
                        </a:lnSpc>
                      </a:pPr>
                      <a:r>
                        <a:rPr lang="en-US" sz="1100" b="0" u="none" strike="noStrike">
                          <a:solidFill>
                            <a:srgbClr val="1A202A"/>
                          </a:solidFill>
                          <a:effectLst/>
                          <a:uFillTx/>
                          <a:latin typeface="Calibri"/>
                        </a:rPr>
                        <a:t>L2 Copilot</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Assist the human engineer on escalated tickets</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Open-ended chat, ≤2 searches per question, no further escalation</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Same tools, no HITL gate</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256" name="TextBox 5"/>
          <p:cNvSpPr/>
          <p:nvPr/>
        </p:nvSpPr>
        <p:spPr>
          <a:xfrm>
            <a:off x="502920" y="4069080"/>
            <a:ext cx="1115496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WHY A CUSTOM LOOP RATHER THAN A FRAMEWORK</a:t>
            </a:r>
            <a:endParaRPr lang="en-US" sz="1200" b="0" u="none" strike="noStrike">
              <a:solidFill>
                <a:srgbClr val="000000"/>
              </a:solidFill>
              <a:effectLst/>
              <a:uFillTx/>
              <a:latin typeface="Arial"/>
            </a:endParaRPr>
          </a:p>
        </p:txBody>
      </p:sp>
      <p:sp>
        <p:nvSpPr>
          <p:cNvPr id="257" name="TextBox 6"/>
          <p:cNvSpPr/>
          <p:nvPr/>
        </p:nvSpPr>
        <p:spPr>
          <a:xfrm>
            <a:off x="502920" y="4434840"/>
            <a:ext cx="11154960" cy="1828080"/>
          </a:xfrm>
          <a:prstGeom prst="rect">
            <a:avLst/>
          </a:prstGeom>
          <a:noFill/>
          <a:ln w="0">
            <a:noFill/>
          </a:ln>
        </p:spPr>
        <p:style>
          <a:lnRef idx="0"/>
          <a:fillRef idx="0"/>
          <a:effectRef idx="0"/>
          <a:fontRef idx="minor"/>
        </p:style>
        <p:txBody>
          <a:bodyPr lIns="0" tIns="0" rIns="0" bIns="0" anchor="t">
            <a:spAutoFit/>
          </a:bodyPr>
          <a:p>
            <a:pPr defTabSz="457200">
              <a:lnSpc>
                <a:spcPct val="112000"/>
              </a:lnSpc>
              <a:spcAft>
                <a:spcPts val="1301"/>
              </a:spcAft>
              <a:tabLst>
                <a:tab pos="0" algn="l"/>
              </a:tabLst>
            </a:pPr>
            <a:r>
              <a:rPr lang="en-US" sz="1300" b="1" u="none" strike="noStrike">
                <a:solidFill>
                  <a:srgbClr val="179285"/>
                </a:solidFill>
                <a:effectLst/>
                <a:uFillTx/>
                <a:latin typeface="Calibri"/>
              </a:rPr>
              <a:t>•  </a:t>
            </a:r>
            <a:r>
              <a:rPr lang="en-US" sz="1300" b="1" u="none" strike="noStrike">
                <a:solidFill>
                  <a:srgbClr val="1A202A"/>
                </a:solidFill>
                <a:effectLst/>
                <a:uFillTx/>
                <a:latin typeface="Calibri"/>
              </a:rPr>
              <a:t>Defensibility:  </a:t>
            </a:r>
            <a:r>
              <a:rPr lang="en-US" sz="1300" b="0" u="none" strike="noStrike">
                <a:solidFill>
                  <a:srgbClr val="57606D"/>
                </a:solidFill>
                <a:effectLst/>
                <a:uFillTx/>
                <a:latin typeface="Calibri"/>
              </a:rPr>
              <a:t>Every control decision — the search budget, the turn cap, the approval gate — is a visible line of Python I can point at in this room. With LangGraph or CrewAI those same limits live inside framework config, and 'why did it stop there?' becomes a harder question to answer live.</a:t>
            </a:r>
            <a:endParaRPr lang="en-US" sz="1300" b="0" u="none" strike="noStrike">
              <a:solidFill>
                <a:srgbClr val="000000"/>
              </a:solidFill>
              <a:effectLst/>
              <a:uFillTx/>
              <a:latin typeface="Arial"/>
            </a:endParaRPr>
          </a:p>
          <a:p>
            <a:pPr defTabSz="457200">
              <a:lnSpc>
                <a:spcPct val="112000"/>
              </a:lnSpc>
              <a:spcAft>
                <a:spcPts val="1301"/>
              </a:spcAft>
              <a:tabLst>
                <a:tab pos="0" algn="l"/>
              </a:tabLst>
            </a:pPr>
            <a:r>
              <a:rPr lang="en-US" sz="1300" b="1" u="none" strike="noStrike">
                <a:solidFill>
                  <a:srgbClr val="179285"/>
                </a:solidFill>
                <a:effectLst/>
                <a:uFillTx/>
                <a:latin typeface="Calibri"/>
              </a:rPr>
              <a:t>•  </a:t>
            </a:r>
            <a:r>
              <a:rPr lang="en-US" sz="1300" b="1" u="none" strike="noStrike">
                <a:solidFill>
                  <a:srgbClr val="1A202A"/>
                </a:solidFill>
                <a:effectLst/>
                <a:uFillTx/>
                <a:latin typeface="Calibri"/>
              </a:rPr>
              <a:t>Proportionality:  </a:t>
            </a:r>
            <a:r>
              <a:rPr lang="en-US" sz="1300" b="0" u="none" strike="noStrike">
                <a:solidFill>
                  <a:srgbClr val="57606D"/>
                </a:solidFill>
                <a:effectLst/>
                <a:uFillTx/>
                <a:latin typeface="Calibri"/>
              </a:rPr>
              <a:t>The orchestration is ~200 lines. A framework would have been justified if we needed persistence, retries across sessions, or multi-agent negotiation. We need none of those for one incident type.</a:t>
            </a:r>
            <a:endParaRPr lang="en-US" sz="1300" b="0" u="none" strike="noStrike">
              <a:solidFill>
                <a:srgbClr val="000000"/>
              </a:solidFill>
              <a:effectLst/>
              <a:uFillTx/>
              <a:latin typeface="Arial"/>
            </a:endParaRPr>
          </a:p>
          <a:p>
            <a:pPr defTabSz="457200">
              <a:lnSpc>
                <a:spcPct val="112000"/>
              </a:lnSpc>
              <a:spcAft>
                <a:spcPts val="1301"/>
              </a:spcAft>
              <a:tabLst>
                <a:tab pos="0" algn="l"/>
              </a:tabLst>
            </a:pPr>
            <a:r>
              <a:rPr lang="en-US" sz="1300" b="1" u="none" strike="noStrike">
                <a:solidFill>
                  <a:srgbClr val="179285"/>
                </a:solidFill>
                <a:effectLst/>
                <a:uFillTx/>
                <a:latin typeface="Calibri"/>
              </a:rPr>
              <a:t>•  </a:t>
            </a:r>
            <a:r>
              <a:rPr lang="en-US" sz="1300" b="1" u="none" strike="noStrike">
                <a:solidFill>
                  <a:srgbClr val="1A202A"/>
                </a:solidFill>
                <a:effectLst/>
                <a:uFillTx/>
                <a:latin typeface="Calibri"/>
              </a:rPr>
              <a:t>Measured need:  </a:t>
            </a:r>
            <a:r>
              <a:rPr lang="en-US" sz="1300" b="0" u="none" strike="noStrike">
                <a:solidFill>
                  <a:srgbClr val="57606D"/>
                </a:solidFill>
                <a:effectLst/>
                <a:uFillTx/>
                <a:latin typeface="Calibri"/>
              </a:rPr>
              <a:t>Bounded loops, not open-ended autonomy. Instruction-following alone did not hold — the model reworded queries and searched 4–6 times per ticket until the cap was enforced in code.</a:t>
            </a:r>
            <a:endParaRPr lang="en-US" sz="1300" b="0" u="none" strike="noStrike">
              <a:solidFill>
                <a:srgbClr val="000000"/>
              </a:solidFill>
              <a:effectLst/>
              <a:uFillTx/>
              <a:latin typeface="Arial"/>
            </a:endParaRPr>
          </a:p>
        </p:txBody>
      </p:sp>
      <p:sp>
        <p:nvSpPr>
          <p:cNvPr id="258" name="TextBox 7"/>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ServeWell IT Support Agent Suite — phData Intelligence Platform</a:t>
            </a:r>
            <a:endParaRPr lang="en-US" sz="900" b="0" u="none" strike="noStrike">
              <a:solidFill>
                <a:srgbClr val="000000"/>
              </a:solidFill>
              <a:effectLst/>
              <a:uFillTx/>
              <a:latin typeface="Arial"/>
            </a:endParaRPr>
          </a:p>
        </p:txBody>
      </p:sp>
      <p:sp>
        <p:nvSpPr>
          <p:cNvPr id="259" name="TextBox 8"/>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260"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REQUIREMENT I</a:t>
            </a:r>
            <a:endParaRPr lang="en-US" sz="1200" b="0" u="none" strike="noStrike">
              <a:solidFill>
                <a:srgbClr val="000000"/>
              </a:solidFill>
              <a:effectLst/>
              <a:uFillTx/>
              <a:latin typeface="Arial"/>
            </a:endParaRPr>
          </a:p>
        </p:txBody>
      </p:sp>
      <p:sp>
        <p:nvSpPr>
          <p:cNvPr id="261"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Triage: when a simple rule beats the AI</a:t>
            </a:r>
            <a:endParaRPr lang="en-US" sz="2700" b="0" u="none" strike="noStrike">
              <a:solidFill>
                <a:srgbClr val="000000"/>
              </a:solidFill>
              <a:effectLst/>
              <a:uFillTx/>
              <a:latin typeface="Arial"/>
            </a:endParaRPr>
          </a:p>
        </p:txBody>
      </p:sp>
      <p:sp>
        <p:nvSpPr>
          <p:cNvPr id="262"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sp>
        <p:nvSpPr>
          <p:cNvPr id="263" name="TextBox 4"/>
          <p:cNvSpPr/>
          <p:nvPr/>
        </p:nvSpPr>
        <p:spPr>
          <a:xfrm>
            <a:off x="502920" y="1426320"/>
            <a:ext cx="1115496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500" b="0" u="none" strike="noStrike">
                <a:solidFill>
                  <a:srgbClr val="1A202A"/>
                </a:solidFill>
                <a:effectLst/>
                <a:uFillTx/>
                <a:latin typeface="Calibri"/>
              </a:rPr>
              <a:t>One question decides most tickets:  how many times has L1 already worked this one and failed?</a:t>
            </a:r>
            <a:endParaRPr lang="en-US" sz="1500" b="0" u="none" strike="noStrike">
              <a:solidFill>
                <a:srgbClr val="000000"/>
              </a:solidFill>
              <a:effectLst/>
              <a:uFillTx/>
              <a:latin typeface="Arial"/>
            </a:endParaRPr>
          </a:p>
        </p:txBody>
      </p:sp>
      <p:sp>
        <p:nvSpPr>
          <p:cNvPr id="264" name="Rounded Rectangle 5"/>
          <p:cNvSpPr/>
          <p:nvPr/>
        </p:nvSpPr>
        <p:spPr>
          <a:xfrm>
            <a:off x="502920" y="1993320"/>
            <a:ext cx="11154960" cy="840600"/>
          </a:xfrm>
          <a:prstGeom prst="roundRect">
            <a:avLst>
              <a:gd name="adj" fmla="val 10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5" name="Rectangle 6"/>
          <p:cNvSpPr/>
          <p:nvPr/>
        </p:nvSpPr>
        <p:spPr>
          <a:xfrm>
            <a:off x="502920" y="1993320"/>
            <a:ext cx="99720" cy="840600"/>
          </a:xfrm>
          <a:prstGeom prst="rect">
            <a:avLst/>
          </a:prstGeom>
          <a:solidFill>
            <a:srgbClr val="0D66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040" tIns="45000" rIns="50040" bIns="45000" anchor="ctr">
            <a:noAutofit/>
          </a:bodyPr>
          <a:p>
            <a:endParaRPr lang="en-US" sz="1800" b="0" u="none" strike="noStrike">
              <a:solidFill>
                <a:schemeClr val="lt1"/>
              </a:solidFill>
              <a:effectLst/>
              <a:uFillTx/>
              <a:latin typeface="Calibri"/>
            </a:endParaRPr>
          </a:p>
        </p:txBody>
      </p:sp>
      <p:sp>
        <p:nvSpPr>
          <p:cNvPr id="266" name="TextBox 7"/>
          <p:cNvSpPr/>
          <p:nvPr/>
        </p:nvSpPr>
        <p:spPr>
          <a:xfrm>
            <a:off x="777240" y="2139840"/>
            <a:ext cx="3565440" cy="328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00" b="1" u="none" strike="noStrike">
                <a:solidFill>
                  <a:srgbClr val="1A202A"/>
                </a:solidFill>
                <a:effectLst/>
                <a:uFillTx/>
                <a:latin typeface="Calibri"/>
              </a:rPr>
              <a:t>Nobody has tried yet</a:t>
            </a:r>
            <a:endParaRPr lang="en-US" sz="1600" b="0" u="none" strike="noStrike">
              <a:solidFill>
                <a:srgbClr val="000000"/>
              </a:solidFill>
              <a:effectLst/>
              <a:uFillTx/>
              <a:latin typeface="Arial"/>
            </a:endParaRPr>
          </a:p>
        </p:txBody>
      </p:sp>
      <p:sp>
        <p:nvSpPr>
          <p:cNvPr id="267" name="TextBox 8"/>
          <p:cNvSpPr/>
          <p:nvPr/>
        </p:nvSpPr>
        <p:spPr>
          <a:xfrm>
            <a:off x="777240" y="2468880"/>
            <a:ext cx="356544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50" b="0" u="none" strike="noStrike">
                <a:solidFill>
                  <a:srgbClr val="57606D"/>
                </a:solidFill>
                <a:effectLst/>
                <a:uFillTx/>
                <a:latin typeface="Calibri"/>
              </a:rPr>
              <a:t>93 tickets</a:t>
            </a:r>
            <a:endParaRPr lang="en-US" sz="1150" b="0" u="none" strike="noStrike">
              <a:solidFill>
                <a:srgbClr val="000000"/>
              </a:solidFill>
              <a:effectLst/>
              <a:uFillTx/>
              <a:latin typeface="Arial"/>
            </a:endParaRPr>
          </a:p>
        </p:txBody>
      </p:sp>
      <p:sp>
        <p:nvSpPr>
          <p:cNvPr id="268" name="Rounded Rectangle 9"/>
          <p:cNvSpPr/>
          <p:nvPr/>
        </p:nvSpPr>
        <p:spPr>
          <a:xfrm>
            <a:off x="4617720" y="2231280"/>
            <a:ext cx="1599480" cy="383400"/>
          </a:xfrm>
          <a:prstGeom prst="roundRect">
            <a:avLst>
              <a:gd name="adj" fmla="val 30000"/>
            </a:avLst>
          </a:prstGeom>
          <a:solidFill>
            <a:srgbClr val="E4F2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9" name="TextBox 10"/>
          <p:cNvSpPr/>
          <p:nvPr/>
        </p:nvSpPr>
        <p:spPr>
          <a:xfrm>
            <a:off x="4617720" y="2231280"/>
            <a:ext cx="1599480" cy="38340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200" b="1" u="none" strike="noStrike">
                <a:solidFill>
                  <a:srgbClr val="0D665E"/>
                </a:solidFill>
                <a:effectLst/>
                <a:uFillTx/>
                <a:latin typeface="Calibri"/>
              </a:rPr>
              <a:t>AI decides</a:t>
            </a:r>
            <a:endParaRPr lang="en-US" sz="1200" b="0" u="none" strike="noStrike">
              <a:solidFill>
                <a:srgbClr val="000000"/>
              </a:solidFill>
              <a:effectLst/>
              <a:uFillTx/>
              <a:latin typeface="Arial"/>
            </a:endParaRPr>
          </a:p>
        </p:txBody>
      </p:sp>
      <p:sp>
        <p:nvSpPr>
          <p:cNvPr id="270" name="TextBox 11"/>
          <p:cNvSpPr/>
          <p:nvPr/>
        </p:nvSpPr>
        <p:spPr>
          <a:xfrm>
            <a:off x="6492240" y="2267640"/>
            <a:ext cx="5028480" cy="328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0" u="none" strike="noStrike">
                <a:solidFill>
                  <a:srgbClr val="57606D"/>
                </a:solidFill>
                <a:effectLst/>
                <a:uFillTx/>
                <a:latin typeface="Calibri"/>
              </a:rPr>
              <a:t>gets it right 67% of the time</a:t>
            </a:r>
            <a:endParaRPr lang="en-US" sz="1300" b="0" u="none" strike="noStrike">
              <a:solidFill>
                <a:srgbClr val="000000"/>
              </a:solidFill>
              <a:effectLst/>
              <a:uFillTx/>
              <a:latin typeface="Arial"/>
            </a:endParaRPr>
          </a:p>
        </p:txBody>
      </p:sp>
      <p:sp>
        <p:nvSpPr>
          <p:cNvPr id="271" name="Rounded Rectangle 12"/>
          <p:cNvSpPr/>
          <p:nvPr/>
        </p:nvSpPr>
        <p:spPr>
          <a:xfrm>
            <a:off x="502920" y="2962800"/>
            <a:ext cx="11154960" cy="840600"/>
          </a:xfrm>
          <a:prstGeom prst="roundRect">
            <a:avLst>
              <a:gd name="adj" fmla="val 10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2" name="Rectangle 13"/>
          <p:cNvSpPr/>
          <p:nvPr/>
        </p:nvSpPr>
        <p:spPr>
          <a:xfrm>
            <a:off x="502920" y="2962800"/>
            <a:ext cx="99720" cy="840600"/>
          </a:xfrm>
          <a:prstGeom prst="rect">
            <a:avLst/>
          </a:prstGeom>
          <a:solidFill>
            <a:srgbClr val="0D66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040" tIns="45000" rIns="50040" bIns="45000" anchor="ctr">
            <a:noAutofit/>
          </a:bodyPr>
          <a:p>
            <a:endParaRPr lang="en-US" sz="1800" b="0" u="none" strike="noStrike">
              <a:solidFill>
                <a:schemeClr val="lt1"/>
              </a:solidFill>
              <a:effectLst/>
              <a:uFillTx/>
              <a:latin typeface="Calibri"/>
            </a:endParaRPr>
          </a:p>
        </p:txBody>
      </p:sp>
      <p:sp>
        <p:nvSpPr>
          <p:cNvPr id="273" name="TextBox 14"/>
          <p:cNvSpPr/>
          <p:nvPr/>
        </p:nvSpPr>
        <p:spPr>
          <a:xfrm>
            <a:off x="777240" y="3108960"/>
            <a:ext cx="3565440" cy="328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00" b="1" u="none" strike="noStrike">
                <a:solidFill>
                  <a:srgbClr val="1A202A"/>
                </a:solidFill>
                <a:effectLst/>
                <a:uFillTx/>
                <a:latin typeface="Calibri"/>
              </a:rPr>
              <a:t>L1 tried once</a:t>
            </a:r>
            <a:endParaRPr lang="en-US" sz="1600" b="0" u="none" strike="noStrike">
              <a:solidFill>
                <a:srgbClr val="000000"/>
              </a:solidFill>
              <a:effectLst/>
              <a:uFillTx/>
              <a:latin typeface="Arial"/>
            </a:endParaRPr>
          </a:p>
        </p:txBody>
      </p:sp>
      <p:sp>
        <p:nvSpPr>
          <p:cNvPr id="274" name="TextBox 15"/>
          <p:cNvSpPr/>
          <p:nvPr/>
        </p:nvSpPr>
        <p:spPr>
          <a:xfrm>
            <a:off x="777240" y="3438000"/>
            <a:ext cx="356544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50" b="0" u="none" strike="noStrike">
                <a:solidFill>
                  <a:srgbClr val="57606D"/>
                </a:solidFill>
                <a:effectLst/>
                <a:uFillTx/>
                <a:latin typeface="Calibri"/>
              </a:rPr>
              <a:t>40 tickets</a:t>
            </a:r>
            <a:endParaRPr lang="en-US" sz="1150" b="0" u="none" strike="noStrike">
              <a:solidFill>
                <a:srgbClr val="000000"/>
              </a:solidFill>
              <a:effectLst/>
              <a:uFillTx/>
              <a:latin typeface="Arial"/>
            </a:endParaRPr>
          </a:p>
        </p:txBody>
      </p:sp>
      <p:sp>
        <p:nvSpPr>
          <p:cNvPr id="275" name="Rounded Rectangle 16"/>
          <p:cNvSpPr/>
          <p:nvPr/>
        </p:nvSpPr>
        <p:spPr>
          <a:xfrm>
            <a:off x="4617720" y="3200400"/>
            <a:ext cx="1599480" cy="383400"/>
          </a:xfrm>
          <a:prstGeom prst="roundRect">
            <a:avLst>
              <a:gd name="adj" fmla="val 30000"/>
            </a:avLst>
          </a:prstGeom>
          <a:solidFill>
            <a:srgbClr val="E4F2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6" name="TextBox 17"/>
          <p:cNvSpPr/>
          <p:nvPr/>
        </p:nvSpPr>
        <p:spPr>
          <a:xfrm>
            <a:off x="4617720" y="3200400"/>
            <a:ext cx="1599480" cy="38340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200" b="1" u="none" strike="noStrike">
                <a:solidFill>
                  <a:srgbClr val="0D665E"/>
                </a:solidFill>
                <a:effectLst/>
                <a:uFillTx/>
                <a:latin typeface="Calibri"/>
              </a:rPr>
              <a:t>AI decides</a:t>
            </a:r>
            <a:endParaRPr lang="en-US" sz="1200" b="0" u="none" strike="noStrike">
              <a:solidFill>
                <a:srgbClr val="000000"/>
              </a:solidFill>
              <a:effectLst/>
              <a:uFillTx/>
              <a:latin typeface="Arial"/>
            </a:endParaRPr>
          </a:p>
        </p:txBody>
      </p:sp>
      <p:sp>
        <p:nvSpPr>
          <p:cNvPr id="277" name="TextBox 18"/>
          <p:cNvSpPr/>
          <p:nvPr/>
        </p:nvSpPr>
        <p:spPr>
          <a:xfrm>
            <a:off x="6492240" y="3237120"/>
            <a:ext cx="5028480" cy="328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0" u="none" strike="noStrike">
                <a:solidFill>
                  <a:srgbClr val="57606D"/>
                </a:solidFill>
                <a:effectLst/>
                <a:uFillTx/>
                <a:latin typeface="Calibri"/>
              </a:rPr>
              <a:t>gets it right 70% of the time</a:t>
            </a:r>
            <a:endParaRPr lang="en-US" sz="1300" b="0" u="none" strike="noStrike">
              <a:solidFill>
                <a:srgbClr val="000000"/>
              </a:solidFill>
              <a:effectLst/>
              <a:uFillTx/>
              <a:latin typeface="Arial"/>
            </a:endParaRPr>
          </a:p>
        </p:txBody>
      </p:sp>
      <p:sp>
        <p:nvSpPr>
          <p:cNvPr id="278" name="Rounded Rectangle 19"/>
          <p:cNvSpPr/>
          <p:nvPr/>
        </p:nvSpPr>
        <p:spPr>
          <a:xfrm>
            <a:off x="502920" y="3931920"/>
            <a:ext cx="11154960" cy="840600"/>
          </a:xfrm>
          <a:prstGeom prst="roundRect">
            <a:avLst>
              <a:gd name="adj" fmla="val 10000"/>
            </a:avLst>
          </a:prstGeom>
          <a:solidFill>
            <a:srgbClr val="FFFFFF"/>
          </a:solidFill>
          <a:ln w="25400">
            <a:solidFill>
              <a:srgbClr val="12284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9" name="Rectangle 20"/>
          <p:cNvSpPr/>
          <p:nvPr/>
        </p:nvSpPr>
        <p:spPr>
          <a:xfrm>
            <a:off x="502920" y="3931920"/>
            <a:ext cx="99720" cy="840600"/>
          </a:xfrm>
          <a:prstGeom prst="rect">
            <a:avLst/>
          </a:prstGeom>
          <a:solidFill>
            <a:srgbClr val="1228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040" tIns="45000" rIns="50040" bIns="45000" anchor="ctr">
            <a:noAutofit/>
          </a:bodyPr>
          <a:p>
            <a:endParaRPr lang="en-US" sz="1800" b="0" u="none" strike="noStrike">
              <a:solidFill>
                <a:schemeClr val="lt1"/>
              </a:solidFill>
              <a:effectLst/>
              <a:uFillTx/>
              <a:latin typeface="Calibri"/>
            </a:endParaRPr>
          </a:p>
        </p:txBody>
      </p:sp>
      <p:sp>
        <p:nvSpPr>
          <p:cNvPr id="280" name="TextBox 21"/>
          <p:cNvSpPr/>
          <p:nvPr/>
        </p:nvSpPr>
        <p:spPr>
          <a:xfrm>
            <a:off x="777240" y="4078080"/>
            <a:ext cx="3565440" cy="328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00" b="1" u="none" strike="noStrike">
                <a:solidFill>
                  <a:srgbClr val="1A202A"/>
                </a:solidFill>
                <a:effectLst/>
                <a:uFillTx/>
                <a:latin typeface="Calibri"/>
              </a:rPr>
              <a:t>L1 tried twice or more</a:t>
            </a:r>
            <a:endParaRPr lang="en-US" sz="1600" b="0" u="none" strike="noStrike">
              <a:solidFill>
                <a:srgbClr val="000000"/>
              </a:solidFill>
              <a:effectLst/>
              <a:uFillTx/>
              <a:latin typeface="Arial"/>
            </a:endParaRPr>
          </a:p>
        </p:txBody>
      </p:sp>
      <p:sp>
        <p:nvSpPr>
          <p:cNvPr id="281" name="TextBox 22"/>
          <p:cNvSpPr/>
          <p:nvPr/>
        </p:nvSpPr>
        <p:spPr>
          <a:xfrm>
            <a:off x="777240" y="4407480"/>
            <a:ext cx="356544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50" b="0" u="none" strike="noStrike">
                <a:solidFill>
                  <a:srgbClr val="57606D"/>
                </a:solidFill>
                <a:effectLst/>
                <a:uFillTx/>
                <a:latin typeface="Calibri"/>
              </a:rPr>
              <a:t>87 tickets</a:t>
            </a:r>
            <a:endParaRPr lang="en-US" sz="1150" b="0" u="none" strike="noStrike">
              <a:solidFill>
                <a:srgbClr val="000000"/>
              </a:solidFill>
              <a:effectLst/>
              <a:uFillTx/>
              <a:latin typeface="Arial"/>
            </a:endParaRPr>
          </a:p>
        </p:txBody>
      </p:sp>
      <p:sp>
        <p:nvSpPr>
          <p:cNvPr id="282" name="Rounded Rectangle 23"/>
          <p:cNvSpPr/>
          <p:nvPr/>
        </p:nvSpPr>
        <p:spPr>
          <a:xfrm>
            <a:off x="4617720" y="4169520"/>
            <a:ext cx="1599480" cy="383400"/>
          </a:xfrm>
          <a:prstGeom prst="roundRect">
            <a:avLst>
              <a:gd name="adj" fmla="val 30000"/>
            </a:avLst>
          </a:prstGeom>
          <a:solidFill>
            <a:srgbClr val="1228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3" name="TextBox 24"/>
          <p:cNvSpPr/>
          <p:nvPr/>
        </p:nvSpPr>
        <p:spPr>
          <a:xfrm>
            <a:off x="4617720" y="4169520"/>
            <a:ext cx="1599480" cy="38340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200" b="1" u="none" strike="noStrike">
                <a:solidFill>
                  <a:srgbClr val="FFFFFF"/>
                </a:solidFill>
                <a:effectLst/>
                <a:uFillTx/>
                <a:latin typeface="Calibri"/>
              </a:rPr>
              <a:t>Rule decides</a:t>
            </a:r>
            <a:endParaRPr lang="en-US" sz="1200" b="0" u="none" strike="noStrike">
              <a:solidFill>
                <a:srgbClr val="000000"/>
              </a:solidFill>
              <a:effectLst/>
              <a:uFillTx/>
              <a:latin typeface="Arial"/>
            </a:endParaRPr>
          </a:p>
        </p:txBody>
      </p:sp>
      <p:sp>
        <p:nvSpPr>
          <p:cNvPr id="284" name="TextBox 25"/>
          <p:cNvSpPr/>
          <p:nvPr/>
        </p:nvSpPr>
        <p:spPr>
          <a:xfrm>
            <a:off x="6492240" y="4206240"/>
            <a:ext cx="5028480" cy="328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122840"/>
                </a:solidFill>
                <a:effectLst/>
                <a:uFillTx/>
                <a:latin typeface="Calibri"/>
              </a:rPr>
              <a:t>the rule is right 97% — the AI only 92%</a:t>
            </a:r>
            <a:endParaRPr lang="en-US" sz="1300" b="0" u="none" strike="noStrike">
              <a:solidFill>
                <a:srgbClr val="000000"/>
              </a:solidFill>
              <a:effectLst/>
              <a:uFillTx/>
              <a:latin typeface="Arial"/>
            </a:endParaRPr>
          </a:p>
        </p:txBody>
      </p:sp>
      <p:sp>
        <p:nvSpPr>
          <p:cNvPr id="285" name="Rounded Rectangle 26"/>
          <p:cNvSpPr/>
          <p:nvPr/>
        </p:nvSpPr>
        <p:spPr>
          <a:xfrm>
            <a:off x="502920" y="5010840"/>
            <a:ext cx="11154960" cy="785520"/>
          </a:xfrm>
          <a:prstGeom prst="roundRect">
            <a:avLst>
              <a:gd name="adj" fmla="val 12000"/>
            </a:avLst>
          </a:prstGeom>
          <a:solidFill>
            <a:srgbClr val="E4F2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6" name="TextBox 27"/>
          <p:cNvSpPr/>
          <p:nvPr/>
        </p:nvSpPr>
        <p:spPr>
          <a:xfrm>
            <a:off x="822960" y="5139000"/>
            <a:ext cx="10514880" cy="5479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0D665E"/>
                </a:solidFill>
                <a:effectLst/>
                <a:uFillTx/>
                <a:latin typeface="Calibri"/>
              </a:rPr>
              <a:t>In plain terms:  if L1 has already worked a ticket twice and it is still open, you do not need AI to tell you it needs an expert. A one-line rule is more accurate than the model there — and it is free, instant, and always gives the same answer.</a:t>
            </a:r>
            <a:endParaRPr lang="en-US" sz="1300" b="0" u="none" strike="noStrike">
              <a:solidFill>
                <a:srgbClr val="000000"/>
              </a:solidFill>
              <a:effectLst/>
              <a:uFillTx/>
              <a:latin typeface="Arial"/>
            </a:endParaRPr>
          </a:p>
        </p:txBody>
      </p:sp>
      <p:sp>
        <p:nvSpPr>
          <p:cNvPr id="287" name="Rounded Rectangle 28"/>
          <p:cNvSpPr/>
          <p:nvPr/>
        </p:nvSpPr>
        <p:spPr>
          <a:xfrm>
            <a:off x="502920" y="5925240"/>
            <a:ext cx="11154960" cy="547920"/>
          </a:xfrm>
          <a:prstGeom prst="roundRect">
            <a:avLst>
              <a:gd name="adj" fmla="val 16000"/>
            </a:avLst>
          </a:prstGeom>
          <a:solidFill>
            <a:srgbClr val="FDF4E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8" name="TextBox 29"/>
          <p:cNvSpPr/>
          <p:nvPr/>
        </p:nvSpPr>
        <p:spPr>
          <a:xfrm>
            <a:off x="822960" y="6016680"/>
            <a:ext cx="1051488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50" b="0" u="none" strike="noStrike">
                <a:solidFill>
                  <a:srgbClr val="A86A14"/>
                </a:solidFill>
                <a:effectLst/>
                <a:uFillTx/>
                <a:latin typeface="Calibri"/>
              </a:rPr>
              <a:t>Being straight with you: these thresholds were set using the same 220 tickets they are scored on, so treat 90% as a ceiling, not a promise.</a:t>
            </a:r>
            <a:endParaRPr lang="en-US" sz="1150" b="0" u="none" strike="noStrike">
              <a:solidFill>
                <a:srgbClr val="000000"/>
              </a:solidFill>
              <a:effectLst/>
              <a:uFillTx/>
              <a:latin typeface="Arial"/>
            </a:endParaRPr>
          </a:p>
        </p:txBody>
      </p:sp>
      <p:sp>
        <p:nvSpPr>
          <p:cNvPr id="289" name="TextBox 30"/>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ServeWell IT Support Agent Suite — phData Intelligence Platform</a:t>
            </a:r>
            <a:endParaRPr lang="en-US" sz="900" b="0" u="none" strike="noStrike">
              <a:solidFill>
                <a:srgbClr val="000000"/>
              </a:solidFill>
              <a:effectLst/>
              <a:uFillTx/>
              <a:latin typeface="Arial"/>
            </a:endParaRPr>
          </a:p>
        </p:txBody>
      </p:sp>
      <p:sp>
        <p:nvSpPr>
          <p:cNvPr id="290" name="TextBox 31"/>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291"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REQUIREMENT II</a:t>
            </a:r>
            <a:endParaRPr lang="en-US" sz="1200" b="0" u="none" strike="noStrike">
              <a:solidFill>
                <a:srgbClr val="000000"/>
              </a:solidFill>
              <a:effectLst/>
              <a:uFillTx/>
              <a:latin typeface="Arial"/>
            </a:endParaRPr>
          </a:p>
        </p:txBody>
      </p:sp>
      <p:sp>
        <p:nvSpPr>
          <p:cNvPr id="292"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How retrieval is structured, and how answers stay grounded</a:t>
            </a:r>
            <a:endParaRPr lang="en-US" sz="2700" b="0" u="none" strike="noStrike">
              <a:solidFill>
                <a:srgbClr val="000000"/>
              </a:solidFill>
              <a:effectLst/>
              <a:uFillTx/>
              <a:latin typeface="Arial"/>
            </a:endParaRPr>
          </a:p>
        </p:txBody>
      </p:sp>
      <p:sp>
        <p:nvSpPr>
          <p:cNvPr id="293"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sp>
        <p:nvSpPr>
          <p:cNvPr id="294" name="Rounded Rectangle 4"/>
          <p:cNvSpPr/>
          <p:nvPr/>
        </p:nvSpPr>
        <p:spPr>
          <a:xfrm>
            <a:off x="502920" y="1536120"/>
            <a:ext cx="1736640" cy="785520"/>
          </a:xfrm>
          <a:prstGeom prst="roundRect">
            <a:avLst>
              <a:gd name="adj" fmla="val 10000"/>
            </a:avLst>
          </a:prstGeom>
          <a:solidFill>
            <a:srgbClr val="FFFFFF"/>
          </a:solidFill>
          <a:ln w="17780">
            <a:solidFill>
              <a:srgbClr val="1D3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150" b="1" u="none" strike="noStrike">
                <a:solidFill>
                  <a:srgbClr val="1D3A5C"/>
                </a:solidFill>
                <a:effectLst/>
                <a:uFillTx/>
                <a:latin typeface="Calibri"/>
              </a:rPr>
              <a:t>Chunk</a:t>
            </a:r>
            <a:endParaRPr lang="en-US" sz="1150" b="0" u="none" strike="noStrike">
              <a:solidFill>
                <a:srgbClr val="000000"/>
              </a:solidFill>
              <a:effectLst/>
              <a:uFillTx/>
              <a:latin typeface="Arial"/>
            </a:endParaRPr>
          </a:p>
          <a:p>
            <a:pPr algn="ctr" defTabSz="457200">
              <a:lnSpc>
                <a:spcPct val="100000"/>
              </a:lnSpc>
            </a:pPr>
            <a:r>
              <a:rPr lang="en-US" sz="800" b="0" u="none" strike="noStrike">
                <a:solidFill>
                  <a:srgbClr val="57606D"/>
                </a:solidFill>
                <a:effectLst/>
                <a:uFillTx/>
                <a:latin typeface="Calibri"/>
              </a:rPr>
              <a:t>runbooks split on</a:t>
            </a:r>
            <a:endParaRPr lang="en-US" sz="800" b="0" u="none" strike="noStrike">
              <a:solidFill>
                <a:srgbClr val="000000"/>
              </a:solidFill>
              <a:effectLst/>
              <a:uFillTx/>
              <a:latin typeface="Arial"/>
            </a:endParaRPr>
          </a:p>
          <a:p>
            <a:pPr algn="ctr" defTabSz="457200">
              <a:lnSpc>
                <a:spcPct val="100000"/>
              </a:lnSpc>
            </a:pPr>
            <a:r>
              <a:rPr lang="en-US" sz="800" b="0" u="none" strike="noStrike">
                <a:solidFill>
                  <a:srgbClr val="57606D"/>
                </a:solidFill>
                <a:effectLst/>
                <a:uFillTx/>
                <a:latin typeface="Calibri"/>
              </a:rPr>
              <a:t>section headings</a:t>
            </a:r>
            <a:endParaRPr lang="en-US" sz="800" b="0" u="none" strike="noStrike">
              <a:solidFill>
                <a:srgbClr val="000000"/>
              </a:solidFill>
              <a:effectLst/>
              <a:uFillTx/>
              <a:latin typeface="Arial"/>
            </a:endParaRPr>
          </a:p>
        </p:txBody>
      </p:sp>
      <p:cxnSp>
        <p:nvCxnSpPr>
          <p:cNvPr id="295" name="Connector 5"/>
          <p:cNvCxnSpPr/>
          <p:nvPr/>
        </p:nvCxnSpPr>
        <p:spPr>
          <a:xfrm>
            <a:off x="2240280" y="1929240"/>
            <a:ext cx="119520" cy="720"/>
          </a:xfrm>
          <a:prstGeom prst="straightConnector1">
            <a:avLst/>
          </a:prstGeom>
          <a:ln w="19050">
            <a:solidFill>
              <a:srgbClr val="1D3A5C"/>
            </a:solidFill>
            <a:round/>
            <a:tailEnd len="med" type="triangle" w="med"/>
          </a:ln>
        </p:spPr>
      </p:cxnSp>
      <p:sp>
        <p:nvSpPr>
          <p:cNvPr id="296" name="Rounded Rectangle 6"/>
          <p:cNvSpPr/>
          <p:nvPr/>
        </p:nvSpPr>
        <p:spPr>
          <a:xfrm>
            <a:off x="2359080" y="1536120"/>
            <a:ext cx="1736640" cy="785520"/>
          </a:xfrm>
          <a:prstGeom prst="roundRect">
            <a:avLst>
              <a:gd name="adj" fmla="val 10000"/>
            </a:avLst>
          </a:prstGeom>
          <a:solidFill>
            <a:srgbClr val="FFFFFF"/>
          </a:solidFill>
          <a:ln w="17780">
            <a:solidFill>
              <a:srgbClr val="1D3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150" b="1" u="none" strike="noStrike">
                <a:solidFill>
                  <a:srgbClr val="1D3A5C"/>
                </a:solidFill>
                <a:effectLst/>
                <a:uFillTx/>
                <a:latin typeface="Calibri"/>
              </a:rPr>
              <a:t>Embed</a:t>
            </a:r>
            <a:endParaRPr lang="en-US" sz="1150" b="0" u="none" strike="noStrike">
              <a:solidFill>
                <a:srgbClr val="000000"/>
              </a:solidFill>
              <a:effectLst/>
              <a:uFillTx/>
              <a:latin typeface="Arial"/>
            </a:endParaRPr>
          </a:p>
          <a:p>
            <a:pPr algn="ctr" defTabSz="457200">
              <a:lnSpc>
                <a:spcPct val="100000"/>
              </a:lnSpc>
            </a:pPr>
            <a:r>
              <a:rPr lang="en-US" sz="800" b="0" u="none" strike="noStrike">
                <a:solidFill>
                  <a:srgbClr val="57606D"/>
                </a:solidFill>
                <a:effectLst/>
                <a:uFillTx/>
                <a:latin typeface="Calibri"/>
              </a:rPr>
              <a:t>Bedrock Titan v2</a:t>
            </a:r>
            <a:endParaRPr lang="en-US" sz="800" b="0" u="none" strike="noStrike">
              <a:solidFill>
                <a:srgbClr val="000000"/>
              </a:solidFill>
              <a:effectLst/>
              <a:uFillTx/>
              <a:latin typeface="Arial"/>
            </a:endParaRPr>
          </a:p>
          <a:p>
            <a:pPr algn="ctr" defTabSz="457200">
              <a:lnSpc>
                <a:spcPct val="100000"/>
              </a:lnSpc>
            </a:pPr>
            <a:r>
              <a:rPr lang="en-US" sz="800" b="0" u="none" strike="noStrike">
                <a:solidFill>
                  <a:srgbClr val="57606D"/>
                </a:solidFill>
                <a:effectLst/>
                <a:uFillTx/>
                <a:latin typeface="Calibri"/>
              </a:rPr>
              <a:t>1024-dim</a:t>
            </a:r>
            <a:endParaRPr lang="en-US" sz="800" b="0" u="none" strike="noStrike">
              <a:solidFill>
                <a:srgbClr val="000000"/>
              </a:solidFill>
              <a:effectLst/>
              <a:uFillTx/>
              <a:latin typeface="Arial"/>
            </a:endParaRPr>
          </a:p>
        </p:txBody>
      </p:sp>
      <p:cxnSp>
        <p:nvCxnSpPr>
          <p:cNvPr id="297" name="Connector 7"/>
          <p:cNvCxnSpPr/>
          <p:nvPr/>
        </p:nvCxnSpPr>
        <p:spPr>
          <a:xfrm>
            <a:off x="4096440" y="1929240"/>
            <a:ext cx="119520" cy="720"/>
          </a:xfrm>
          <a:prstGeom prst="straightConnector1">
            <a:avLst/>
          </a:prstGeom>
          <a:ln w="19050">
            <a:solidFill>
              <a:srgbClr val="1D3A5C"/>
            </a:solidFill>
            <a:round/>
            <a:tailEnd len="med" type="triangle" w="med"/>
          </a:ln>
        </p:spPr>
      </p:cxnSp>
      <p:sp>
        <p:nvSpPr>
          <p:cNvPr id="298" name="Rounded Rectangle 8"/>
          <p:cNvSpPr/>
          <p:nvPr/>
        </p:nvSpPr>
        <p:spPr>
          <a:xfrm>
            <a:off x="4215240" y="1536120"/>
            <a:ext cx="1736640" cy="785520"/>
          </a:xfrm>
          <a:prstGeom prst="roundRect">
            <a:avLst>
              <a:gd name="adj" fmla="val 10000"/>
            </a:avLst>
          </a:prstGeom>
          <a:solidFill>
            <a:srgbClr val="FFFFFF"/>
          </a:solidFill>
          <a:ln w="17780">
            <a:solidFill>
              <a:srgbClr val="1D3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150" b="1" u="none" strike="noStrike">
                <a:solidFill>
                  <a:srgbClr val="1D3A5C"/>
                </a:solidFill>
                <a:effectLst/>
                <a:uFillTx/>
                <a:latin typeface="Calibri"/>
              </a:rPr>
              <a:t>Store</a:t>
            </a:r>
            <a:endParaRPr lang="en-US" sz="1150" b="0" u="none" strike="noStrike">
              <a:solidFill>
                <a:srgbClr val="000000"/>
              </a:solidFill>
              <a:effectLst/>
              <a:uFillTx/>
              <a:latin typeface="Arial"/>
            </a:endParaRPr>
          </a:p>
          <a:p>
            <a:pPr algn="ctr" defTabSz="457200">
              <a:lnSpc>
                <a:spcPct val="100000"/>
              </a:lnSpc>
            </a:pPr>
            <a:r>
              <a:rPr lang="en-US" sz="800" b="0" u="none" strike="noStrike">
                <a:solidFill>
                  <a:srgbClr val="57606D"/>
                </a:solidFill>
                <a:effectLst/>
                <a:uFillTx/>
                <a:latin typeface="Calibri"/>
              </a:rPr>
              <a:t>PGVector</a:t>
            </a:r>
            <a:endParaRPr lang="en-US" sz="800" b="0" u="none" strike="noStrike">
              <a:solidFill>
                <a:srgbClr val="000000"/>
              </a:solidFill>
              <a:effectLst/>
              <a:uFillTx/>
              <a:latin typeface="Arial"/>
            </a:endParaRPr>
          </a:p>
          <a:p>
            <a:pPr algn="ctr" defTabSz="457200">
              <a:lnSpc>
                <a:spcPct val="100000"/>
              </a:lnSpc>
            </a:pPr>
            <a:r>
              <a:rPr lang="en-US" sz="800" b="0" u="none" strike="noStrike">
                <a:solidFill>
                  <a:srgbClr val="57606D"/>
                </a:solidFill>
                <a:effectLst/>
                <a:uFillTx/>
                <a:latin typeface="Calibri"/>
              </a:rPr>
              <a:t>main + delta index</a:t>
            </a:r>
            <a:endParaRPr lang="en-US" sz="800" b="0" u="none" strike="noStrike">
              <a:solidFill>
                <a:srgbClr val="000000"/>
              </a:solidFill>
              <a:effectLst/>
              <a:uFillTx/>
              <a:latin typeface="Arial"/>
            </a:endParaRPr>
          </a:p>
        </p:txBody>
      </p:sp>
      <p:cxnSp>
        <p:nvCxnSpPr>
          <p:cNvPr id="299" name="Connector 9"/>
          <p:cNvCxnSpPr/>
          <p:nvPr/>
        </p:nvCxnSpPr>
        <p:spPr>
          <a:xfrm>
            <a:off x="5952600" y="1929240"/>
            <a:ext cx="119520" cy="720"/>
          </a:xfrm>
          <a:prstGeom prst="straightConnector1">
            <a:avLst/>
          </a:prstGeom>
          <a:ln w="19050">
            <a:solidFill>
              <a:srgbClr val="1D3A5C"/>
            </a:solidFill>
            <a:round/>
            <a:tailEnd len="med" type="triangle" w="med"/>
          </a:ln>
        </p:spPr>
      </p:cxnSp>
      <p:sp>
        <p:nvSpPr>
          <p:cNvPr id="300" name="Rounded Rectangle 10"/>
          <p:cNvSpPr/>
          <p:nvPr/>
        </p:nvSpPr>
        <p:spPr>
          <a:xfrm>
            <a:off x="6071760" y="1536120"/>
            <a:ext cx="1736640" cy="785520"/>
          </a:xfrm>
          <a:prstGeom prst="roundRect">
            <a:avLst>
              <a:gd name="adj" fmla="val 10000"/>
            </a:avLst>
          </a:prstGeom>
          <a:solidFill>
            <a:srgbClr val="FFFFFF"/>
          </a:solidFill>
          <a:ln w="17780">
            <a:solidFill>
              <a:srgbClr val="1D3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150" b="1" u="none" strike="noStrike">
                <a:solidFill>
                  <a:srgbClr val="1D3A5C"/>
                </a:solidFill>
                <a:effectLst/>
                <a:uFillTx/>
                <a:latin typeface="Calibri"/>
              </a:rPr>
              <a:t>Retrieve</a:t>
            </a:r>
            <a:endParaRPr lang="en-US" sz="1150" b="0" u="none" strike="noStrike">
              <a:solidFill>
                <a:srgbClr val="000000"/>
              </a:solidFill>
              <a:effectLst/>
              <a:uFillTx/>
              <a:latin typeface="Arial"/>
            </a:endParaRPr>
          </a:p>
          <a:p>
            <a:pPr algn="ctr" defTabSz="457200">
              <a:lnSpc>
                <a:spcPct val="100000"/>
              </a:lnSpc>
            </a:pPr>
            <a:r>
              <a:rPr lang="en-US" sz="800" b="0" u="none" strike="noStrike">
                <a:solidFill>
                  <a:srgbClr val="57606D"/>
                </a:solidFill>
                <a:effectLst/>
                <a:uFillTx/>
                <a:latin typeface="Calibri"/>
              </a:rPr>
              <a:t>3 concurrent queries</a:t>
            </a:r>
            <a:endParaRPr lang="en-US" sz="800" b="0" u="none" strike="noStrike">
              <a:solidFill>
                <a:srgbClr val="000000"/>
              </a:solidFill>
              <a:effectLst/>
              <a:uFillTx/>
              <a:latin typeface="Arial"/>
            </a:endParaRPr>
          </a:p>
          <a:p>
            <a:pPr algn="ctr" defTabSz="457200">
              <a:lnSpc>
                <a:spcPct val="100000"/>
              </a:lnSpc>
            </a:pPr>
            <a:r>
              <a:rPr lang="en-US" sz="800" b="0" u="none" strike="noStrike">
                <a:solidFill>
                  <a:srgbClr val="57606D"/>
                </a:solidFill>
                <a:effectLst/>
                <a:uFillTx/>
                <a:latin typeface="Calibri"/>
              </a:rPr>
              <a:t>category-aware</a:t>
            </a:r>
            <a:endParaRPr lang="en-US" sz="800" b="0" u="none" strike="noStrike">
              <a:solidFill>
                <a:srgbClr val="000000"/>
              </a:solidFill>
              <a:effectLst/>
              <a:uFillTx/>
              <a:latin typeface="Arial"/>
            </a:endParaRPr>
          </a:p>
        </p:txBody>
      </p:sp>
      <p:cxnSp>
        <p:nvCxnSpPr>
          <p:cNvPr id="301" name="Connector 11"/>
          <p:cNvCxnSpPr/>
          <p:nvPr/>
        </p:nvCxnSpPr>
        <p:spPr>
          <a:xfrm>
            <a:off x="7808760" y="1929240"/>
            <a:ext cx="119520" cy="720"/>
          </a:xfrm>
          <a:prstGeom prst="straightConnector1">
            <a:avLst/>
          </a:prstGeom>
          <a:ln w="19050">
            <a:solidFill>
              <a:srgbClr val="1D3A5C"/>
            </a:solidFill>
            <a:round/>
            <a:tailEnd len="med" type="triangle" w="med"/>
          </a:ln>
        </p:spPr>
      </p:cxnSp>
      <p:sp>
        <p:nvSpPr>
          <p:cNvPr id="302" name="Rounded Rectangle 12"/>
          <p:cNvSpPr/>
          <p:nvPr/>
        </p:nvSpPr>
        <p:spPr>
          <a:xfrm>
            <a:off x="7927920" y="1536120"/>
            <a:ext cx="1736640" cy="785520"/>
          </a:xfrm>
          <a:prstGeom prst="roundRect">
            <a:avLst>
              <a:gd name="adj" fmla="val 10000"/>
            </a:avLst>
          </a:prstGeom>
          <a:solidFill>
            <a:srgbClr val="FFFFFF"/>
          </a:solidFill>
          <a:ln w="17780">
            <a:solidFill>
              <a:srgbClr val="1D3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150" b="1" u="none" strike="noStrike">
                <a:solidFill>
                  <a:srgbClr val="1D3A5C"/>
                </a:solidFill>
                <a:effectLst/>
                <a:uFillTx/>
                <a:latin typeface="Calibri"/>
              </a:rPr>
              <a:t>Rerank</a:t>
            </a:r>
            <a:endParaRPr lang="en-US" sz="1150" b="0" u="none" strike="noStrike">
              <a:solidFill>
                <a:srgbClr val="000000"/>
              </a:solidFill>
              <a:effectLst/>
              <a:uFillTx/>
              <a:latin typeface="Arial"/>
            </a:endParaRPr>
          </a:p>
          <a:p>
            <a:pPr algn="ctr" defTabSz="457200">
              <a:lnSpc>
                <a:spcPct val="100000"/>
              </a:lnSpc>
            </a:pPr>
            <a:r>
              <a:rPr lang="en-US" sz="800" b="0" u="none" strike="noStrike">
                <a:solidFill>
                  <a:srgbClr val="57606D"/>
                </a:solidFill>
                <a:effectLst/>
                <a:uFillTx/>
                <a:latin typeface="Calibri"/>
              </a:rPr>
              <a:t>cross-encoder</a:t>
            </a:r>
            <a:endParaRPr lang="en-US" sz="800" b="0" u="none" strike="noStrike">
              <a:solidFill>
                <a:srgbClr val="000000"/>
              </a:solidFill>
              <a:effectLst/>
              <a:uFillTx/>
              <a:latin typeface="Arial"/>
            </a:endParaRPr>
          </a:p>
          <a:p>
            <a:pPr algn="ctr" defTabSz="457200">
              <a:lnSpc>
                <a:spcPct val="100000"/>
              </a:lnSpc>
            </a:pPr>
            <a:r>
              <a:rPr lang="en-US" sz="800" b="0" u="none" strike="noStrike">
                <a:solidFill>
                  <a:srgbClr val="57606D"/>
                </a:solidFill>
                <a:effectLst/>
                <a:uFillTx/>
                <a:latin typeface="Calibri"/>
              </a:rPr>
              <a:t>MiniLM-L6-v2</a:t>
            </a:r>
            <a:endParaRPr lang="en-US" sz="800" b="0" u="none" strike="noStrike">
              <a:solidFill>
                <a:srgbClr val="000000"/>
              </a:solidFill>
              <a:effectLst/>
              <a:uFillTx/>
              <a:latin typeface="Arial"/>
            </a:endParaRPr>
          </a:p>
        </p:txBody>
      </p:sp>
      <p:cxnSp>
        <p:nvCxnSpPr>
          <p:cNvPr id="303" name="Connector 13"/>
          <p:cNvCxnSpPr/>
          <p:nvPr/>
        </p:nvCxnSpPr>
        <p:spPr>
          <a:xfrm>
            <a:off x="9664920" y="1929240"/>
            <a:ext cx="119880" cy="720"/>
          </a:xfrm>
          <a:prstGeom prst="straightConnector1">
            <a:avLst/>
          </a:prstGeom>
          <a:ln w="19050">
            <a:solidFill>
              <a:srgbClr val="1D3A5C"/>
            </a:solidFill>
            <a:round/>
            <a:tailEnd len="med" type="triangle" w="med"/>
          </a:ln>
        </p:spPr>
      </p:cxnSp>
      <p:sp>
        <p:nvSpPr>
          <p:cNvPr id="304" name="Rounded Rectangle 14"/>
          <p:cNvSpPr/>
          <p:nvPr/>
        </p:nvSpPr>
        <p:spPr>
          <a:xfrm>
            <a:off x="9784080" y="1536120"/>
            <a:ext cx="1736640" cy="785520"/>
          </a:xfrm>
          <a:prstGeom prst="roundRect">
            <a:avLst>
              <a:gd name="adj" fmla="val 10000"/>
            </a:avLst>
          </a:prstGeom>
          <a:solidFill>
            <a:srgbClr val="FFFFFF"/>
          </a:solidFill>
          <a:ln w="17780">
            <a:solidFill>
              <a:srgbClr val="1D3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150" b="1" u="none" strike="noStrike">
                <a:solidFill>
                  <a:srgbClr val="1D3A5C"/>
                </a:solidFill>
                <a:effectLst/>
                <a:uFillTx/>
                <a:latin typeface="Calibri"/>
              </a:rPr>
              <a:t>Merge</a:t>
            </a:r>
            <a:endParaRPr lang="en-US" sz="1150" b="0" u="none" strike="noStrike">
              <a:solidFill>
                <a:srgbClr val="000000"/>
              </a:solidFill>
              <a:effectLst/>
              <a:uFillTx/>
              <a:latin typeface="Arial"/>
            </a:endParaRPr>
          </a:p>
          <a:p>
            <a:pPr algn="ctr" defTabSz="457200">
              <a:lnSpc>
                <a:spcPct val="100000"/>
              </a:lnSpc>
            </a:pPr>
            <a:r>
              <a:rPr lang="en-US" sz="800" b="0" u="none" strike="noStrike">
                <a:solidFill>
                  <a:srgbClr val="57606D"/>
                </a:solidFill>
                <a:effectLst/>
                <a:uFillTx/>
                <a:latin typeface="Calibri"/>
              </a:rPr>
              <a:t>dedupe ~11%</a:t>
            </a:r>
            <a:endParaRPr lang="en-US" sz="800" b="0" u="none" strike="noStrike">
              <a:solidFill>
                <a:srgbClr val="000000"/>
              </a:solidFill>
              <a:effectLst/>
              <a:uFillTx/>
              <a:latin typeface="Arial"/>
            </a:endParaRPr>
          </a:p>
          <a:p>
            <a:pPr algn="ctr" defTabSz="457200">
              <a:lnSpc>
                <a:spcPct val="100000"/>
              </a:lnSpc>
            </a:pPr>
            <a:r>
              <a:rPr lang="en-US" sz="800" b="0" u="none" strike="noStrike">
                <a:solidFill>
                  <a:srgbClr val="57606D"/>
                </a:solidFill>
                <a:effectLst/>
                <a:uFillTx/>
                <a:latin typeface="Calibri"/>
              </a:rPr>
              <a:t>overlap</a:t>
            </a:r>
            <a:endParaRPr lang="en-US" sz="800" b="0" u="none" strike="noStrike">
              <a:solidFill>
                <a:srgbClr val="000000"/>
              </a:solidFill>
              <a:effectLst/>
              <a:uFillTx/>
              <a:latin typeface="Arial"/>
            </a:endParaRPr>
          </a:p>
        </p:txBody>
      </p:sp>
      <p:sp>
        <p:nvSpPr>
          <p:cNvPr id="305" name="TextBox 15"/>
          <p:cNvSpPr/>
          <p:nvPr/>
        </p:nvSpPr>
        <p:spPr>
          <a:xfrm>
            <a:off x="502920" y="2606040"/>
            <a:ext cx="5531400" cy="3108240"/>
          </a:xfrm>
          <a:prstGeom prst="rect">
            <a:avLst/>
          </a:prstGeom>
          <a:noFill/>
          <a:ln w="0">
            <a:noFill/>
          </a:ln>
        </p:spPr>
        <p:style>
          <a:lnRef idx="0"/>
          <a:fillRef idx="0"/>
          <a:effectRef idx="0"/>
          <a:fontRef idx="minor"/>
        </p:style>
        <p:txBody>
          <a:bodyPr lIns="0" tIns="0" rIns="0" bIns="0" anchor="t">
            <a:spAutoFit/>
          </a:bodyPr>
          <a:p>
            <a:pPr defTabSz="457200">
              <a:lnSpc>
                <a:spcPct val="112000"/>
              </a:lnSpc>
              <a:spcAft>
                <a:spcPts val="1199"/>
              </a:spcAft>
              <a:tabLst>
                <a:tab pos="0" algn="l"/>
              </a:tabLst>
            </a:pPr>
            <a:r>
              <a:rPr lang="en-US" sz="1250" b="1" u="none" strike="noStrike">
                <a:solidFill>
                  <a:srgbClr val="179285"/>
                </a:solidFill>
                <a:effectLst/>
                <a:uFillTx/>
                <a:latin typeface="Calibri"/>
              </a:rPr>
              <a:t>•  </a:t>
            </a:r>
            <a:r>
              <a:rPr lang="en-US" sz="1250" b="1" u="none" strike="noStrike">
                <a:solidFill>
                  <a:srgbClr val="1A202A"/>
                </a:solidFill>
                <a:effectLst/>
                <a:uFillTx/>
                <a:latin typeface="Calibri"/>
              </a:rPr>
              <a:t>Three queries, not one.  </a:t>
            </a:r>
            <a:r>
              <a:rPr lang="en-US" sz="1250" b="0" u="none" strike="noStrike">
                <a:solidFill>
                  <a:srgbClr val="57606D"/>
                </a:solidFill>
                <a:effectLst/>
                <a:uFillTx/>
                <a:latin typeface="Calibri"/>
              </a:rPr>
              <a:t>A blended category + subject + description query, plus a subcategory-only query, plus an FAQ-filtered query — run concurrently. The blend alone missed network runbooks on POS/Network tickets because 'POS terminal' dominates the embedding.</a:t>
            </a:r>
            <a:endParaRPr lang="en-US" sz="1250" b="0" u="none" strike="noStrike">
              <a:solidFill>
                <a:srgbClr val="000000"/>
              </a:solidFill>
              <a:effectLst/>
              <a:uFillTx/>
              <a:latin typeface="Arial"/>
            </a:endParaRPr>
          </a:p>
          <a:p>
            <a:pPr defTabSz="457200">
              <a:lnSpc>
                <a:spcPct val="112000"/>
              </a:lnSpc>
              <a:spcAft>
                <a:spcPts val="1199"/>
              </a:spcAft>
              <a:tabLst>
                <a:tab pos="0" algn="l"/>
              </a:tabLst>
            </a:pPr>
            <a:r>
              <a:rPr lang="en-US" sz="1250" b="1" u="none" strike="noStrike">
                <a:solidFill>
                  <a:srgbClr val="179285"/>
                </a:solidFill>
                <a:effectLst/>
                <a:uFillTx/>
                <a:latin typeface="Calibri"/>
              </a:rPr>
              <a:t>•  </a:t>
            </a:r>
            <a:r>
              <a:rPr lang="en-US" sz="1250" b="1" u="none" strike="noStrike">
                <a:solidFill>
                  <a:srgbClr val="1A202A"/>
                </a:solidFill>
                <a:effectLst/>
                <a:uFillTx/>
                <a:latin typeface="Calibri"/>
              </a:rPr>
              <a:t>One deterministic lookup.  </a:t>
            </a:r>
            <a:r>
              <a:rPr lang="en-US" sz="1250" b="0" u="none" strike="noStrike">
                <a:solidFill>
                  <a:srgbClr val="57606D"/>
                </a:solidFill>
                <a:effectLst/>
                <a:uFillTx/>
                <a:latin typeface="Calibri"/>
              </a:rPr>
              <a:t>Spec sheets read like reference tables, not symptoms, so they rank poorly against symptom queries. get_system_spec attaches the right one by system_version instead of hoping search finds it.</a:t>
            </a:r>
            <a:endParaRPr lang="en-US" sz="1250" b="0" u="none" strike="noStrike">
              <a:solidFill>
                <a:srgbClr val="000000"/>
              </a:solidFill>
              <a:effectLst/>
              <a:uFillTx/>
              <a:latin typeface="Arial"/>
            </a:endParaRPr>
          </a:p>
          <a:p>
            <a:pPr defTabSz="457200">
              <a:lnSpc>
                <a:spcPct val="112000"/>
              </a:lnSpc>
              <a:spcAft>
                <a:spcPts val="1199"/>
              </a:spcAft>
              <a:tabLst>
                <a:tab pos="0" algn="l"/>
              </a:tabLst>
            </a:pPr>
            <a:r>
              <a:rPr lang="en-US" sz="1250" b="1" u="none" strike="noStrike">
                <a:solidFill>
                  <a:srgbClr val="179285"/>
                </a:solidFill>
                <a:effectLst/>
                <a:uFillTx/>
                <a:latin typeface="Calibri"/>
              </a:rPr>
              <a:t>•  </a:t>
            </a:r>
            <a:r>
              <a:rPr lang="en-US" sz="1250" b="1" u="none" strike="noStrike">
                <a:solidFill>
                  <a:srgbClr val="1A202A"/>
                </a:solidFill>
                <a:effectLst/>
                <a:uFillTx/>
                <a:latin typeface="Calibri"/>
              </a:rPr>
              <a:t>Provenance survives.  </a:t>
            </a:r>
            <a:r>
              <a:rPr lang="en-US" sz="1250" b="0" u="none" strike="noStrike">
                <a:solidFill>
                  <a:srgbClr val="57606D"/>
                </a:solidFill>
                <a:effectLst/>
                <a:uFillTx/>
                <a:latin typeface="Calibri"/>
              </a:rPr>
              <a:t>Every chunk keeps its “--- Document Source: X ---” header through merging, so every claim in a reply can be traced back to a file.</a:t>
            </a:r>
            <a:endParaRPr lang="en-US" sz="1250" b="0" u="none" strike="noStrike">
              <a:solidFill>
                <a:srgbClr val="000000"/>
              </a:solidFill>
              <a:effectLst/>
              <a:uFillTx/>
              <a:latin typeface="Arial"/>
            </a:endParaRPr>
          </a:p>
        </p:txBody>
      </p:sp>
      <p:sp>
        <p:nvSpPr>
          <p:cNvPr id="306" name="Rounded Rectangle 16"/>
          <p:cNvSpPr/>
          <p:nvPr/>
        </p:nvSpPr>
        <p:spPr>
          <a:xfrm>
            <a:off x="6355080" y="2606040"/>
            <a:ext cx="2541240" cy="118800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7" name="TextBox 17"/>
          <p:cNvSpPr/>
          <p:nvPr/>
        </p:nvSpPr>
        <p:spPr>
          <a:xfrm>
            <a:off x="6537960" y="2743200"/>
            <a:ext cx="21754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RUNBOOK HIT-RATE</a:t>
            </a:r>
            <a:endParaRPr lang="en-US" sz="1050" b="0" u="none" strike="noStrike">
              <a:solidFill>
                <a:srgbClr val="000000"/>
              </a:solidFill>
              <a:effectLst/>
              <a:uFillTx/>
              <a:latin typeface="Arial"/>
            </a:endParaRPr>
          </a:p>
        </p:txBody>
      </p:sp>
      <p:sp>
        <p:nvSpPr>
          <p:cNvPr id="308" name="TextBox 18"/>
          <p:cNvSpPr/>
          <p:nvPr/>
        </p:nvSpPr>
        <p:spPr>
          <a:xfrm>
            <a:off x="6537960" y="3035880"/>
            <a:ext cx="217548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0D665E"/>
                </a:solidFill>
                <a:effectLst/>
                <a:uFillTx/>
                <a:latin typeface="Calibri"/>
              </a:rPr>
              <a:t>100%</a:t>
            </a:r>
            <a:endParaRPr lang="en-US" sz="2700" b="0" u="none" strike="noStrike">
              <a:solidFill>
                <a:srgbClr val="000000"/>
              </a:solidFill>
              <a:effectLst/>
              <a:uFillTx/>
              <a:latin typeface="Arial"/>
            </a:endParaRPr>
          </a:p>
        </p:txBody>
      </p:sp>
      <p:sp>
        <p:nvSpPr>
          <p:cNvPr id="309" name="TextBox 19"/>
          <p:cNvSpPr/>
          <p:nvPr/>
        </p:nvSpPr>
        <p:spPr>
          <a:xfrm>
            <a:off x="6537960" y="3429000"/>
            <a:ext cx="217548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correct doc retrieved, n=75</a:t>
            </a:r>
            <a:endParaRPr lang="en-US" sz="1000" b="0" u="none" strike="noStrike">
              <a:solidFill>
                <a:srgbClr val="000000"/>
              </a:solidFill>
              <a:effectLst/>
              <a:uFillTx/>
              <a:latin typeface="Arial"/>
            </a:endParaRPr>
          </a:p>
        </p:txBody>
      </p:sp>
      <p:sp>
        <p:nvSpPr>
          <p:cNvPr id="310" name="Rounded Rectangle 20"/>
          <p:cNvSpPr/>
          <p:nvPr/>
        </p:nvSpPr>
        <p:spPr>
          <a:xfrm>
            <a:off x="9116640" y="2606040"/>
            <a:ext cx="2541240" cy="118800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1" name="TextBox 21"/>
          <p:cNvSpPr/>
          <p:nvPr/>
        </p:nvSpPr>
        <p:spPr>
          <a:xfrm>
            <a:off x="9299520" y="2743200"/>
            <a:ext cx="21754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RECALL@K</a:t>
            </a:r>
            <a:endParaRPr lang="en-US" sz="1050" b="0" u="none" strike="noStrike">
              <a:solidFill>
                <a:srgbClr val="000000"/>
              </a:solidFill>
              <a:effectLst/>
              <a:uFillTx/>
              <a:latin typeface="Arial"/>
            </a:endParaRPr>
          </a:p>
        </p:txBody>
      </p:sp>
      <p:sp>
        <p:nvSpPr>
          <p:cNvPr id="312" name="TextBox 22"/>
          <p:cNvSpPr/>
          <p:nvPr/>
        </p:nvSpPr>
        <p:spPr>
          <a:xfrm>
            <a:off x="9299520" y="3035880"/>
            <a:ext cx="217548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22840"/>
                </a:solidFill>
                <a:effectLst/>
                <a:uFillTx/>
                <a:latin typeface="Calibri"/>
              </a:rPr>
              <a:t>72.8%</a:t>
            </a:r>
            <a:endParaRPr lang="en-US" sz="2700" b="0" u="none" strike="noStrike">
              <a:solidFill>
                <a:srgbClr val="000000"/>
              </a:solidFill>
              <a:effectLst/>
              <a:uFillTx/>
              <a:latin typeface="Arial"/>
            </a:endParaRPr>
          </a:p>
        </p:txBody>
      </p:sp>
      <p:sp>
        <p:nvSpPr>
          <p:cNvPr id="313" name="TextBox 23"/>
          <p:cNvSpPr/>
          <p:nvPr/>
        </p:nvSpPr>
        <p:spPr>
          <a:xfrm>
            <a:off x="9299520" y="3429000"/>
            <a:ext cx="217548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of all labelled docs</a:t>
            </a:r>
            <a:endParaRPr lang="en-US" sz="1000" b="0" u="none" strike="noStrike">
              <a:solidFill>
                <a:srgbClr val="000000"/>
              </a:solidFill>
              <a:effectLst/>
              <a:uFillTx/>
              <a:latin typeface="Arial"/>
            </a:endParaRPr>
          </a:p>
        </p:txBody>
      </p:sp>
      <p:sp>
        <p:nvSpPr>
          <p:cNvPr id="314" name="Rounded Rectangle 24"/>
          <p:cNvSpPr/>
          <p:nvPr/>
        </p:nvSpPr>
        <p:spPr>
          <a:xfrm>
            <a:off x="6355080" y="3931920"/>
            <a:ext cx="2541240" cy="118800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5" name="TextBox 25"/>
          <p:cNvSpPr/>
          <p:nvPr/>
        </p:nvSpPr>
        <p:spPr>
          <a:xfrm>
            <a:off x="6537960" y="4069080"/>
            <a:ext cx="21754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GROUNDEDNESS</a:t>
            </a:r>
            <a:endParaRPr lang="en-US" sz="1050" b="0" u="none" strike="noStrike">
              <a:solidFill>
                <a:srgbClr val="000000"/>
              </a:solidFill>
              <a:effectLst/>
              <a:uFillTx/>
              <a:latin typeface="Arial"/>
            </a:endParaRPr>
          </a:p>
        </p:txBody>
      </p:sp>
      <p:sp>
        <p:nvSpPr>
          <p:cNvPr id="316" name="TextBox 26"/>
          <p:cNvSpPr/>
          <p:nvPr/>
        </p:nvSpPr>
        <p:spPr>
          <a:xfrm>
            <a:off x="6537960" y="4361760"/>
            <a:ext cx="217548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0D665E"/>
                </a:solidFill>
                <a:effectLst/>
                <a:uFillTx/>
                <a:latin typeface="Calibri"/>
              </a:rPr>
              <a:t>100%</a:t>
            </a:r>
            <a:endParaRPr lang="en-US" sz="2700" b="0" u="none" strike="noStrike">
              <a:solidFill>
                <a:srgbClr val="000000"/>
              </a:solidFill>
              <a:effectLst/>
              <a:uFillTx/>
              <a:latin typeface="Arial"/>
            </a:endParaRPr>
          </a:p>
        </p:txBody>
      </p:sp>
      <p:sp>
        <p:nvSpPr>
          <p:cNvPr id="317" name="TextBox 27"/>
          <p:cNvSpPr/>
          <p:nvPr/>
        </p:nvSpPr>
        <p:spPr>
          <a:xfrm>
            <a:off x="6537960" y="4754880"/>
            <a:ext cx="217548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specifics traced to source</a:t>
            </a:r>
            <a:endParaRPr lang="en-US" sz="1000" b="0" u="none" strike="noStrike">
              <a:solidFill>
                <a:srgbClr val="000000"/>
              </a:solidFill>
              <a:effectLst/>
              <a:uFillTx/>
              <a:latin typeface="Arial"/>
            </a:endParaRPr>
          </a:p>
        </p:txBody>
      </p:sp>
      <p:sp>
        <p:nvSpPr>
          <p:cNvPr id="318" name="Rounded Rectangle 28"/>
          <p:cNvSpPr/>
          <p:nvPr/>
        </p:nvSpPr>
        <p:spPr>
          <a:xfrm>
            <a:off x="9116640" y="3931920"/>
            <a:ext cx="2541240" cy="118800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9" name="TextBox 29"/>
          <p:cNvSpPr/>
          <p:nvPr/>
        </p:nvSpPr>
        <p:spPr>
          <a:xfrm>
            <a:off x="9299520" y="4069080"/>
            <a:ext cx="21754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RERANKER LIFT</a:t>
            </a:r>
            <a:endParaRPr lang="en-US" sz="1050" b="0" u="none" strike="noStrike">
              <a:solidFill>
                <a:srgbClr val="000000"/>
              </a:solidFill>
              <a:effectLst/>
              <a:uFillTx/>
              <a:latin typeface="Arial"/>
            </a:endParaRPr>
          </a:p>
        </p:txBody>
      </p:sp>
      <p:sp>
        <p:nvSpPr>
          <p:cNvPr id="320" name="TextBox 30"/>
          <p:cNvSpPr/>
          <p:nvPr/>
        </p:nvSpPr>
        <p:spPr>
          <a:xfrm>
            <a:off x="9299520" y="4361760"/>
            <a:ext cx="217548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22840"/>
                </a:solidFill>
                <a:effectLst/>
                <a:uFillTx/>
                <a:latin typeface="Calibri"/>
              </a:rPr>
              <a:t>+2.7pp</a:t>
            </a:r>
            <a:endParaRPr lang="en-US" sz="2700" b="0" u="none" strike="noStrike">
              <a:solidFill>
                <a:srgbClr val="000000"/>
              </a:solidFill>
              <a:effectLst/>
              <a:uFillTx/>
              <a:latin typeface="Arial"/>
            </a:endParaRPr>
          </a:p>
        </p:txBody>
      </p:sp>
      <p:sp>
        <p:nvSpPr>
          <p:cNvPr id="321" name="TextBox 31"/>
          <p:cNvSpPr/>
          <p:nvPr/>
        </p:nvSpPr>
        <p:spPr>
          <a:xfrm>
            <a:off x="9299520" y="4754880"/>
            <a:ext cx="217548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hit-rate vs. no rerank</a:t>
            </a:r>
            <a:endParaRPr lang="en-US" sz="1000" b="0" u="none" strike="noStrike">
              <a:solidFill>
                <a:srgbClr val="000000"/>
              </a:solidFill>
              <a:effectLst/>
              <a:uFillTx/>
              <a:latin typeface="Arial"/>
            </a:endParaRPr>
          </a:p>
        </p:txBody>
      </p:sp>
      <p:sp>
        <p:nvSpPr>
          <p:cNvPr id="322" name="Rounded Rectangle 32"/>
          <p:cNvSpPr/>
          <p:nvPr/>
        </p:nvSpPr>
        <p:spPr>
          <a:xfrm>
            <a:off x="6355080" y="5285160"/>
            <a:ext cx="5302800" cy="685080"/>
          </a:xfrm>
          <a:prstGeom prst="roundRect">
            <a:avLst>
              <a:gd name="adj" fmla="val 13000"/>
            </a:avLst>
          </a:prstGeom>
          <a:solidFill>
            <a:srgbClr val="FDF4E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3" name="TextBox 33"/>
          <p:cNvSpPr/>
          <p:nvPr/>
        </p:nvSpPr>
        <p:spPr>
          <a:xfrm>
            <a:off x="6583680" y="5413320"/>
            <a:ext cx="4891320" cy="45648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050" b="0" u="none" strike="noStrike">
                <a:solidFill>
                  <a:srgbClr val="A86A14"/>
                </a:solidFill>
                <a:effectLst/>
                <a:uFillTx/>
                <a:latin typeface="Calibri"/>
              </a:rPr>
              <a:t>Recall@k is 73%, not 100%: the key lists ~4–5 docs per ticket and we retrieve the decisive one plus some. Hit-rate is the metric that matches the job.</a:t>
            </a:r>
            <a:endParaRPr lang="en-US" sz="1050" b="0" u="none" strike="noStrike">
              <a:solidFill>
                <a:srgbClr val="000000"/>
              </a:solidFill>
              <a:effectLst/>
              <a:uFillTx/>
              <a:latin typeface="Arial"/>
            </a:endParaRPr>
          </a:p>
        </p:txBody>
      </p:sp>
      <p:sp>
        <p:nvSpPr>
          <p:cNvPr id="324" name="TextBox 34"/>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ServeWell IT Support Agent Suite — phData Intelligence Platform</a:t>
            </a:r>
            <a:endParaRPr lang="en-US" sz="900" b="0" u="none" strike="noStrike">
              <a:solidFill>
                <a:srgbClr val="000000"/>
              </a:solidFill>
              <a:effectLst/>
              <a:uFillTx/>
              <a:latin typeface="Arial"/>
            </a:endParaRPr>
          </a:p>
        </p:txBody>
      </p:sp>
      <p:sp>
        <p:nvSpPr>
          <p:cNvPr id="325" name="TextBox 35"/>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326"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REQUIREMENT III</a:t>
            </a:r>
            <a:endParaRPr lang="en-US" sz="1200" b="0" u="none" strike="noStrike">
              <a:solidFill>
                <a:srgbClr val="000000"/>
              </a:solidFill>
              <a:effectLst/>
              <a:uFillTx/>
              <a:latin typeface="Arial"/>
            </a:endParaRPr>
          </a:p>
        </p:txBody>
      </p:sp>
      <p:sp>
        <p:nvSpPr>
          <p:cNvPr id="327"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Structured data: when it calls a tool, when it reasons</a:t>
            </a:r>
            <a:endParaRPr lang="en-US" sz="2700" b="0" u="none" strike="noStrike">
              <a:solidFill>
                <a:srgbClr val="000000"/>
              </a:solidFill>
              <a:effectLst/>
              <a:uFillTx/>
              <a:latin typeface="Arial"/>
            </a:endParaRPr>
          </a:p>
        </p:txBody>
      </p:sp>
      <p:sp>
        <p:nvSpPr>
          <p:cNvPr id="328"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graphicFrame>
        <p:nvGraphicFramePr>
          <p:cNvPr id="329" name="Table 4"/>
          <p:cNvGraphicFramePr/>
          <p:nvPr/>
        </p:nvGraphicFramePr>
        <p:xfrm>
          <a:off x="502920" y="1554480"/>
          <a:ext cx="11155320" cy="3200400"/>
        </p:xfrm>
        <a:graphic>
          <a:graphicData uri="http://schemas.openxmlformats.org/drawingml/2006/table">
            <a:tbl>
              <a:tblPr/>
              <a:tblGrid>
                <a:gridCol w="2743200"/>
                <a:gridCol w="3566160"/>
                <a:gridCol w="4846320"/>
              </a:tblGrid>
              <a:tr h="457200">
                <a:tc>
                  <a:txBody>
                    <a:bodyPr tIns="63360" bIns="63360" anchor="ctr">
                      <a:noAutofit/>
                    </a:bodyPr>
                    <a:p>
                      <a:pPr defTabSz="457200">
                        <a:lnSpc>
                          <a:spcPct val="100000"/>
                        </a:lnSpc>
                      </a:pPr>
                      <a:r>
                        <a:rPr lang="en-US" sz="1200" b="1" u="none" strike="noStrike">
                          <a:solidFill>
                            <a:srgbClr val="FFFFFF"/>
                          </a:solidFill>
                          <a:effectLst/>
                          <a:uFillTx/>
                          <a:latin typeface="Calibri"/>
                        </a:rPr>
                        <a:t>What</a:t>
                      </a:r>
                      <a:endParaRPr lang="en-US" sz="1200" b="0" u="none" strike="noStrike">
                        <a:solidFill>
                          <a:srgbClr val="FFFFFF"/>
                        </a:solidFill>
                        <a:effectLst/>
                        <a:uFillTx/>
                        <a:latin typeface="Arial"/>
                      </a:endParaRPr>
                    </a:p>
                  </a:txBody>
                  <a:tcPr anchor="ctr" marL="91440" marR="91440" marT="63360" marB="63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840"/>
                    </a:solidFill>
                  </a:tcPr>
                </a:tc>
                <a:tc>
                  <a:txBody>
                    <a:bodyPr tIns="63360" bIns="63360" anchor="ctr">
                      <a:noAutofit/>
                    </a:bodyPr>
                    <a:p>
                      <a:pPr defTabSz="457200">
                        <a:lnSpc>
                          <a:spcPct val="100000"/>
                        </a:lnSpc>
                      </a:pPr>
                      <a:r>
                        <a:rPr lang="en-US" sz="1200" b="1" u="none" strike="noStrike">
                          <a:solidFill>
                            <a:srgbClr val="FFFFFF"/>
                          </a:solidFill>
                          <a:effectLst/>
                          <a:uFillTx/>
                          <a:latin typeface="Calibri"/>
                        </a:rPr>
                        <a:t>Tool call or reasoning?</a:t>
                      </a:r>
                      <a:endParaRPr lang="en-US" sz="1200" b="0" u="none" strike="noStrike">
                        <a:solidFill>
                          <a:srgbClr val="FFFFFF"/>
                        </a:solidFill>
                        <a:effectLst/>
                        <a:uFillTx/>
                        <a:latin typeface="Arial"/>
                      </a:endParaRPr>
                    </a:p>
                  </a:txBody>
                  <a:tcPr anchor="ctr" marL="91440" marR="91440" marT="63360" marB="63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840"/>
                    </a:solidFill>
                  </a:tcPr>
                </a:tc>
                <a:tc>
                  <a:txBody>
                    <a:bodyPr tIns="63360" bIns="63360" anchor="ctr">
                      <a:noAutofit/>
                    </a:bodyPr>
                    <a:p>
                      <a:pPr defTabSz="457200">
                        <a:lnSpc>
                          <a:spcPct val="100000"/>
                        </a:lnSpc>
                      </a:pPr>
                      <a:r>
                        <a:rPr lang="en-US" sz="1200" b="1" u="none" strike="noStrike">
                          <a:solidFill>
                            <a:srgbClr val="FFFFFF"/>
                          </a:solidFill>
                          <a:effectLst/>
                          <a:uFillTx/>
                          <a:latin typeface="Calibri"/>
                        </a:rPr>
                        <a:t>Why it is drawn there</a:t>
                      </a:r>
                      <a:endParaRPr lang="en-US" sz="1200" b="0" u="none" strike="noStrike">
                        <a:solidFill>
                          <a:srgbClr val="FFFFFF"/>
                        </a:solidFill>
                        <a:effectLst/>
                        <a:uFillTx/>
                        <a:latin typeface="Arial"/>
                      </a:endParaRPr>
                    </a:p>
                  </a:txBody>
                  <a:tcPr anchor="ctr" marL="91440" marR="91440" marT="63360" marB="63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840"/>
                    </a:solidFill>
                  </a:tcPr>
                </a:tc>
              </a:tr>
              <a:tr h="457200">
                <a:tc>
                  <a:txBody>
                    <a:bodyPr tIns="50760" bIns="50760" anchor="ctr">
                      <a:noAutofit/>
                    </a:bodyPr>
                    <a:p>
                      <a:pPr defTabSz="457200">
                        <a:lnSpc>
                          <a:spcPct val="100000"/>
                        </a:lnSpc>
                      </a:pPr>
                      <a:r>
                        <a:rPr lang="en-US" sz="1100" b="0" u="none" strike="noStrike">
                          <a:solidFill>
                            <a:srgbClr val="1A202A"/>
                          </a:solidFill>
                          <a:effectLst/>
                          <a:uFillTx/>
                          <a:latin typeface="Calibri"/>
                        </a:rPr>
                        <a:t>Asset, store, SLA, warranty</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Always fetched, before the model runs</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Deterministic — never left to the model to remember to ask. ~18ms.</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tIns="50760" bIns="50760" anchor="ctr">
                      <a:noAutofit/>
                    </a:bodyPr>
                    <a:p>
                      <a:pPr defTabSz="457200">
                        <a:lnSpc>
                          <a:spcPct val="100000"/>
                        </a:lnSpc>
                      </a:pPr>
                      <a:r>
                        <a:rPr lang="en-US" sz="1100" b="0" u="none" strike="noStrike">
                          <a:solidFill>
                            <a:srgbClr val="1A202A"/>
                          </a:solidFill>
                          <a:effectLst/>
                          <a:uFillTx/>
                          <a:latin typeface="Calibri"/>
                        </a:rPr>
                        <a:t>The relevant runbook</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Always pre-fetched, 3 concurrent queries</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The model reads results; it does not decide whether to look.</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r>
              <a:tr h="457200">
                <a:tc>
                  <a:txBody>
                    <a:bodyPr tIns="50760" bIns="50760" anchor="ctr">
                      <a:noAutofit/>
                    </a:bodyPr>
                    <a:p>
                      <a:pPr defTabSz="457200">
                        <a:lnSpc>
                          <a:spcPct val="100000"/>
                        </a:lnSpc>
                      </a:pPr>
                      <a:r>
                        <a:rPr lang="en-US" sz="1100" b="0" u="none" strike="noStrike">
                          <a:solidFill>
                            <a:srgbClr val="1A202A"/>
                          </a:solidFill>
                          <a:effectLst/>
                          <a:uFillTx/>
                          <a:latin typeface="Calibri"/>
                        </a:rPr>
                        <a:t>System spec sheet</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Deterministic lookup on system_version</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Semantic search ranks these poorly; a keyword map is simply better.</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tIns="50760" bIns="50760" anchor="ctr">
                      <a:noAutofit/>
                    </a:bodyPr>
                    <a:p>
                      <a:pPr defTabSz="457200">
                        <a:lnSpc>
                          <a:spcPct val="100000"/>
                        </a:lnSpc>
                      </a:pPr>
                      <a:r>
                        <a:rPr lang="en-US" sz="1100" b="0" u="none" strike="noStrike">
                          <a:solidFill>
                            <a:srgbClr val="1A202A"/>
                          </a:solidFill>
                          <a:effectLst/>
                          <a:uFillTx/>
                          <a:latin typeface="Calibri"/>
                        </a:rPr>
                        <a:t>A second KB search</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Model's choice — capped at one</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Genuine judgement: 'is the pre-fetched runbook actually about this?'</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r>
              <a:tr h="457200">
                <a:tc>
                  <a:txBody>
                    <a:bodyPr tIns="50760" bIns="50760" anchor="ctr">
                      <a:noAutofit/>
                    </a:bodyPr>
                    <a:p>
                      <a:pPr defTabSz="457200">
                        <a:lnSpc>
                          <a:spcPct val="100000"/>
                        </a:lnSpc>
                      </a:pPr>
                      <a:r>
                        <a:rPr lang="en-US" sz="1100" b="0" u="none" strike="noStrike">
                          <a:solidFill>
                            <a:srgbClr val="1A202A"/>
                          </a:solidFill>
                          <a:effectLst/>
                          <a:uFillTx/>
                          <a:latin typeface="Calibri"/>
                        </a:rPr>
                        <a:t>Which steps to give</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Model reasons over retrieved text</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This is the part that needs a language model at all.</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tIns="50760" bIns="50760" anchor="ctr">
                      <a:noAutofit/>
                    </a:bodyPr>
                    <a:p>
                      <a:pPr defTabSz="457200">
                        <a:lnSpc>
                          <a:spcPct val="100000"/>
                        </a:lnSpc>
                      </a:pPr>
                      <a:r>
                        <a:rPr lang="en-US" sz="1100" b="0" u="none" strike="noStrike">
                          <a:solidFill>
                            <a:srgbClr val="1A202A"/>
                          </a:solidFill>
                          <a:effectLst/>
                          <a:uFillTx/>
                          <a:latin typeface="Calibri"/>
                        </a:rPr>
                        <a:t>Whether to act</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Model proposes; policy and a human dispose</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100" b="0" u="none" strike="noStrike">
                          <a:solidFill>
                            <a:srgbClr val="1A202A"/>
                          </a:solidFill>
                          <a:effectLst/>
                          <a:uFillTx/>
                          <a:latin typeface="Calibri"/>
                        </a:rPr>
                        <a:t>Never the model's call alone.</a:t>
                      </a:r>
                      <a:endParaRPr lang="en-US" sz="110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r>
            </a:tbl>
          </a:graphicData>
        </a:graphic>
      </p:graphicFrame>
      <p:sp>
        <p:nvSpPr>
          <p:cNvPr id="330" name="Rounded Rectangle 5"/>
          <p:cNvSpPr/>
          <p:nvPr/>
        </p:nvSpPr>
        <p:spPr>
          <a:xfrm>
            <a:off x="502920" y="4983480"/>
            <a:ext cx="11154960" cy="1297800"/>
          </a:xfrm>
          <a:prstGeom prst="roundRect">
            <a:avLst>
              <a:gd name="adj" fmla="val 8000"/>
            </a:avLst>
          </a:prstGeom>
          <a:solidFill>
            <a:srgbClr val="E4F2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1" name="TextBox 6"/>
          <p:cNvSpPr/>
          <p:nvPr/>
        </p:nvSpPr>
        <p:spPr>
          <a:xfrm>
            <a:off x="822960" y="5139000"/>
            <a:ext cx="105148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0D665E"/>
                </a:solidFill>
                <a:effectLst/>
                <a:uFillTx/>
                <a:latin typeface="Calibri"/>
              </a:rPr>
              <a:t>The principle</a:t>
            </a:r>
            <a:endParaRPr lang="en-US" sz="1300" b="0" u="none" strike="noStrike">
              <a:solidFill>
                <a:srgbClr val="000000"/>
              </a:solidFill>
              <a:effectLst/>
              <a:uFillTx/>
              <a:latin typeface="Arial"/>
            </a:endParaRPr>
          </a:p>
        </p:txBody>
      </p:sp>
      <p:sp>
        <p:nvSpPr>
          <p:cNvPr id="332" name="TextBox 7"/>
          <p:cNvSpPr/>
          <p:nvPr/>
        </p:nvSpPr>
        <p:spPr>
          <a:xfrm>
            <a:off x="822960" y="5449680"/>
            <a:ext cx="10514880" cy="73080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en-US" sz="1200" b="0" u="none" strike="noStrike">
                <a:solidFill>
                  <a:srgbClr val="57606D"/>
                </a:solidFill>
                <a:effectLst/>
                <a:uFillTx/>
                <a:latin typeface="Calibri"/>
              </a:rPr>
              <a:t>If the answer is a lookup, do the lookup — do not spend a model turn deciding to. Reserve the model for the parts that are genuinely ambiguous. Structured facts are injected as authoritative and the prompt forbids contradicting them, so the agent cannot advise a warranty replacement on an out-of-warranty asset, and says so plainly when an asset is missing from the CMDB rather than inventing it.</a:t>
            </a:r>
            <a:endParaRPr lang="en-US" sz="1200" b="0" u="none" strike="noStrike">
              <a:solidFill>
                <a:srgbClr val="000000"/>
              </a:solidFill>
              <a:effectLst/>
              <a:uFillTx/>
              <a:latin typeface="Arial"/>
            </a:endParaRPr>
          </a:p>
        </p:txBody>
      </p:sp>
      <p:sp>
        <p:nvSpPr>
          <p:cNvPr id="333" name="TextBox 8"/>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ServeWell IT Support Agent Suite — phData Intelligence Platform</a:t>
            </a:r>
            <a:endParaRPr lang="en-US" sz="900" b="0" u="none" strike="noStrike">
              <a:solidFill>
                <a:srgbClr val="000000"/>
              </a:solidFill>
              <a:effectLst/>
              <a:uFillTx/>
              <a:latin typeface="Arial"/>
            </a:endParaRPr>
          </a:p>
        </p:txBody>
      </p:sp>
      <p:sp>
        <p:nvSpPr>
          <p:cNvPr id="334" name="TextBox 9"/>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10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335"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REQUIREMENT IV</a:t>
            </a:r>
            <a:endParaRPr lang="en-US" sz="1200" b="0" u="none" strike="noStrike">
              <a:solidFill>
                <a:srgbClr val="000000"/>
              </a:solidFill>
              <a:effectLst/>
              <a:uFillTx/>
              <a:latin typeface="Arial"/>
            </a:endParaRPr>
          </a:p>
        </p:txBody>
      </p:sp>
      <p:sp>
        <p:nvSpPr>
          <p:cNvPr id="336"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Actions: the agent proposes, a human disposes</a:t>
            </a:r>
            <a:endParaRPr lang="en-US" sz="2700" b="0" u="none" strike="noStrike">
              <a:solidFill>
                <a:srgbClr val="000000"/>
              </a:solidFill>
              <a:effectLst/>
              <a:uFillTx/>
              <a:latin typeface="Arial"/>
            </a:endParaRPr>
          </a:p>
        </p:txBody>
      </p:sp>
      <p:sp>
        <p:nvSpPr>
          <p:cNvPr id="337"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sp>
        <p:nvSpPr>
          <p:cNvPr id="338" name="Rounded Rectangle 4"/>
          <p:cNvSpPr/>
          <p:nvPr/>
        </p:nvSpPr>
        <p:spPr>
          <a:xfrm>
            <a:off x="567000" y="1627560"/>
            <a:ext cx="2605320" cy="1023480"/>
          </a:xfrm>
          <a:prstGeom prst="roundRect">
            <a:avLst>
              <a:gd name="adj" fmla="val 10000"/>
            </a:avLst>
          </a:prstGeom>
          <a:solidFill>
            <a:srgbClr val="FFFFFF"/>
          </a:solidFill>
          <a:ln w="25400">
            <a:solidFill>
              <a:srgbClr val="12284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300" b="1" u="none" strike="noStrike">
                <a:solidFill>
                  <a:srgbClr val="122840"/>
                </a:solidFill>
                <a:effectLst/>
                <a:uFillTx/>
                <a:latin typeface="Calibri"/>
              </a:rPr>
              <a:t>LLM proposes</a:t>
            </a:r>
            <a:endParaRPr lang="en-US" sz="13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picks from a closed</a:t>
            </a:r>
            <a:endParaRPr lang="en-US" sz="9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catalog of 4 actions</a:t>
            </a:r>
            <a:endParaRPr lang="en-US" sz="900" b="0" u="none" strike="noStrike">
              <a:solidFill>
                <a:srgbClr val="000000"/>
              </a:solidFill>
              <a:effectLst/>
              <a:uFillTx/>
              <a:latin typeface="Arial"/>
            </a:endParaRPr>
          </a:p>
        </p:txBody>
      </p:sp>
      <p:cxnSp>
        <p:nvCxnSpPr>
          <p:cNvPr id="339" name="Connector 5"/>
          <p:cNvCxnSpPr/>
          <p:nvPr/>
        </p:nvCxnSpPr>
        <p:spPr>
          <a:xfrm>
            <a:off x="3172680" y="2139480"/>
            <a:ext cx="293400" cy="720"/>
          </a:xfrm>
          <a:prstGeom prst="straightConnector1">
            <a:avLst/>
          </a:prstGeom>
          <a:ln w="0">
            <a:solidFill>
              <a:srgbClr val="122840"/>
            </a:solidFill>
            <a:tailEnd len="med" type="triangle" w="med"/>
          </a:ln>
        </p:spPr>
      </p:cxnSp>
      <p:sp>
        <p:nvSpPr>
          <p:cNvPr id="340" name="Rounded Rectangle 6"/>
          <p:cNvSpPr/>
          <p:nvPr/>
        </p:nvSpPr>
        <p:spPr>
          <a:xfrm>
            <a:off x="3465720" y="1627560"/>
            <a:ext cx="2605320" cy="1023480"/>
          </a:xfrm>
          <a:prstGeom prst="roundRect">
            <a:avLst>
              <a:gd name="adj" fmla="val 10000"/>
            </a:avLst>
          </a:prstGeom>
          <a:solidFill>
            <a:srgbClr val="FFFFFF"/>
          </a:solidFill>
          <a:ln w="25400">
            <a:solidFill>
              <a:srgbClr val="B8392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300" b="1" u="none" strike="noStrike">
                <a:solidFill>
                  <a:srgbClr val="B8392C"/>
                </a:solidFill>
                <a:effectLst/>
                <a:uFillTx/>
                <a:latin typeface="Calibri"/>
              </a:rPr>
              <a:t>Policy veto</a:t>
            </a:r>
            <a:endParaRPr lang="en-US" sz="13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deterministic block-list:</a:t>
            </a:r>
            <a:endParaRPr lang="en-US" sz="9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payment, security, multi-store</a:t>
            </a:r>
            <a:endParaRPr lang="en-US" sz="900" b="0" u="none" strike="noStrike">
              <a:solidFill>
                <a:srgbClr val="000000"/>
              </a:solidFill>
              <a:effectLst/>
              <a:uFillTx/>
              <a:latin typeface="Arial"/>
            </a:endParaRPr>
          </a:p>
        </p:txBody>
      </p:sp>
      <p:cxnSp>
        <p:nvCxnSpPr>
          <p:cNvPr id="341" name="Connector 7"/>
          <p:cNvCxnSpPr/>
          <p:nvPr/>
        </p:nvCxnSpPr>
        <p:spPr>
          <a:xfrm>
            <a:off x="6071400" y="2139480"/>
            <a:ext cx="293400" cy="720"/>
          </a:xfrm>
          <a:prstGeom prst="straightConnector1">
            <a:avLst/>
          </a:prstGeom>
          <a:ln w="0">
            <a:solidFill>
              <a:srgbClr val="B8392C"/>
            </a:solidFill>
            <a:tailEnd len="med" type="triangle" w="med"/>
          </a:ln>
        </p:spPr>
      </p:cxnSp>
      <p:sp>
        <p:nvSpPr>
          <p:cNvPr id="342" name="Rounded Rectangle 8"/>
          <p:cNvSpPr/>
          <p:nvPr/>
        </p:nvSpPr>
        <p:spPr>
          <a:xfrm>
            <a:off x="6364080" y="1627560"/>
            <a:ext cx="2605320" cy="1023480"/>
          </a:xfrm>
          <a:prstGeom prst="roundRect">
            <a:avLst>
              <a:gd name="adj" fmla="val 10000"/>
            </a:avLst>
          </a:prstGeom>
          <a:solidFill>
            <a:srgbClr val="FFFFFF"/>
          </a:solidFill>
          <a:ln w="25400">
            <a:solidFill>
              <a:srgbClr val="A86A1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300" b="1" u="none" strike="noStrike">
                <a:solidFill>
                  <a:srgbClr val="A86A14"/>
                </a:solidFill>
                <a:effectLst/>
                <a:uFillTx/>
                <a:latin typeface="Calibri"/>
              </a:rPr>
              <a:t>Human reviews</a:t>
            </a:r>
            <a:endParaRPr lang="en-US" sz="13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sees action, asset,</a:t>
            </a:r>
            <a:endParaRPr lang="en-US" sz="9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reason, runbook cited</a:t>
            </a:r>
            <a:endParaRPr lang="en-US" sz="900" b="0" u="none" strike="noStrike">
              <a:solidFill>
                <a:srgbClr val="000000"/>
              </a:solidFill>
              <a:effectLst/>
              <a:uFillTx/>
              <a:latin typeface="Arial"/>
            </a:endParaRPr>
          </a:p>
        </p:txBody>
      </p:sp>
      <p:cxnSp>
        <p:nvCxnSpPr>
          <p:cNvPr id="343" name="Connector 9"/>
          <p:cNvCxnSpPr/>
          <p:nvPr/>
        </p:nvCxnSpPr>
        <p:spPr>
          <a:xfrm>
            <a:off x="8970120" y="2139480"/>
            <a:ext cx="293400" cy="720"/>
          </a:xfrm>
          <a:prstGeom prst="straightConnector1">
            <a:avLst/>
          </a:prstGeom>
          <a:ln w="0">
            <a:solidFill>
              <a:srgbClr val="A86A14"/>
            </a:solidFill>
            <a:tailEnd len="med" type="triangle" w="med"/>
          </a:ln>
        </p:spPr>
      </p:cxnSp>
      <p:sp>
        <p:nvSpPr>
          <p:cNvPr id="344" name="Rounded Rectangle 10"/>
          <p:cNvSpPr/>
          <p:nvPr/>
        </p:nvSpPr>
        <p:spPr>
          <a:xfrm>
            <a:off x="9262800" y="1627560"/>
            <a:ext cx="2605320" cy="1023480"/>
          </a:xfrm>
          <a:prstGeom prst="roundRect">
            <a:avLst>
              <a:gd name="adj" fmla="val 10000"/>
            </a:avLst>
          </a:prstGeom>
          <a:solidFill>
            <a:srgbClr val="FFFFFF"/>
          </a:solidFill>
          <a:ln w="25400">
            <a:solidFill>
              <a:srgbClr val="2B94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63360" tIns="25560" rIns="63360" bIns="25560" anchor="ctr">
            <a:noAutofit/>
          </a:bodyPr>
          <a:p>
            <a:pPr algn="ctr" defTabSz="457200">
              <a:lnSpc>
                <a:spcPct val="100000"/>
              </a:lnSpc>
            </a:pPr>
            <a:r>
              <a:rPr lang="en-US" sz="1300" b="1" u="none" strike="noStrike">
                <a:solidFill>
                  <a:srgbClr val="2B9455"/>
                </a:solidFill>
                <a:effectLst/>
                <a:uFillTx/>
                <a:latin typeface="Calibri"/>
              </a:rPr>
              <a:t>Execute + audit</a:t>
            </a:r>
            <a:endParaRPr lang="en-US" sz="13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runs only on approval;</a:t>
            </a:r>
            <a:endParaRPr lang="en-US" sz="900" b="0" u="none" strike="noStrike">
              <a:solidFill>
                <a:srgbClr val="000000"/>
              </a:solidFill>
              <a:effectLst/>
              <a:uFillTx/>
              <a:latin typeface="Arial"/>
            </a:endParaRPr>
          </a:p>
          <a:p>
            <a:pPr algn="ctr" defTabSz="457200">
              <a:lnSpc>
                <a:spcPct val="100000"/>
              </a:lnSpc>
            </a:pPr>
            <a:r>
              <a:rPr lang="en-US" sz="900" b="0" u="none" strike="noStrike">
                <a:solidFill>
                  <a:srgbClr val="57606D"/>
                </a:solidFill>
                <a:effectLst/>
                <a:uFillTx/>
                <a:latin typeface="Calibri"/>
              </a:rPr>
              <a:t>logged either way</a:t>
            </a:r>
            <a:endParaRPr lang="en-US" sz="900" b="0" u="none" strike="noStrike">
              <a:solidFill>
                <a:srgbClr val="000000"/>
              </a:solidFill>
              <a:effectLst/>
              <a:uFillTx/>
              <a:latin typeface="Arial"/>
            </a:endParaRPr>
          </a:p>
        </p:txBody>
      </p:sp>
      <p:sp>
        <p:nvSpPr>
          <p:cNvPr id="345" name="TextBox 11"/>
          <p:cNvSpPr/>
          <p:nvPr/>
        </p:nvSpPr>
        <p:spPr>
          <a:xfrm>
            <a:off x="502920" y="2944440"/>
            <a:ext cx="1115496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B8392C"/>
                </a:solidFill>
                <a:effectLst/>
                <a:uFillTx/>
                <a:latin typeface="Calibri"/>
              </a:rPr>
              <a:t>REFUSAL IS THE DEFAULT, NOT AN EDGE CASE</a:t>
            </a:r>
            <a:endParaRPr lang="en-US" sz="1200" b="0" u="none" strike="noStrike">
              <a:solidFill>
                <a:srgbClr val="000000"/>
              </a:solidFill>
              <a:effectLst/>
              <a:uFillTx/>
              <a:latin typeface="Arial"/>
            </a:endParaRPr>
          </a:p>
        </p:txBody>
      </p:sp>
      <p:sp>
        <p:nvSpPr>
          <p:cNvPr id="346" name="TextBox 12"/>
          <p:cNvSpPr/>
          <p:nvPr/>
        </p:nvSpPr>
        <p:spPr>
          <a:xfrm>
            <a:off x="502920" y="3310200"/>
            <a:ext cx="11154960" cy="2376720"/>
          </a:xfrm>
          <a:prstGeom prst="rect">
            <a:avLst/>
          </a:prstGeom>
          <a:noFill/>
          <a:ln w="0">
            <a:noFill/>
          </a:ln>
        </p:spPr>
        <p:style>
          <a:lnRef idx="0"/>
          <a:fillRef idx="0"/>
          <a:effectRef idx="0"/>
          <a:fontRef idx="minor"/>
        </p:style>
        <p:txBody>
          <a:bodyPr lIns="0" tIns="0" rIns="0" bIns="0" anchor="t">
            <a:spAutoFit/>
          </a:bodyPr>
          <a:p>
            <a:pPr defTabSz="457200">
              <a:lnSpc>
                <a:spcPct val="112000"/>
              </a:lnSpc>
              <a:spcAft>
                <a:spcPts val="1100"/>
              </a:spcAft>
              <a:tabLst>
                <a:tab pos="0" algn="l"/>
              </a:tabLst>
            </a:pPr>
            <a:r>
              <a:rPr lang="en-US" sz="1250" b="1" u="none" strike="noStrike">
                <a:solidFill>
                  <a:srgbClr val="179285"/>
                </a:solidFill>
                <a:effectLst/>
                <a:uFillTx/>
                <a:latin typeface="Calibri"/>
              </a:rPr>
              <a:t>•  </a:t>
            </a:r>
            <a:r>
              <a:rPr lang="en-US" sz="1250" b="1" u="none" strike="noStrike">
                <a:solidFill>
                  <a:srgbClr val="1A202A"/>
                </a:solidFill>
                <a:effectLst/>
                <a:uFillTx/>
                <a:latin typeface="Calibri"/>
              </a:rPr>
              <a:t>The gate is code:  </a:t>
            </a:r>
            <a:r>
              <a:rPr lang="en-US" sz="1250" b="0" u="none" strike="noStrike">
                <a:solidFill>
                  <a:srgbClr val="57606D"/>
                </a:solidFill>
                <a:effectLst/>
                <a:uFillTx/>
                <a:latin typeface="Calibri"/>
              </a:rPr>
              <a:t>execute_action() refuses unless approved=True, and that check lives in the tool, not the UI — so no future caller (a script, a retry path, another agent) can reach an actuator by skipping the screen that was meant to ask.</a:t>
            </a:r>
            <a:endParaRPr lang="en-US" sz="1250" b="0" u="none" strike="noStrike">
              <a:solidFill>
                <a:srgbClr val="000000"/>
              </a:solidFill>
              <a:effectLst/>
              <a:uFillTx/>
              <a:latin typeface="Arial"/>
            </a:endParaRPr>
          </a:p>
          <a:p>
            <a:pPr defTabSz="457200">
              <a:lnSpc>
                <a:spcPct val="112000"/>
              </a:lnSpc>
              <a:spcAft>
                <a:spcPts val="1100"/>
              </a:spcAft>
              <a:tabLst>
                <a:tab pos="0" algn="l"/>
              </a:tabLst>
            </a:pPr>
            <a:r>
              <a:rPr lang="en-US" sz="1250" b="1" u="none" strike="noStrike">
                <a:solidFill>
                  <a:srgbClr val="179285"/>
                </a:solidFill>
                <a:effectLst/>
                <a:uFillTx/>
                <a:latin typeface="Calibri"/>
              </a:rPr>
              <a:t>•  </a:t>
            </a:r>
            <a:r>
              <a:rPr lang="en-US" sz="1250" b="1" u="none" strike="noStrike">
                <a:solidFill>
                  <a:srgbClr val="1A202A"/>
                </a:solidFill>
                <a:effectLst/>
                <a:uFillTx/>
                <a:latin typeface="Calibri"/>
              </a:rPr>
              <a:t>Closed vocabulary:  </a:t>
            </a:r>
            <a:r>
              <a:rPr lang="en-US" sz="1250" b="0" u="none" strike="noStrike">
                <a:solidFill>
                  <a:srgbClr val="57606D"/>
                </a:solidFill>
                <a:effectLst/>
                <a:uFillTx/>
                <a:latin typeface="Calibri"/>
              </a:rPr>
              <a:t>Four reversible, single-asset operations. The model cannot emit a free-text command, and cannot propose a printer restart for a router — the catalog is typed to asset class.</a:t>
            </a:r>
            <a:endParaRPr lang="en-US" sz="1250" b="0" u="none" strike="noStrike">
              <a:solidFill>
                <a:srgbClr val="000000"/>
              </a:solidFill>
              <a:effectLst/>
              <a:uFillTx/>
              <a:latin typeface="Arial"/>
            </a:endParaRPr>
          </a:p>
          <a:p>
            <a:pPr defTabSz="457200">
              <a:lnSpc>
                <a:spcPct val="112000"/>
              </a:lnSpc>
              <a:spcAft>
                <a:spcPts val="1100"/>
              </a:spcAft>
              <a:tabLst>
                <a:tab pos="0" algn="l"/>
              </a:tabLst>
            </a:pPr>
            <a:r>
              <a:rPr lang="en-US" sz="1250" b="1" u="none" strike="noStrike">
                <a:solidFill>
                  <a:srgbClr val="179285"/>
                </a:solidFill>
                <a:effectLst/>
                <a:uFillTx/>
                <a:latin typeface="Calibri"/>
              </a:rPr>
              <a:t>•  </a:t>
            </a:r>
            <a:r>
              <a:rPr lang="en-US" sz="1250" b="1" u="none" strike="noStrike">
                <a:solidFill>
                  <a:srgbClr val="1A202A"/>
                </a:solidFill>
                <a:effectLst/>
                <a:uFillTx/>
                <a:latin typeface="Calibri"/>
              </a:rPr>
              <a:t>Policy runs first:  </a:t>
            </a:r>
            <a:r>
              <a:rPr lang="en-US" sz="1250" b="0" u="none" strike="noStrike">
                <a:solidFill>
                  <a:srgbClr val="57606D"/>
                </a:solidFill>
                <a:effectLst/>
                <a:uFillTx/>
                <a:latin typeface="Calibri"/>
              </a:rPr>
              <a:t>Categories the SOP marks immediate-escalate (payment, outage, security, database, multi-store) are refused before a human is ever asked. A confidently wrong proposal never becomes a button.</a:t>
            </a:r>
            <a:endParaRPr lang="en-US" sz="1250" b="0" u="none" strike="noStrike">
              <a:solidFill>
                <a:srgbClr val="000000"/>
              </a:solidFill>
              <a:effectLst/>
              <a:uFillTx/>
              <a:latin typeface="Arial"/>
            </a:endParaRPr>
          </a:p>
          <a:p>
            <a:pPr defTabSz="457200">
              <a:lnSpc>
                <a:spcPct val="112000"/>
              </a:lnSpc>
              <a:spcAft>
                <a:spcPts val="1100"/>
              </a:spcAft>
              <a:tabLst>
                <a:tab pos="0" algn="l"/>
              </a:tabLst>
            </a:pPr>
            <a:r>
              <a:rPr lang="en-US" sz="1250" b="1" u="none" strike="noStrike">
                <a:solidFill>
                  <a:srgbClr val="179285"/>
                </a:solidFill>
                <a:effectLst/>
                <a:uFillTx/>
                <a:latin typeface="Calibri"/>
              </a:rPr>
              <a:t>•  </a:t>
            </a:r>
            <a:r>
              <a:rPr lang="en-US" sz="1250" b="1" u="none" strike="noStrike">
                <a:solidFill>
                  <a:srgbClr val="1A202A"/>
                </a:solidFill>
                <a:effectLst/>
                <a:uFillTx/>
                <a:latin typeface="Calibri"/>
              </a:rPr>
              <a:t>Everything is logged:  </a:t>
            </a:r>
            <a:r>
              <a:rPr lang="en-US" sz="1250" b="0" u="none" strike="noStrike">
                <a:solidFill>
                  <a:srgbClr val="57606D"/>
                </a:solidFill>
                <a:effectLst/>
                <a:uFillTx/>
                <a:latin typeface="Calibri"/>
              </a:rPr>
              <a:t>Proposed, refused and executed attempts all append to logs/ticket_actions.jsonl with actor and timestamp — the ITSM audit trail, in POC form.</a:t>
            </a:r>
            <a:endParaRPr lang="en-US" sz="1250" b="0" u="none" strike="noStrike">
              <a:solidFill>
                <a:srgbClr val="000000"/>
              </a:solidFill>
              <a:effectLst/>
              <a:uFillTx/>
              <a:latin typeface="Arial"/>
            </a:endParaRPr>
          </a:p>
        </p:txBody>
      </p:sp>
      <p:sp>
        <p:nvSpPr>
          <p:cNvPr id="347" name="TextBox 13"/>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ServeWell IT Support Agent Suite — phData Intelligence Platform</a:t>
            </a:r>
            <a:endParaRPr lang="en-US" sz="900" b="0" u="none" strike="noStrike">
              <a:solidFill>
                <a:srgbClr val="000000"/>
              </a:solidFill>
              <a:effectLst/>
              <a:uFillTx/>
              <a:latin typeface="Arial"/>
            </a:endParaRPr>
          </a:p>
        </p:txBody>
      </p:sp>
      <p:sp>
        <p:nvSpPr>
          <p:cNvPr id="348" name="TextBox 14"/>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11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349"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REQUIREMENT V</a:t>
            </a:r>
            <a:endParaRPr lang="en-US" sz="1200" b="0" u="none" strike="noStrike">
              <a:solidFill>
                <a:srgbClr val="000000"/>
              </a:solidFill>
              <a:effectLst/>
              <a:uFillTx/>
              <a:latin typeface="Arial"/>
            </a:endParaRPr>
          </a:p>
        </p:txBody>
      </p:sp>
      <p:sp>
        <p:nvSpPr>
          <p:cNvPr id="350"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How I know it is correct, safe and reliable</a:t>
            </a:r>
            <a:endParaRPr lang="en-US" sz="2700" b="0" u="none" strike="noStrike">
              <a:solidFill>
                <a:srgbClr val="000000"/>
              </a:solidFill>
              <a:effectLst/>
              <a:uFillTx/>
              <a:latin typeface="Arial"/>
            </a:endParaRPr>
          </a:p>
        </p:txBody>
      </p:sp>
      <p:sp>
        <p:nvSpPr>
          <p:cNvPr id="351"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sp>
        <p:nvSpPr>
          <p:cNvPr id="352" name="Rounded Rectangle 4"/>
          <p:cNvSpPr/>
          <p:nvPr/>
        </p:nvSpPr>
        <p:spPr>
          <a:xfrm>
            <a:off x="502920" y="1536120"/>
            <a:ext cx="3565440" cy="129780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3" name="TextBox 5"/>
          <p:cNvSpPr/>
          <p:nvPr/>
        </p:nvSpPr>
        <p:spPr>
          <a:xfrm>
            <a:off x="685800" y="1673280"/>
            <a:ext cx="31996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ROUTING ACCURACY</a:t>
            </a:r>
            <a:endParaRPr lang="en-US" sz="1050" b="0" u="none" strike="noStrike">
              <a:solidFill>
                <a:srgbClr val="000000"/>
              </a:solidFill>
              <a:effectLst/>
              <a:uFillTx/>
              <a:latin typeface="Arial"/>
            </a:endParaRPr>
          </a:p>
        </p:txBody>
      </p:sp>
      <p:sp>
        <p:nvSpPr>
          <p:cNvPr id="354" name="TextBox 6"/>
          <p:cNvSpPr/>
          <p:nvPr/>
        </p:nvSpPr>
        <p:spPr>
          <a:xfrm>
            <a:off x="685800" y="1965960"/>
            <a:ext cx="319968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0D665E"/>
                </a:solidFill>
                <a:effectLst/>
                <a:uFillTx/>
                <a:latin typeface="Calibri"/>
              </a:rPr>
              <a:t>90.2%</a:t>
            </a:r>
            <a:endParaRPr lang="en-US" sz="2700" b="0" u="none" strike="noStrike">
              <a:solidFill>
                <a:srgbClr val="000000"/>
              </a:solidFill>
              <a:effectLst/>
              <a:uFillTx/>
              <a:latin typeface="Arial"/>
            </a:endParaRPr>
          </a:p>
        </p:txBody>
      </p:sp>
      <p:sp>
        <p:nvSpPr>
          <p:cNvPr id="355" name="TextBox 7"/>
          <p:cNvSpPr/>
          <p:nvPr/>
        </p:nvSpPr>
        <p:spPr>
          <a:xfrm>
            <a:off x="685800" y="2468880"/>
            <a:ext cx="319968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mean of 4 runs · vs answer key</a:t>
            </a:r>
            <a:endParaRPr lang="en-US" sz="1000" b="0" u="none" strike="noStrike">
              <a:solidFill>
                <a:srgbClr val="000000"/>
              </a:solidFill>
              <a:effectLst/>
              <a:uFillTx/>
              <a:latin typeface="Arial"/>
            </a:endParaRPr>
          </a:p>
        </p:txBody>
      </p:sp>
      <p:sp>
        <p:nvSpPr>
          <p:cNvPr id="356" name="Rounded Rectangle 8"/>
          <p:cNvSpPr/>
          <p:nvPr/>
        </p:nvSpPr>
        <p:spPr>
          <a:xfrm>
            <a:off x="4288680" y="1536120"/>
            <a:ext cx="3565440" cy="129780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7" name="TextBox 9"/>
          <p:cNvSpPr/>
          <p:nvPr/>
        </p:nvSpPr>
        <p:spPr>
          <a:xfrm>
            <a:off x="4471560" y="1673280"/>
            <a:ext cx="31996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RUNBOOK HIT-RATE</a:t>
            </a:r>
            <a:endParaRPr lang="en-US" sz="1050" b="0" u="none" strike="noStrike">
              <a:solidFill>
                <a:srgbClr val="000000"/>
              </a:solidFill>
              <a:effectLst/>
              <a:uFillTx/>
              <a:latin typeface="Arial"/>
            </a:endParaRPr>
          </a:p>
        </p:txBody>
      </p:sp>
      <p:sp>
        <p:nvSpPr>
          <p:cNvPr id="358" name="TextBox 10"/>
          <p:cNvSpPr/>
          <p:nvPr/>
        </p:nvSpPr>
        <p:spPr>
          <a:xfrm>
            <a:off x="4471560" y="1965960"/>
            <a:ext cx="319968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22840"/>
                </a:solidFill>
                <a:effectLst/>
                <a:uFillTx/>
                <a:latin typeface="Calibri"/>
              </a:rPr>
              <a:t>100%</a:t>
            </a:r>
            <a:endParaRPr lang="en-US" sz="2700" b="0" u="none" strike="noStrike">
              <a:solidFill>
                <a:srgbClr val="000000"/>
              </a:solidFill>
              <a:effectLst/>
              <a:uFillTx/>
              <a:latin typeface="Arial"/>
            </a:endParaRPr>
          </a:p>
        </p:txBody>
      </p:sp>
      <p:sp>
        <p:nvSpPr>
          <p:cNvPr id="359" name="TextBox 11"/>
          <p:cNvSpPr/>
          <p:nvPr/>
        </p:nvSpPr>
        <p:spPr>
          <a:xfrm>
            <a:off x="4471560" y="2468880"/>
            <a:ext cx="319968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correct doc retrieved</a:t>
            </a:r>
            <a:endParaRPr lang="en-US" sz="1000" b="0" u="none" strike="noStrike">
              <a:solidFill>
                <a:srgbClr val="000000"/>
              </a:solidFill>
              <a:effectLst/>
              <a:uFillTx/>
              <a:latin typeface="Arial"/>
            </a:endParaRPr>
          </a:p>
        </p:txBody>
      </p:sp>
      <p:sp>
        <p:nvSpPr>
          <p:cNvPr id="360" name="Rounded Rectangle 12"/>
          <p:cNvSpPr/>
          <p:nvPr/>
        </p:nvSpPr>
        <p:spPr>
          <a:xfrm>
            <a:off x="8074080" y="1536120"/>
            <a:ext cx="3565440" cy="129780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1" name="TextBox 13"/>
          <p:cNvSpPr/>
          <p:nvPr/>
        </p:nvSpPr>
        <p:spPr>
          <a:xfrm>
            <a:off x="8256960" y="1673280"/>
            <a:ext cx="31996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RECALL@K</a:t>
            </a:r>
            <a:endParaRPr lang="en-US" sz="1050" b="0" u="none" strike="noStrike">
              <a:solidFill>
                <a:srgbClr val="000000"/>
              </a:solidFill>
              <a:effectLst/>
              <a:uFillTx/>
              <a:latin typeface="Arial"/>
            </a:endParaRPr>
          </a:p>
        </p:txBody>
      </p:sp>
      <p:sp>
        <p:nvSpPr>
          <p:cNvPr id="362" name="TextBox 14"/>
          <p:cNvSpPr/>
          <p:nvPr/>
        </p:nvSpPr>
        <p:spPr>
          <a:xfrm>
            <a:off x="8256960" y="1965960"/>
            <a:ext cx="319968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22840"/>
                </a:solidFill>
                <a:effectLst/>
                <a:uFillTx/>
                <a:latin typeface="Calibri"/>
              </a:rPr>
              <a:t>72.8%</a:t>
            </a:r>
            <a:endParaRPr lang="en-US" sz="2700" b="0" u="none" strike="noStrike">
              <a:solidFill>
                <a:srgbClr val="000000"/>
              </a:solidFill>
              <a:effectLst/>
              <a:uFillTx/>
              <a:latin typeface="Arial"/>
            </a:endParaRPr>
          </a:p>
        </p:txBody>
      </p:sp>
      <p:sp>
        <p:nvSpPr>
          <p:cNvPr id="363" name="TextBox 15"/>
          <p:cNvSpPr/>
          <p:nvPr/>
        </p:nvSpPr>
        <p:spPr>
          <a:xfrm>
            <a:off x="8256960" y="2468880"/>
            <a:ext cx="319968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of all labelled docs</a:t>
            </a:r>
            <a:endParaRPr lang="en-US" sz="1000" b="0" u="none" strike="noStrike">
              <a:solidFill>
                <a:srgbClr val="000000"/>
              </a:solidFill>
              <a:effectLst/>
              <a:uFillTx/>
              <a:latin typeface="Arial"/>
            </a:endParaRPr>
          </a:p>
        </p:txBody>
      </p:sp>
      <p:sp>
        <p:nvSpPr>
          <p:cNvPr id="364" name="Rounded Rectangle 16"/>
          <p:cNvSpPr/>
          <p:nvPr/>
        </p:nvSpPr>
        <p:spPr>
          <a:xfrm>
            <a:off x="502920" y="3054240"/>
            <a:ext cx="3565440" cy="129780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5" name="TextBox 17"/>
          <p:cNvSpPr/>
          <p:nvPr/>
        </p:nvSpPr>
        <p:spPr>
          <a:xfrm>
            <a:off x="685800" y="3191400"/>
            <a:ext cx="31996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GROUNDEDNESS</a:t>
            </a:r>
            <a:endParaRPr lang="en-US" sz="1050" b="0" u="none" strike="noStrike">
              <a:solidFill>
                <a:srgbClr val="000000"/>
              </a:solidFill>
              <a:effectLst/>
              <a:uFillTx/>
              <a:latin typeface="Arial"/>
            </a:endParaRPr>
          </a:p>
        </p:txBody>
      </p:sp>
      <p:sp>
        <p:nvSpPr>
          <p:cNvPr id="366" name="TextBox 18"/>
          <p:cNvSpPr/>
          <p:nvPr/>
        </p:nvSpPr>
        <p:spPr>
          <a:xfrm>
            <a:off x="685800" y="3483720"/>
            <a:ext cx="319968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0D665E"/>
                </a:solidFill>
                <a:effectLst/>
                <a:uFillTx/>
                <a:latin typeface="Calibri"/>
              </a:rPr>
              <a:t>100%</a:t>
            </a:r>
            <a:endParaRPr lang="en-US" sz="2700" b="0" u="none" strike="noStrike">
              <a:solidFill>
                <a:srgbClr val="000000"/>
              </a:solidFill>
              <a:effectLst/>
              <a:uFillTx/>
              <a:latin typeface="Arial"/>
            </a:endParaRPr>
          </a:p>
        </p:txBody>
      </p:sp>
      <p:sp>
        <p:nvSpPr>
          <p:cNvPr id="367" name="TextBox 19"/>
          <p:cNvSpPr/>
          <p:nvPr/>
        </p:nvSpPr>
        <p:spPr>
          <a:xfrm>
            <a:off x="685800" y="3986640"/>
            <a:ext cx="319968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148 specifics, 0 unsupported</a:t>
            </a:r>
            <a:endParaRPr lang="en-US" sz="1000" b="0" u="none" strike="noStrike">
              <a:solidFill>
                <a:srgbClr val="000000"/>
              </a:solidFill>
              <a:effectLst/>
              <a:uFillTx/>
              <a:latin typeface="Arial"/>
            </a:endParaRPr>
          </a:p>
        </p:txBody>
      </p:sp>
      <p:sp>
        <p:nvSpPr>
          <p:cNvPr id="368" name="Rounded Rectangle 20"/>
          <p:cNvSpPr/>
          <p:nvPr/>
        </p:nvSpPr>
        <p:spPr>
          <a:xfrm>
            <a:off x="4288680" y="3054240"/>
            <a:ext cx="3565440" cy="129780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9" name="TextBox 21"/>
          <p:cNvSpPr/>
          <p:nvPr/>
        </p:nvSpPr>
        <p:spPr>
          <a:xfrm>
            <a:off x="4471560" y="3191400"/>
            <a:ext cx="31996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GUARDRAIL PASS</a:t>
            </a:r>
            <a:endParaRPr lang="en-US" sz="1050" b="0" u="none" strike="noStrike">
              <a:solidFill>
                <a:srgbClr val="000000"/>
              </a:solidFill>
              <a:effectLst/>
              <a:uFillTx/>
              <a:latin typeface="Arial"/>
            </a:endParaRPr>
          </a:p>
        </p:txBody>
      </p:sp>
      <p:sp>
        <p:nvSpPr>
          <p:cNvPr id="370" name="TextBox 22"/>
          <p:cNvSpPr/>
          <p:nvPr/>
        </p:nvSpPr>
        <p:spPr>
          <a:xfrm>
            <a:off x="4471560" y="3483720"/>
            <a:ext cx="319968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2B9455"/>
                </a:solidFill>
                <a:effectLst/>
                <a:uFillTx/>
                <a:latin typeface="Calibri"/>
              </a:rPr>
              <a:t>100%</a:t>
            </a:r>
            <a:endParaRPr lang="en-US" sz="2700" b="0" u="none" strike="noStrike">
              <a:solidFill>
                <a:srgbClr val="000000"/>
              </a:solidFill>
              <a:effectLst/>
              <a:uFillTx/>
              <a:latin typeface="Arial"/>
            </a:endParaRPr>
          </a:p>
        </p:txBody>
      </p:sp>
      <p:sp>
        <p:nvSpPr>
          <p:cNvPr id="371" name="TextBox 23"/>
          <p:cNvSpPr/>
          <p:nvPr/>
        </p:nvSpPr>
        <p:spPr>
          <a:xfrm>
            <a:off x="4471560" y="3986640"/>
            <a:ext cx="319968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no budget or policy breach</a:t>
            </a:r>
            <a:endParaRPr lang="en-US" sz="1000" b="0" u="none" strike="noStrike">
              <a:solidFill>
                <a:srgbClr val="000000"/>
              </a:solidFill>
              <a:effectLst/>
              <a:uFillTx/>
              <a:latin typeface="Arial"/>
            </a:endParaRPr>
          </a:p>
        </p:txBody>
      </p:sp>
      <p:sp>
        <p:nvSpPr>
          <p:cNvPr id="372" name="Rounded Rectangle 24"/>
          <p:cNvSpPr/>
          <p:nvPr/>
        </p:nvSpPr>
        <p:spPr>
          <a:xfrm>
            <a:off x="8074080" y="3054240"/>
            <a:ext cx="3565440" cy="129780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3" name="TextBox 25"/>
          <p:cNvSpPr/>
          <p:nvPr/>
        </p:nvSpPr>
        <p:spPr>
          <a:xfrm>
            <a:off x="8256960" y="3191400"/>
            <a:ext cx="31996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RESPONSE P95</a:t>
            </a:r>
            <a:endParaRPr lang="en-US" sz="1050" b="0" u="none" strike="noStrike">
              <a:solidFill>
                <a:srgbClr val="000000"/>
              </a:solidFill>
              <a:effectLst/>
              <a:uFillTx/>
              <a:latin typeface="Arial"/>
            </a:endParaRPr>
          </a:p>
        </p:txBody>
      </p:sp>
      <p:sp>
        <p:nvSpPr>
          <p:cNvPr id="374" name="TextBox 26"/>
          <p:cNvSpPr/>
          <p:nvPr/>
        </p:nvSpPr>
        <p:spPr>
          <a:xfrm>
            <a:off x="8256960" y="3483720"/>
            <a:ext cx="319968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22840"/>
                </a:solidFill>
                <a:effectLst/>
                <a:uFillTx/>
                <a:latin typeface="Calibri"/>
              </a:rPr>
              <a:t>3.9s</a:t>
            </a:r>
            <a:endParaRPr lang="en-US" sz="2700" b="0" u="none" strike="noStrike">
              <a:solidFill>
                <a:srgbClr val="000000"/>
              </a:solidFill>
              <a:effectLst/>
              <a:uFillTx/>
              <a:latin typeface="Arial"/>
            </a:endParaRPr>
          </a:p>
        </p:txBody>
      </p:sp>
      <p:sp>
        <p:nvSpPr>
          <p:cNvPr id="375" name="TextBox 27"/>
          <p:cNvSpPr/>
          <p:nvPr/>
        </p:nvSpPr>
        <p:spPr>
          <a:xfrm>
            <a:off x="8256960" y="3986640"/>
            <a:ext cx="319968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true wall-clock</a:t>
            </a:r>
            <a:endParaRPr lang="en-US" sz="1000" b="0" u="none" strike="noStrike">
              <a:solidFill>
                <a:srgbClr val="000000"/>
              </a:solidFill>
              <a:effectLst/>
              <a:uFillTx/>
              <a:latin typeface="Arial"/>
            </a:endParaRPr>
          </a:p>
        </p:txBody>
      </p:sp>
      <p:sp>
        <p:nvSpPr>
          <p:cNvPr id="376" name="TextBox 28"/>
          <p:cNvSpPr/>
          <p:nvPr/>
        </p:nvSpPr>
        <p:spPr>
          <a:xfrm>
            <a:off x="502920" y="4480560"/>
            <a:ext cx="1115496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WHAT MAKES THESE TRUSTWORTHY</a:t>
            </a:r>
            <a:endParaRPr lang="en-US" sz="1200" b="0" u="none" strike="noStrike">
              <a:solidFill>
                <a:srgbClr val="000000"/>
              </a:solidFill>
              <a:effectLst/>
              <a:uFillTx/>
              <a:latin typeface="Arial"/>
            </a:endParaRPr>
          </a:p>
        </p:txBody>
      </p:sp>
      <p:sp>
        <p:nvSpPr>
          <p:cNvPr id="377" name="TextBox 29"/>
          <p:cNvSpPr/>
          <p:nvPr/>
        </p:nvSpPr>
        <p:spPr>
          <a:xfrm>
            <a:off x="502920" y="4846320"/>
            <a:ext cx="11154960" cy="1553760"/>
          </a:xfrm>
          <a:prstGeom prst="rect">
            <a:avLst/>
          </a:prstGeom>
          <a:noFill/>
          <a:ln w="0">
            <a:noFill/>
          </a:ln>
        </p:spPr>
        <p:style>
          <a:lnRef idx="0"/>
          <a:fillRef idx="0"/>
          <a:effectRef idx="0"/>
          <a:fontRef idx="minor"/>
        </p:style>
        <p:txBody>
          <a:bodyPr lIns="0" tIns="0" rIns="0" bIns="0" anchor="t">
            <a:spAutoFit/>
          </a:bodyPr>
          <a:p>
            <a:pPr defTabSz="457200">
              <a:lnSpc>
                <a:spcPct val="112000"/>
              </a:lnSpc>
              <a:spcAft>
                <a:spcPts val="1100"/>
              </a:spcAft>
              <a:tabLst>
                <a:tab pos="0" algn="l"/>
              </a:tabLst>
            </a:pPr>
            <a:r>
              <a:rPr lang="en-US" sz="1250" b="1" u="none" strike="noStrike">
                <a:solidFill>
                  <a:srgbClr val="179285"/>
                </a:solidFill>
                <a:effectLst/>
                <a:uFillTx/>
                <a:latin typeface="Calibri"/>
              </a:rPr>
              <a:t>•  </a:t>
            </a:r>
            <a:r>
              <a:rPr lang="en-US" sz="1250" b="1" u="none" strike="noStrike">
                <a:solidFill>
                  <a:srgbClr val="1A202A"/>
                </a:solidFill>
                <a:effectLst/>
                <a:uFillTx/>
                <a:latin typeface="Calibri"/>
              </a:rPr>
              <a:t>Nothing is simulated:  </a:t>
            </a:r>
            <a:r>
              <a:rPr lang="en-US" sz="1250" b="0" u="none" strike="noStrike">
                <a:solidFill>
                  <a:srgbClr val="57606D"/>
                </a:solidFill>
                <a:effectLst/>
                <a:uFillTx/>
                <a:latin typeface="Calibri"/>
              </a:rPr>
              <a:t>Every run calls the live agent over HTTP for all 256 tickets — no mocks, no cached answers. One command reproduces it.</a:t>
            </a:r>
            <a:endParaRPr lang="en-US" sz="1250" b="0" u="none" strike="noStrike">
              <a:solidFill>
                <a:srgbClr val="000000"/>
              </a:solidFill>
              <a:effectLst/>
              <a:uFillTx/>
              <a:latin typeface="Arial"/>
            </a:endParaRPr>
          </a:p>
          <a:p>
            <a:pPr defTabSz="457200">
              <a:lnSpc>
                <a:spcPct val="112000"/>
              </a:lnSpc>
              <a:spcAft>
                <a:spcPts val="1100"/>
              </a:spcAft>
              <a:tabLst>
                <a:tab pos="0" algn="l"/>
              </a:tabLst>
            </a:pPr>
            <a:r>
              <a:rPr lang="en-US" sz="1250" b="1" u="none" strike="noStrike">
                <a:solidFill>
                  <a:srgbClr val="179285"/>
                </a:solidFill>
                <a:effectLst/>
                <a:uFillTx/>
                <a:latin typeface="Calibri"/>
              </a:rPr>
              <a:t>•  </a:t>
            </a:r>
            <a:r>
              <a:rPr lang="en-US" sz="1250" b="1" u="none" strike="noStrike">
                <a:solidFill>
                  <a:srgbClr val="1A202A"/>
                </a:solidFill>
                <a:effectLst/>
                <a:uFillTx/>
                <a:latin typeface="Calibri"/>
              </a:rPr>
              <a:t>Self-describing guardrails:  </a:t>
            </a:r>
            <a:r>
              <a:rPr lang="en-US" sz="1250" b="0" u="none" strike="noStrike">
                <a:solidFill>
                  <a:srgbClr val="57606D"/>
                </a:solidFill>
                <a:effectLst/>
                <a:uFillTx/>
                <a:latin typeface="Calibri"/>
              </a:rPr>
              <a:t>The agent publishes its own search budget into the trace, so the guardrail checker grades against the real policy instead of a hardcoded copy that drifted out of sync twice.</a:t>
            </a:r>
            <a:endParaRPr lang="en-US" sz="1250" b="0" u="none" strike="noStrike">
              <a:solidFill>
                <a:srgbClr val="000000"/>
              </a:solidFill>
              <a:effectLst/>
              <a:uFillTx/>
              <a:latin typeface="Arial"/>
            </a:endParaRPr>
          </a:p>
          <a:p>
            <a:pPr defTabSz="457200">
              <a:lnSpc>
                <a:spcPct val="112000"/>
              </a:lnSpc>
              <a:spcAft>
                <a:spcPts val="1100"/>
              </a:spcAft>
              <a:tabLst>
                <a:tab pos="0" algn="l"/>
              </a:tabLst>
            </a:pPr>
            <a:r>
              <a:rPr lang="en-US" sz="1250" b="1" u="none" strike="noStrike">
                <a:solidFill>
                  <a:srgbClr val="179285"/>
                </a:solidFill>
                <a:effectLst/>
                <a:uFillTx/>
                <a:latin typeface="Calibri"/>
              </a:rPr>
              <a:t>•  </a:t>
            </a:r>
            <a:r>
              <a:rPr lang="en-US" sz="1250" b="1" u="none" strike="noStrike">
                <a:solidFill>
                  <a:srgbClr val="1A202A"/>
                </a:solidFill>
                <a:effectLst/>
                <a:uFillTx/>
                <a:latin typeface="Calibri"/>
              </a:rPr>
              <a:t>Latency measured honestly:  </a:t>
            </a:r>
            <a:r>
              <a:rPr lang="en-US" sz="1250" b="0" u="none" strike="noStrike">
                <a:solidFill>
                  <a:srgbClr val="57606D"/>
                </a:solidFill>
                <a:effectLst/>
                <a:uFillTx/>
                <a:latin typeface="Calibri"/>
              </a:rPr>
              <a:t>Latency comes from the same calls made for accuracy, stamped as true wall-clock — concurrent runs are flagged invalid and excluded from the trend history rather than quietly inflating p95.</a:t>
            </a:r>
            <a:endParaRPr lang="en-US" sz="1250" b="0" u="none" strike="noStrike">
              <a:solidFill>
                <a:srgbClr val="000000"/>
              </a:solidFill>
              <a:effectLst/>
              <a:uFillTx/>
              <a:latin typeface="Arial"/>
            </a:endParaRPr>
          </a:p>
        </p:txBody>
      </p:sp>
      <p:sp>
        <p:nvSpPr>
          <p:cNvPr id="378" name="TextBox 30"/>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ServeWell IT Support Agent Suite — phData Intelligence Platform</a:t>
            </a:r>
            <a:endParaRPr lang="en-US" sz="900" b="0" u="none" strike="noStrike">
              <a:solidFill>
                <a:srgbClr val="000000"/>
              </a:solidFill>
              <a:effectLst/>
              <a:uFillTx/>
              <a:latin typeface="Arial"/>
            </a:endParaRPr>
          </a:p>
        </p:txBody>
      </p:sp>
      <p:sp>
        <p:nvSpPr>
          <p:cNvPr id="379" name="TextBox 31"/>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12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380"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EVALUATION</a:t>
            </a:r>
            <a:endParaRPr lang="en-US" sz="1200" b="0" u="none" strike="noStrike">
              <a:solidFill>
                <a:srgbClr val="000000"/>
              </a:solidFill>
              <a:effectLst/>
              <a:uFillTx/>
              <a:latin typeface="Arial"/>
            </a:endParaRPr>
          </a:p>
        </p:txBody>
      </p:sp>
      <p:sp>
        <p:nvSpPr>
          <p:cNvPr id="381"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Routing accuracy — four measurements, from the corrected baseline</a:t>
            </a:r>
            <a:endParaRPr lang="en-US" sz="2700" b="0" u="none" strike="noStrike">
              <a:solidFill>
                <a:srgbClr val="000000"/>
              </a:solidFill>
              <a:effectLst/>
              <a:uFillTx/>
              <a:latin typeface="Arial"/>
            </a:endParaRPr>
          </a:p>
        </p:txBody>
      </p:sp>
      <p:sp>
        <p:nvSpPr>
          <p:cNvPr id="382"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graphicFrame>
        <p:nvGraphicFramePr>
          <p:cNvPr id="383" name="Chart 4"/>
          <p:cNvGraphicFramePr/>
          <p:nvPr/>
        </p:nvGraphicFramePr>
        <p:xfrm>
          <a:off x="502920" y="1481400"/>
          <a:ext cx="8137440" cy="4342680"/>
        </p:xfrm>
        <a:graphic>
          <a:graphicData uri="http://schemas.openxmlformats.org/drawingml/2006/chart">
            <c:chart xmlns:c="http://schemas.openxmlformats.org/drawingml/2006/chart" xmlns:r="http://schemas.openxmlformats.org/officeDocument/2006/relationships" r:id="rId1"/>
          </a:graphicData>
        </a:graphic>
      </p:graphicFrame>
      <p:sp>
        <p:nvSpPr>
          <p:cNvPr id="384" name="TextBox 5"/>
          <p:cNvSpPr/>
          <p:nvPr/>
        </p:nvSpPr>
        <p:spPr>
          <a:xfrm>
            <a:off x="8888040" y="1572840"/>
            <a:ext cx="278820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00" b="1" u="none" strike="noStrike">
                <a:solidFill>
                  <a:srgbClr val="179285"/>
                </a:solidFill>
                <a:effectLst/>
                <a:uFillTx/>
                <a:latin typeface="Calibri"/>
              </a:rPr>
              <a:t>EACH STEP WAS MEASURED</a:t>
            </a:r>
            <a:endParaRPr lang="en-US" sz="1100" b="0" u="none" strike="noStrike">
              <a:solidFill>
                <a:srgbClr val="000000"/>
              </a:solidFill>
              <a:effectLst/>
              <a:uFillTx/>
              <a:latin typeface="Arial"/>
            </a:endParaRPr>
          </a:p>
        </p:txBody>
      </p:sp>
      <p:sp>
        <p:nvSpPr>
          <p:cNvPr id="385" name="TextBox 6"/>
          <p:cNvSpPr/>
          <p:nvPr/>
        </p:nvSpPr>
        <p:spPr>
          <a:xfrm>
            <a:off x="8888040" y="1883520"/>
            <a:ext cx="2788200" cy="137088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en-US" sz="1150" b="0" u="none" strike="noStrike">
                <a:solidFill>
                  <a:srgbClr val="57606D"/>
                </a:solidFill>
                <a:effectLst/>
                <a:uFillTx/>
                <a:latin typeface="Calibri"/>
              </a:rPr>
              <a:t>Not one prompt rewrite. Each gain came from reading the failures, forming a hypothesis, and testing it at n=220.</a:t>
            </a:r>
            <a:endParaRPr lang="en-US" sz="1150" b="0" u="none" strike="noStrike">
              <a:solidFill>
                <a:srgbClr val="000000"/>
              </a:solidFill>
              <a:effectLst/>
              <a:uFillTx/>
              <a:latin typeface="Arial"/>
            </a:endParaRPr>
          </a:p>
        </p:txBody>
      </p:sp>
      <p:sp>
        <p:nvSpPr>
          <p:cNvPr id="386" name="Rounded Rectangle 7"/>
          <p:cNvSpPr/>
          <p:nvPr/>
        </p:nvSpPr>
        <p:spPr>
          <a:xfrm>
            <a:off x="8888040" y="3017520"/>
            <a:ext cx="2769840" cy="116964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7" name="TextBox 8"/>
          <p:cNvSpPr/>
          <p:nvPr/>
        </p:nvSpPr>
        <p:spPr>
          <a:xfrm>
            <a:off x="9070920" y="3154680"/>
            <a:ext cx="24040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TOTAL GAIN</a:t>
            </a:r>
            <a:endParaRPr lang="en-US" sz="1050" b="0" u="none" strike="noStrike">
              <a:solidFill>
                <a:srgbClr val="000000"/>
              </a:solidFill>
              <a:effectLst/>
              <a:uFillTx/>
              <a:latin typeface="Arial"/>
            </a:endParaRPr>
          </a:p>
        </p:txBody>
      </p:sp>
      <p:sp>
        <p:nvSpPr>
          <p:cNvPr id="388" name="TextBox 9"/>
          <p:cNvSpPr/>
          <p:nvPr/>
        </p:nvSpPr>
        <p:spPr>
          <a:xfrm>
            <a:off x="9070920" y="3447360"/>
            <a:ext cx="240408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0D665E"/>
                </a:solidFill>
                <a:effectLst/>
                <a:uFillTx/>
                <a:latin typeface="Calibri"/>
              </a:rPr>
              <a:t>+11 pts</a:t>
            </a:r>
            <a:endParaRPr lang="en-US" sz="2700" b="0" u="none" strike="noStrike">
              <a:solidFill>
                <a:srgbClr val="000000"/>
              </a:solidFill>
              <a:effectLst/>
              <a:uFillTx/>
              <a:latin typeface="Arial"/>
            </a:endParaRPr>
          </a:p>
        </p:txBody>
      </p:sp>
      <p:sp>
        <p:nvSpPr>
          <p:cNvPr id="389" name="TextBox 10"/>
          <p:cNvSpPr/>
          <p:nvPr/>
        </p:nvSpPr>
        <p:spPr>
          <a:xfrm>
            <a:off x="9070920" y="3822120"/>
            <a:ext cx="240408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79.5% → 90.2%</a:t>
            </a:r>
            <a:endParaRPr lang="en-US" sz="1000" b="0" u="none" strike="noStrike">
              <a:solidFill>
                <a:srgbClr val="000000"/>
              </a:solidFill>
              <a:effectLst/>
              <a:uFillTx/>
              <a:latin typeface="Arial"/>
            </a:endParaRPr>
          </a:p>
        </p:txBody>
      </p:sp>
      <p:sp>
        <p:nvSpPr>
          <p:cNvPr id="390" name="Rounded Rectangle 11"/>
          <p:cNvSpPr/>
          <p:nvPr/>
        </p:nvSpPr>
        <p:spPr>
          <a:xfrm>
            <a:off x="8888040" y="4343400"/>
            <a:ext cx="2769840" cy="116964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1" name="TextBox 12"/>
          <p:cNvSpPr/>
          <p:nvPr/>
        </p:nvSpPr>
        <p:spPr>
          <a:xfrm>
            <a:off x="9070920" y="4480560"/>
            <a:ext cx="24040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ESCALATION CALIBRATION</a:t>
            </a:r>
            <a:endParaRPr lang="en-US" sz="1050" b="0" u="none" strike="noStrike">
              <a:solidFill>
                <a:srgbClr val="000000"/>
              </a:solidFill>
              <a:effectLst/>
              <a:uFillTx/>
              <a:latin typeface="Arial"/>
            </a:endParaRPr>
          </a:p>
        </p:txBody>
      </p:sp>
      <p:sp>
        <p:nvSpPr>
          <p:cNvPr id="392" name="TextBox 13"/>
          <p:cNvSpPr/>
          <p:nvPr/>
        </p:nvSpPr>
        <p:spPr>
          <a:xfrm>
            <a:off x="9070920" y="4773240"/>
            <a:ext cx="240408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22840"/>
                </a:solidFill>
                <a:effectLst/>
                <a:uFillTx/>
                <a:latin typeface="Calibri"/>
              </a:rPr>
              <a:t>66% vs 65%</a:t>
            </a:r>
            <a:endParaRPr lang="en-US" sz="2700" b="0" u="none" strike="noStrike">
              <a:solidFill>
                <a:srgbClr val="000000"/>
              </a:solidFill>
              <a:effectLst/>
              <a:uFillTx/>
              <a:latin typeface="Arial"/>
            </a:endParaRPr>
          </a:p>
        </p:txBody>
      </p:sp>
      <p:sp>
        <p:nvSpPr>
          <p:cNvPr id="393" name="TextBox 14"/>
          <p:cNvSpPr/>
          <p:nvPr/>
        </p:nvSpPr>
        <p:spPr>
          <a:xfrm>
            <a:off x="9070920" y="5148000"/>
            <a:ext cx="240408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predicted vs expected</a:t>
            </a:r>
            <a:endParaRPr lang="en-US" sz="1000" b="0" u="none" strike="noStrike">
              <a:solidFill>
                <a:srgbClr val="000000"/>
              </a:solidFill>
              <a:effectLst/>
              <a:uFillTx/>
              <a:latin typeface="Arial"/>
            </a:endParaRPr>
          </a:p>
        </p:txBody>
      </p:sp>
      <p:sp>
        <p:nvSpPr>
          <p:cNvPr id="394" name="Rounded Rectangle 15"/>
          <p:cNvSpPr/>
          <p:nvPr/>
        </p:nvSpPr>
        <p:spPr>
          <a:xfrm>
            <a:off x="8888040" y="5669280"/>
            <a:ext cx="2769840" cy="621000"/>
          </a:xfrm>
          <a:prstGeom prst="roundRect">
            <a:avLst>
              <a:gd name="adj" fmla="val 14000"/>
            </a:avLst>
          </a:prstGeom>
          <a:solidFill>
            <a:srgbClr val="FDF4E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5" name="TextBox 16"/>
          <p:cNvSpPr/>
          <p:nvPr/>
        </p:nvSpPr>
        <p:spPr>
          <a:xfrm>
            <a:off x="9052560" y="5779080"/>
            <a:ext cx="2468160" cy="456480"/>
          </a:xfrm>
          <a:prstGeom prst="rect">
            <a:avLst/>
          </a:prstGeom>
          <a:noFill/>
          <a:ln w="0">
            <a:noFill/>
          </a:ln>
        </p:spPr>
        <p:style>
          <a:lnRef idx="0"/>
          <a:fillRef idx="0"/>
          <a:effectRef idx="0"/>
          <a:fontRef idx="minor"/>
        </p:style>
        <p:txBody>
          <a:bodyPr lIns="0" tIns="0" rIns="0" bIns="0" anchor="t">
            <a:spAutoFit/>
          </a:bodyPr>
          <a:p>
            <a:pPr defTabSz="457200">
              <a:lnSpc>
                <a:spcPct val="110000"/>
              </a:lnSpc>
            </a:pPr>
            <a:r>
              <a:rPr lang="en-US" sz="1000" b="0" u="none" strike="noStrike">
                <a:solidFill>
                  <a:srgbClr val="A86A14"/>
                </a:solidFill>
                <a:effectLst/>
                <a:uFillTx/>
                <a:latin typeface="Calibri"/>
              </a:rPr>
              <a:t>One attempt overshot to 83% and was reverted.</a:t>
            </a:r>
            <a:endParaRPr lang="en-US" sz="1000" b="0" u="none" strike="noStrike">
              <a:solidFill>
                <a:srgbClr val="000000"/>
              </a:solidFill>
              <a:effectLst/>
              <a:uFillTx/>
              <a:latin typeface="Arial"/>
            </a:endParaRPr>
          </a:p>
        </p:txBody>
      </p:sp>
      <p:sp>
        <p:nvSpPr>
          <p:cNvPr id="396" name="TextBox 17"/>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ServeWell IT Support Agent Suite — phData Intelligence Platform</a:t>
            </a:r>
            <a:endParaRPr lang="en-US" sz="900" b="0" u="none" strike="noStrike">
              <a:solidFill>
                <a:srgbClr val="000000"/>
              </a:solidFill>
              <a:effectLst/>
              <a:uFillTx/>
              <a:latin typeface="Arial"/>
            </a:endParaRPr>
          </a:p>
        </p:txBody>
      </p:sp>
      <p:sp>
        <p:nvSpPr>
          <p:cNvPr id="397" name="TextBox 18"/>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14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398"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RELIABILITY</a:t>
            </a:r>
            <a:endParaRPr lang="en-US" sz="1200" b="0" u="none" strike="noStrike">
              <a:solidFill>
                <a:srgbClr val="000000"/>
              </a:solidFill>
              <a:effectLst/>
              <a:uFillTx/>
              <a:latin typeface="Arial"/>
            </a:endParaRPr>
          </a:p>
        </p:txBody>
      </p:sp>
      <p:sp>
        <p:nvSpPr>
          <p:cNvPr id="399"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Making it fast — and measuring it honestly</a:t>
            </a:r>
            <a:endParaRPr lang="en-US" sz="2700" b="0" u="none" strike="noStrike">
              <a:solidFill>
                <a:srgbClr val="000000"/>
              </a:solidFill>
              <a:effectLst/>
              <a:uFillTx/>
              <a:latin typeface="Arial"/>
            </a:endParaRPr>
          </a:p>
        </p:txBody>
      </p:sp>
      <p:sp>
        <p:nvSpPr>
          <p:cNvPr id="400"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graphicFrame>
        <p:nvGraphicFramePr>
          <p:cNvPr id="401" name="Table 4"/>
          <p:cNvGraphicFramePr/>
          <p:nvPr/>
        </p:nvGraphicFramePr>
        <p:xfrm>
          <a:off x="502920" y="1554480"/>
          <a:ext cx="11155320" cy="2376000"/>
        </p:xfrm>
        <a:graphic>
          <a:graphicData uri="http://schemas.openxmlformats.org/drawingml/2006/table">
            <a:tbl>
              <a:tblPr/>
              <a:tblGrid>
                <a:gridCol w="2468880"/>
                <a:gridCol w="3931920"/>
                <a:gridCol w="3200400"/>
                <a:gridCol w="1554480"/>
              </a:tblGrid>
              <a:tr h="475200">
                <a:tc>
                  <a:txBody>
                    <a:bodyPr tIns="63360" bIns="63360" anchor="ctr">
                      <a:noAutofit/>
                    </a:bodyPr>
                    <a:p>
                      <a:pPr defTabSz="457200">
                        <a:lnSpc>
                          <a:spcPct val="100000"/>
                        </a:lnSpc>
                      </a:pPr>
                      <a:r>
                        <a:rPr lang="en-US" sz="1150" b="1" u="none" strike="noStrike">
                          <a:solidFill>
                            <a:srgbClr val="FFFFFF"/>
                          </a:solidFill>
                          <a:effectLst/>
                          <a:uFillTx/>
                          <a:latin typeface="Calibri"/>
                        </a:rPr>
                        <a:t>What was slow</a:t>
                      </a:r>
                      <a:endParaRPr lang="en-US" sz="1150" b="0" u="none" strike="noStrike">
                        <a:solidFill>
                          <a:srgbClr val="FFFFFF"/>
                        </a:solidFill>
                        <a:effectLst/>
                        <a:uFillTx/>
                        <a:latin typeface="Arial"/>
                      </a:endParaRPr>
                    </a:p>
                  </a:txBody>
                  <a:tcPr anchor="ctr" marL="91440" marR="91440" marT="63360" marB="63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840"/>
                    </a:solidFill>
                  </a:tcPr>
                </a:tc>
                <a:tc>
                  <a:txBody>
                    <a:bodyPr tIns="63360" bIns="63360" anchor="ctr">
                      <a:noAutofit/>
                    </a:bodyPr>
                    <a:p>
                      <a:pPr defTabSz="457200">
                        <a:lnSpc>
                          <a:spcPct val="100000"/>
                        </a:lnSpc>
                      </a:pPr>
                      <a:r>
                        <a:rPr lang="en-US" sz="1150" b="1" u="none" strike="noStrike">
                          <a:solidFill>
                            <a:srgbClr val="FFFFFF"/>
                          </a:solidFill>
                          <a:effectLst/>
                          <a:uFillTx/>
                          <a:latin typeface="Calibri"/>
                        </a:rPr>
                        <a:t>Why</a:t>
                      </a:r>
                      <a:endParaRPr lang="en-US" sz="1150" b="0" u="none" strike="noStrike">
                        <a:solidFill>
                          <a:srgbClr val="FFFFFF"/>
                        </a:solidFill>
                        <a:effectLst/>
                        <a:uFillTx/>
                        <a:latin typeface="Arial"/>
                      </a:endParaRPr>
                    </a:p>
                  </a:txBody>
                  <a:tcPr anchor="ctr" marL="91440" marR="91440" marT="63360" marB="63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840"/>
                    </a:solidFill>
                  </a:tcPr>
                </a:tc>
                <a:tc>
                  <a:txBody>
                    <a:bodyPr tIns="63360" bIns="63360" anchor="ctr">
                      <a:noAutofit/>
                    </a:bodyPr>
                    <a:p>
                      <a:pPr defTabSz="457200">
                        <a:lnSpc>
                          <a:spcPct val="100000"/>
                        </a:lnSpc>
                      </a:pPr>
                      <a:r>
                        <a:rPr lang="en-US" sz="1150" b="1" u="none" strike="noStrike">
                          <a:solidFill>
                            <a:srgbClr val="FFFFFF"/>
                          </a:solidFill>
                          <a:effectLst/>
                          <a:uFillTx/>
                          <a:latin typeface="Calibri"/>
                        </a:rPr>
                        <a:t>Fix</a:t>
                      </a:r>
                      <a:endParaRPr lang="en-US" sz="1150" b="0" u="none" strike="noStrike">
                        <a:solidFill>
                          <a:srgbClr val="FFFFFF"/>
                        </a:solidFill>
                        <a:effectLst/>
                        <a:uFillTx/>
                        <a:latin typeface="Arial"/>
                      </a:endParaRPr>
                    </a:p>
                  </a:txBody>
                  <a:tcPr anchor="ctr" marL="91440" marR="91440" marT="63360" marB="63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840"/>
                    </a:solidFill>
                  </a:tcPr>
                </a:tc>
                <a:tc>
                  <a:txBody>
                    <a:bodyPr tIns="63360" bIns="63360" anchor="ctr">
                      <a:noAutofit/>
                    </a:bodyPr>
                    <a:p>
                      <a:pPr defTabSz="457200">
                        <a:lnSpc>
                          <a:spcPct val="100000"/>
                        </a:lnSpc>
                      </a:pPr>
                      <a:r>
                        <a:rPr lang="en-US" sz="1150" b="1" u="none" strike="noStrike">
                          <a:solidFill>
                            <a:srgbClr val="FFFFFF"/>
                          </a:solidFill>
                          <a:effectLst/>
                          <a:uFillTx/>
                          <a:latin typeface="Calibri"/>
                        </a:rPr>
                        <a:t>Effect</a:t>
                      </a:r>
                      <a:endParaRPr lang="en-US" sz="1150" b="0" u="none" strike="noStrike">
                        <a:solidFill>
                          <a:srgbClr val="FFFFFF"/>
                        </a:solidFill>
                        <a:effectLst/>
                        <a:uFillTx/>
                        <a:latin typeface="Arial"/>
                      </a:endParaRPr>
                    </a:p>
                  </a:txBody>
                  <a:tcPr anchor="ctr" marL="91440" marR="91440" marT="63360" marB="63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840"/>
                    </a:solidFill>
                  </a:tcPr>
                </a:tc>
              </a:tr>
              <a:tr h="475200">
                <a:tc>
                  <a:txBody>
                    <a:bodyPr tIns="50760" bIns="50760" anchor="ctr">
                      <a:noAutofit/>
                    </a:bodyPr>
                    <a:p>
                      <a:pPr defTabSz="457200">
                        <a:lnSpc>
                          <a:spcPct val="100000"/>
                        </a:lnSpc>
                      </a:pPr>
                      <a:r>
                        <a:rPr lang="en-US" sz="1050" b="0" u="none" strike="noStrike">
                          <a:solidFill>
                            <a:srgbClr val="1A202A"/>
                          </a:solidFill>
                          <a:effectLst/>
                          <a:uFillTx/>
                          <a:latin typeface="Calibri"/>
                        </a:rPr>
                        <a:t>Summed step timings</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Over-counted 25–65%: concurrent calls double-counted</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True wall-clock stamped on every exit path</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correctness</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75200">
                <a:tc>
                  <a:txBody>
                    <a:bodyPr tIns="50760" bIns="50760" anchor="ctr">
                      <a:noAutofit/>
                    </a:bodyPr>
                    <a:p>
                      <a:pPr defTabSz="457200">
                        <a:lnSpc>
                          <a:spcPct val="100000"/>
                        </a:lnSpc>
                      </a:pPr>
                      <a:r>
                        <a:rPr lang="en-US" sz="1050" b="0" u="none" strike="noStrike">
                          <a:solidFill>
                            <a:srgbClr val="1A202A"/>
                          </a:solidFill>
                          <a:effectLst/>
                          <a:uFillTx/>
                          <a:latin typeface="Calibri"/>
                        </a:rPr>
                        <a:t>Duplicate action proposals</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Model re-proposed the same action, burning LLM turns</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Capped at one successful proposal per ticket</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−27% avg</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r>
              <a:tr h="475200">
                <a:tc>
                  <a:txBody>
                    <a:bodyPr tIns="50760" bIns="50760" anchor="ctr">
                      <a:noAutofit/>
                    </a:bodyPr>
                    <a:p>
                      <a:pPr defTabSz="457200">
                        <a:lnSpc>
                          <a:spcPct val="100000"/>
                        </a:lnSpc>
                      </a:pPr>
                      <a:r>
                        <a:rPr lang="en-US" sz="1050" b="0" u="none" strike="noStrike">
                          <a:solidFill>
                            <a:srgbClr val="1A202A"/>
                          </a:solidFill>
                          <a:effectLst/>
                          <a:uFillTx/>
                          <a:latin typeface="Calibri"/>
                        </a:rPr>
                        <a:t>Retry on invalid actions</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Refusal invited another guess for assets with no actions</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Refusal now names that none exist</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outlier removed</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75200">
                <a:tc>
                  <a:txBody>
                    <a:bodyPr tIns="50760" bIns="50760" anchor="ctr">
                      <a:noAutofit/>
                    </a:bodyPr>
                    <a:p>
                      <a:pPr defTabSz="457200">
                        <a:lnSpc>
                          <a:spcPct val="100000"/>
                        </a:lnSpc>
                      </a:pPr>
                      <a:r>
                        <a:rPr lang="en-US" sz="1050" b="0" u="none" strike="noStrike">
                          <a:solidFill>
                            <a:srgbClr val="1A202A"/>
                          </a:solidFill>
                          <a:effectLst/>
                          <a:uFillTx/>
                          <a:latin typeface="Calibri"/>
                        </a:rPr>
                        <a:t>Repeated identical queries</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Re-embedded, re-searched, re-ranked every time</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Full result cache — 54% hit rate warm</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−25% p95</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r>
            </a:tbl>
          </a:graphicData>
        </a:graphic>
      </p:graphicFrame>
      <p:sp>
        <p:nvSpPr>
          <p:cNvPr id="402" name="Rounded Rectangle 5"/>
          <p:cNvSpPr/>
          <p:nvPr/>
        </p:nvSpPr>
        <p:spPr>
          <a:xfrm>
            <a:off x="502920" y="4160520"/>
            <a:ext cx="2696760" cy="123372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3" name="TextBox 6"/>
          <p:cNvSpPr/>
          <p:nvPr/>
        </p:nvSpPr>
        <p:spPr>
          <a:xfrm>
            <a:off x="685800" y="4297680"/>
            <a:ext cx="233100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AVG RESPONSE</a:t>
            </a:r>
            <a:endParaRPr lang="en-US" sz="1050" b="0" u="none" strike="noStrike">
              <a:solidFill>
                <a:srgbClr val="000000"/>
              </a:solidFill>
              <a:effectLst/>
              <a:uFillTx/>
              <a:latin typeface="Arial"/>
            </a:endParaRPr>
          </a:p>
        </p:txBody>
      </p:sp>
      <p:sp>
        <p:nvSpPr>
          <p:cNvPr id="404" name="TextBox 7"/>
          <p:cNvSpPr/>
          <p:nvPr/>
        </p:nvSpPr>
        <p:spPr>
          <a:xfrm>
            <a:off x="685800" y="4590360"/>
            <a:ext cx="233100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0D665E"/>
                </a:solidFill>
                <a:effectLst/>
                <a:uFillTx/>
                <a:latin typeface="Calibri"/>
              </a:rPr>
              <a:t>1.9s → 1.2s</a:t>
            </a:r>
            <a:endParaRPr lang="en-US" sz="2700" b="0" u="none" strike="noStrike">
              <a:solidFill>
                <a:srgbClr val="000000"/>
              </a:solidFill>
              <a:effectLst/>
              <a:uFillTx/>
              <a:latin typeface="Arial"/>
            </a:endParaRPr>
          </a:p>
        </p:txBody>
      </p:sp>
      <p:sp>
        <p:nvSpPr>
          <p:cNvPr id="405" name="TextBox 8"/>
          <p:cNvSpPr/>
          <p:nvPr/>
        </p:nvSpPr>
        <p:spPr>
          <a:xfrm>
            <a:off x="685800" y="5029200"/>
            <a:ext cx="233100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−39%</a:t>
            </a:r>
            <a:endParaRPr lang="en-US" sz="1000" b="0" u="none" strike="noStrike">
              <a:solidFill>
                <a:srgbClr val="000000"/>
              </a:solidFill>
              <a:effectLst/>
              <a:uFillTx/>
              <a:latin typeface="Arial"/>
            </a:endParaRPr>
          </a:p>
        </p:txBody>
      </p:sp>
      <p:sp>
        <p:nvSpPr>
          <p:cNvPr id="406" name="Rounded Rectangle 9"/>
          <p:cNvSpPr/>
          <p:nvPr/>
        </p:nvSpPr>
        <p:spPr>
          <a:xfrm>
            <a:off x="3364920" y="4160520"/>
            <a:ext cx="2696760" cy="123372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7" name="TextBox 10"/>
          <p:cNvSpPr/>
          <p:nvPr/>
        </p:nvSpPr>
        <p:spPr>
          <a:xfrm>
            <a:off x="3547800" y="4297680"/>
            <a:ext cx="233100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P95 RESPONSE</a:t>
            </a:r>
            <a:endParaRPr lang="en-US" sz="1050" b="0" u="none" strike="noStrike">
              <a:solidFill>
                <a:srgbClr val="000000"/>
              </a:solidFill>
              <a:effectLst/>
              <a:uFillTx/>
              <a:latin typeface="Arial"/>
            </a:endParaRPr>
          </a:p>
        </p:txBody>
      </p:sp>
      <p:sp>
        <p:nvSpPr>
          <p:cNvPr id="408" name="TextBox 11"/>
          <p:cNvSpPr/>
          <p:nvPr/>
        </p:nvSpPr>
        <p:spPr>
          <a:xfrm>
            <a:off x="3547800" y="4590360"/>
            <a:ext cx="233100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0D665E"/>
                </a:solidFill>
                <a:effectLst/>
                <a:uFillTx/>
                <a:latin typeface="Calibri"/>
              </a:rPr>
              <a:t>5.8s → 3.9s</a:t>
            </a:r>
            <a:endParaRPr lang="en-US" sz="2700" b="0" u="none" strike="noStrike">
              <a:solidFill>
                <a:srgbClr val="000000"/>
              </a:solidFill>
              <a:effectLst/>
              <a:uFillTx/>
              <a:latin typeface="Arial"/>
            </a:endParaRPr>
          </a:p>
        </p:txBody>
      </p:sp>
      <p:sp>
        <p:nvSpPr>
          <p:cNvPr id="409" name="TextBox 12"/>
          <p:cNvSpPr/>
          <p:nvPr/>
        </p:nvSpPr>
        <p:spPr>
          <a:xfrm>
            <a:off x="3547800" y="5029200"/>
            <a:ext cx="233100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−34%</a:t>
            </a:r>
            <a:endParaRPr lang="en-US" sz="1000" b="0" u="none" strike="noStrike">
              <a:solidFill>
                <a:srgbClr val="000000"/>
              </a:solidFill>
              <a:effectLst/>
              <a:uFillTx/>
              <a:latin typeface="Arial"/>
            </a:endParaRPr>
          </a:p>
        </p:txBody>
      </p:sp>
      <p:sp>
        <p:nvSpPr>
          <p:cNvPr id="410" name="Rounded Rectangle 13"/>
          <p:cNvSpPr/>
          <p:nvPr/>
        </p:nvSpPr>
        <p:spPr>
          <a:xfrm>
            <a:off x="6226920" y="4160520"/>
            <a:ext cx="2696760" cy="123372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1" name="TextBox 14"/>
          <p:cNvSpPr/>
          <p:nvPr/>
        </p:nvSpPr>
        <p:spPr>
          <a:xfrm>
            <a:off x="6409800" y="4297680"/>
            <a:ext cx="233100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WORST CASE</a:t>
            </a:r>
            <a:endParaRPr lang="en-US" sz="1050" b="0" u="none" strike="noStrike">
              <a:solidFill>
                <a:srgbClr val="000000"/>
              </a:solidFill>
              <a:effectLst/>
              <a:uFillTx/>
              <a:latin typeface="Arial"/>
            </a:endParaRPr>
          </a:p>
        </p:txBody>
      </p:sp>
      <p:sp>
        <p:nvSpPr>
          <p:cNvPr id="412" name="TextBox 15"/>
          <p:cNvSpPr/>
          <p:nvPr/>
        </p:nvSpPr>
        <p:spPr>
          <a:xfrm>
            <a:off x="6409800" y="4590360"/>
            <a:ext cx="233100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22840"/>
                </a:solidFill>
                <a:effectLst/>
                <a:uFillTx/>
                <a:latin typeface="Calibri"/>
              </a:rPr>
              <a:t>64s → 5.9s</a:t>
            </a:r>
            <a:endParaRPr lang="en-US" sz="2700" b="0" u="none" strike="noStrike">
              <a:solidFill>
                <a:srgbClr val="000000"/>
              </a:solidFill>
              <a:effectLst/>
              <a:uFillTx/>
              <a:latin typeface="Arial"/>
            </a:endParaRPr>
          </a:p>
        </p:txBody>
      </p:sp>
      <p:sp>
        <p:nvSpPr>
          <p:cNvPr id="413" name="TextBox 16"/>
          <p:cNvSpPr/>
          <p:nvPr/>
        </p:nvSpPr>
        <p:spPr>
          <a:xfrm>
            <a:off x="6409800" y="5029200"/>
            <a:ext cx="233100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stall removed</a:t>
            </a:r>
            <a:endParaRPr lang="en-US" sz="1000" b="0" u="none" strike="noStrike">
              <a:solidFill>
                <a:srgbClr val="000000"/>
              </a:solidFill>
              <a:effectLst/>
              <a:uFillTx/>
              <a:latin typeface="Arial"/>
            </a:endParaRPr>
          </a:p>
        </p:txBody>
      </p:sp>
      <p:sp>
        <p:nvSpPr>
          <p:cNvPr id="414" name="Rounded Rectangle 17"/>
          <p:cNvSpPr/>
          <p:nvPr/>
        </p:nvSpPr>
        <p:spPr>
          <a:xfrm>
            <a:off x="9089280" y="4160520"/>
            <a:ext cx="2696760" cy="123372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5" name="TextBox 18"/>
          <p:cNvSpPr/>
          <p:nvPr/>
        </p:nvSpPr>
        <p:spPr>
          <a:xfrm>
            <a:off x="9272160" y="4297680"/>
            <a:ext cx="233100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ACCURACY</a:t>
            </a:r>
            <a:endParaRPr lang="en-US" sz="1050" b="0" u="none" strike="noStrike">
              <a:solidFill>
                <a:srgbClr val="000000"/>
              </a:solidFill>
              <a:effectLst/>
              <a:uFillTx/>
              <a:latin typeface="Arial"/>
            </a:endParaRPr>
          </a:p>
        </p:txBody>
      </p:sp>
      <p:sp>
        <p:nvSpPr>
          <p:cNvPr id="416" name="TextBox 19"/>
          <p:cNvSpPr/>
          <p:nvPr/>
        </p:nvSpPr>
        <p:spPr>
          <a:xfrm>
            <a:off x="9272160" y="4590360"/>
            <a:ext cx="233100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2B9455"/>
                </a:solidFill>
                <a:effectLst/>
                <a:uFillTx/>
                <a:latin typeface="Calibri"/>
              </a:rPr>
              <a:t>unchanged</a:t>
            </a:r>
            <a:endParaRPr lang="en-US" sz="2700" b="0" u="none" strike="noStrike">
              <a:solidFill>
                <a:srgbClr val="000000"/>
              </a:solidFill>
              <a:effectLst/>
              <a:uFillTx/>
              <a:latin typeface="Arial"/>
            </a:endParaRPr>
          </a:p>
        </p:txBody>
      </p:sp>
      <p:sp>
        <p:nvSpPr>
          <p:cNvPr id="417" name="TextBox 20"/>
          <p:cNvSpPr/>
          <p:nvPr/>
        </p:nvSpPr>
        <p:spPr>
          <a:xfrm>
            <a:off x="9272160" y="5029200"/>
            <a:ext cx="233100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no trade made</a:t>
            </a:r>
            <a:endParaRPr lang="en-US" sz="1000" b="0" u="none" strike="noStrike">
              <a:solidFill>
                <a:srgbClr val="000000"/>
              </a:solidFill>
              <a:effectLst/>
              <a:uFillTx/>
              <a:latin typeface="Arial"/>
            </a:endParaRPr>
          </a:p>
        </p:txBody>
      </p:sp>
      <p:sp>
        <p:nvSpPr>
          <p:cNvPr id="418" name="Rounded Rectangle 21"/>
          <p:cNvSpPr/>
          <p:nvPr/>
        </p:nvSpPr>
        <p:spPr>
          <a:xfrm>
            <a:off x="502920" y="5577840"/>
            <a:ext cx="11154960" cy="730800"/>
          </a:xfrm>
          <a:prstGeom prst="roundRect">
            <a:avLst>
              <a:gd name="adj" fmla="val 12000"/>
            </a:avLst>
          </a:prstGeom>
          <a:solidFill>
            <a:srgbClr val="E4F2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9" name="TextBox 22"/>
          <p:cNvSpPr/>
          <p:nvPr/>
        </p:nvSpPr>
        <p:spPr>
          <a:xfrm>
            <a:off x="777240" y="5706000"/>
            <a:ext cx="10606320" cy="50220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00" b="0" u="none" strike="noStrike">
                <a:solidFill>
                  <a:srgbClr val="0D665E"/>
                </a:solidFill>
                <a:effectLst/>
                <a:uFillTx/>
                <a:latin typeface="Calibri"/>
              </a:rPr>
              <a:t>The caching result improves with volume: hit rate went 0% → 18% → 54% as the cache warmed across runs. At 400 tickets/day over a stable ~45-subcategory taxonomy, the same queries recur constantly — this gets better in production, not worse.</a:t>
            </a:r>
            <a:endParaRPr lang="en-US" sz="1200" b="0" u="none" strike="noStrike">
              <a:solidFill>
                <a:srgbClr val="000000"/>
              </a:solidFill>
              <a:effectLst/>
              <a:uFillTx/>
              <a:latin typeface="Arial"/>
            </a:endParaRPr>
          </a:p>
        </p:txBody>
      </p:sp>
      <p:sp>
        <p:nvSpPr>
          <p:cNvPr id="420" name="TextBox 23"/>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ServeWell IT Support Agent Suite — phData Intelligence Platform</a:t>
            </a:r>
            <a:endParaRPr lang="en-US" sz="900" b="0" u="none" strike="noStrike">
              <a:solidFill>
                <a:srgbClr val="000000"/>
              </a:solidFill>
              <a:effectLst/>
              <a:uFillTx/>
              <a:latin typeface="Arial"/>
            </a:endParaRPr>
          </a:p>
        </p:txBody>
      </p:sp>
      <p:sp>
        <p:nvSpPr>
          <p:cNvPr id="421" name="TextBox 24"/>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15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422"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REQUIREMENT VI</a:t>
            </a:r>
            <a:endParaRPr lang="en-US" sz="1200" b="0" u="none" strike="noStrike">
              <a:solidFill>
                <a:srgbClr val="000000"/>
              </a:solidFill>
              <a:effectLst/>
              <a:uFillTx/>
              <a:latin typeface="Arial"/>
            </a:endParaRPr>
          </a:p>
        </p:txBody>
      </p:sp>
      <p:sp>
        <p:nvSpPr>
          <p:cNvPr id="423"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The trade-offs I made, and what I gave up</a:t>
            </a:r>
            <a:endParaRPr lang="en-US" sz="2700" b="0" u="none" strike="noStrike">
              <a:solidFill>
                <a:srgbClr val="000000"/>
              </a:solidFill>
              <a:effectLst/>
              <a:uFillTx/>
              <a:latin typeface="Arial"/>
            </a:endParaRPr>
          </a:p>
        </p:txBody>
      </p:sp>
      <p:sp>
        <p:nvSpPr>
          <p:cNvPr id="424"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graphicFrame>
        <p:nvGraphicFramePr>
          <p:cNvPr id="425" name="Table 4"/>
          <p:cNvGraphicFramePr/>
          <p:nvPr/>
        </p:nvGraphicFramePr>
        <p:xfrm>
          <a:off x="502920" y="1536120"/>
          <a:ext cx="11155320" cy="4112640"/>
        </p:xfrm>
        <a:graphic>
          <a:graphicData uri="http://schemas.openxmlformats.org/drawingml/2006/table">
            <a:tbl>
              <a:tblPr/>
              <a:tblGrid>
                <a:gridCol w="1645920"/>
                <a:gridCol w="3291840"/>
                <a:gridCol w="6217920"/>
              </a:tblGrid>
              <a:tr h="587520">
                <a:tc>
                  <a:txBody>
                    <a:bodyPr tIns="63360" bIns="63360" anchor="ctr">
                      <a:noAutofit/>
                    </a:bodyPr>
                    <a:p>
                      <a:pPr defTabSz="457200">
                        <a:lnSpc>
                          <a:spcPct val="100000"/>
                        </a:lnSpc>
                      </a:pPr>
                      <a:r>
                        <a:rPr lang="en-US" sz="1150" b="1" u="none" strike="noStrike">
                          <a:solidFill>
                            <a:srgbClr val="FFFFFF"/>
                          </a:solidFill>
                          <a:effectLst/>
                          <a:uFillTx/>
                          <a:latin typeface="Calibri"/>
                        </a:rPr>
                        <a:t>Decision</a:t>
                      </a:r>
                      <a:endParaRPr lang="en-US" sz="1150" b="0" u="none" strike="noStrike">
                        <a:solidFill>
                          <a:srgbClr val="FFFFFF"/>
                        </a:solidFill>
                        <a:effectLst/>
                        <a:uFillTx/>
                        <a:latin typeface="Arial"/>
                      </a:endParaRPr>
                    </a:p>
                  </a:txBody>
                  <a:tcPr anchor="ctr" marL="91440" marR="91440" marT="63360" marB="63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840"/>
                    </a:solidFill>
                  </a:tcPr>
                </a:tc>
                <a:tc>
                  <a:txBody>
                    <a:bodyPr tIns="63360" bIns="63360" anchor="ctr">
                      <a:noAutofit/>
                    </a:bodyPr>
                    <a:p>
                      <a:pPr defTabSz="457200">
                        <a:lnSpc>
                          <a:spcPct val="100000"/>
                        </a:lnSpc>
                      </a:pPr>
                      <a:r>
                        <a:rPr lang="en-US" sz="1150" b="1" u="none" strike="noStrike">
                          <a:solidFill>
                            <a:srgbClr val="FFFFFF"/>
                          </a:solidFill>
                          <a:effectLst/>
                          <a:uFillTx/>
                          <a:latin typeface="Calibri"/>
                        </a:rPr>
                        <a:t>What I chose</a:t>
                      </a:r>
                      <a:endParaRPr lang="en-US" sz="1150" b="0" u="none" strike="noStrike">
                        <a:solidFill>
                          <a:srgbClr val="FFFFFF"/>
                        </a:solidFill>
                        <a:effectLst/>
                        <a:uFillTx/>
                        <a:latin typeface="Arial"/>
                      </a:endParaRPr>
                    </a:p>
                  </a:txBody>
                  <a:tcPr anchor="ctr" marL="91440" marR="91440" marT="63360" marB="63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840"/>
                    </a:solidFill>
                  </a:tcPr>
                </a:tc>
                <a:tc>
                  <a:txBody>
                    <a:bodyPr tIns="63360" bIns="63360" anchor="ctr">
                      <a:noAutofit/>
                    </a:bodyPr>
                    <a:p>
                      <a:pPr defTabSz="457200">
                        <a:lnSpc>
                          <a:spcPct val="100000"/>
                        </a:lnSpc>
                      </a:pPr>
                      <a:r>
                        <a:rPr lang="en-US" sz="1150" b="1" u="none" strike="noStrike">
                          <a:solidFill>
                            <a:srgbClr val="FFFFFF"/>
                          </a:solidFill>
                          <a:effectLst/>
                          <a:uFillTx/>
                          <a:latin typeface="Calibri"/>
                        </a:rPr>
                        <a:t>Why, and what it cost</a:t>
                      </a:r>
                      <a:endParaRPr lang="en-US" sz="1150" b="0" u="none" strike="noStrike">
                        <a:solidFill>
                          <a:srgbClr val="FFFFFF"/>
                        </a:solidFill>
                        <a:effectLst/>
                        <a:uFillTx/>
                        <a:latin typeface="Arial"/>
                      </a:endParaRPr>
                    </a:p>
                  </a:txBody>
                  <a:tcPr anchor="ctr" marL="91440" marR="91440" marT="63360" marB="63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840"/>
                    </a:solidFill>
                  </a:tcPr>
                </a:tc>
              </a:tr>
              <a:tr h="587520">
                <a:tc>
                  <a:txBody>
                    <a:bodyPr tIns="50760" bIns="50760" anchor="ctr">
                      <a:noAutofit/>
                    </a:bodyPr>
                    <a:p>
                      <a:pPr defTabSz="457200">
                        <a:lnSpc>
                          <a:spcPct val="100000"/>
                        </a:lnSpc>
                      </a:pPr>
                      <a:r>
                        <a:rPr lang="en-US" sz="1050" b="0" u="none" strike="noStrike">
                          <a:solidFill>
                            <a:srgbClr val="1A202A"/>
                          </a:solidFill>
                          <a:effectLst/>
                          <a:uFillTx/>
                          <a:latin typeface="Calibri"/>
                        </a:rPr>
                        <a:t>Model</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Bedrock nvidia-nemotron-nano-3-30b</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The only model this AWS account can reach — verified by AccessDenied on every Claude/Nova/Llama candidate. A small model made the guardrails earn their place.</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87520">
                <a:tc>
                  <a:txBody>
                    <a:bodyPr tIns="50760" bIns="50760" anchor="ctr">
                      <a:noAutofit/>
                    </a:bodyPr>
                    <a:p>
                      <a:pPr defTabSz="457200">
                        <a:lnSpc>
                          <a:spcPct val="100000"/>
                        </a:lnSpc>
                      </a:pPr>
                      <a:r>
                        <a:rPr lang="en-US" sz="1050" b="0" u="none" strike="noStrike">
                          <a:solidFill>
                            <a:srgbClr val="1A202A"/>
                          </a:solidFill>
                          <a:effectLst/>
                          <a:uFillTx/>
                          <a:latin typeface="Calibri"/>
                        </a:rPr>
                        <a:t>Orchestration</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Custom ~200-line loop, not LangGraph/CrewAI</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Every limit is a line of Python I can defend live. Gave up: persistence, retries, a visual graph.</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r>
              <a:tr h="587520">
                <a:tc>
                  <a:txBody>
                    <a:bodyPr tIns="50760" bIns="50760" anchor="ctr">
                      <a:noAutofit/>
                    </a:bodyPr>
                    <a:p>
                      <a:pPr defTabSz="457200">
                        <a:lnSpc>
                          <a:spcPct val="100000"/>
                        </a:lnSpc>
                      </a:pPr>
                      <a:r>
                        <a:rPr lang="en-US" sz="1050" b="0" u="none" strike="noStrike">
                          <a:solidFill>
                            <a:srgbClr val="1A202A"/>
                          </a:solidFill>
                          <a:effectLst/>
                          <a:uFillTx/>
                          <a:latin typeface="Calibri"/>
                        </a:rPr>
                        <a:t>Retrieval</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PGVector + Titan v2 + cross-encoder rerank</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Rerank costs ~0.3s and is CPU-bound, but buys +2.7pp hit-rate. Diverged from the plan's ChromaDB + MiniLM.</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87520">
                <a:tc>
                  <a:txBody>
                    <a:bodyPr tIns="50760" bIns="50760" anchor="ctr">
                      <a:noAutofit/>
                    </a:bodyPr>
                    <a:p>
                      <a:pPr defTabSz="457200">
                        <a:lnSpc>
                          <a:spcPct val="100000"/>
                        </a:lnSpc>
                      </a:pPr>
                      <a:r>
                        <a:rPr lang="en-US" sz="1050" b="0" u="none" strike="noStrike">
                          <a:solidFill>
                            <a:srgbClr val="1A202A"/>
                          </a:solidFill>
                          <a:effectLst/>
                          <a:uFillTx/>
                          <a:latin typeface="Calibri"/>
                        </a:rPr>
                        <a:t>Autonomy line</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Propose-only; execution needs approved=True</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Slower than auto-remediation. Chosen because a wrong action in 2,500 stores is unrecoverable; wrong advice is not.</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r>
              <a:tr h="587520">
                <a:tc>
                  <a:txBody>
                    <a:bodyPr tIns="50760" bIns="50760" anchor="ctr">
                      <a:noAutofit/>
                    </a:bodyPr>
                    <a:p>
                      <a:pPr defTabSz="457200">
                        <a:lnSpc>
                          <a:spcPct val="100000"/>
                        </a:lnSpc>
                      </a:pPr>
                      <a:r>
                        <a:rPr lang="en-US" sz="1050" b="0" u="none" strike="noStrike">
                          <a:solidFill>
                            <a:srgbClr val="1A202A"/>
                          </a:solidFill>
                          <a:effectLst/>
                          <a:uFillTx/>
                          <a:latin typeface="Calibri"/>
                        </a:rPr>
                        <a:t>Triage design</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Deterministic rules where measured better</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Less elegant than 'the LLM decides'. But at 2+ notes the rule beats the model 96.6% to 92.0%.</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87520">
                <a:tc>
                  <a:txBody>
                    <a:bodyPr tIns="50760" bIns="50760" anchor="ctr">
                      <a:noAutofit/>
                    </a:bodyPr>
                    <a:p>
                      <a:pPr defTabSz="457200">
                        <a:lnSpc>
                          <a:spcPct val="100000"/>
                        </a:lnSpc>
                      </a:pPr>
                      <a:r>
                        <a:rPr lang="en-US" sz="1050" b="0" u="none" strike="noStrike">
                          <a:solidFill>
                            <a:srgbClr val="1A202A"/>
                          </a:solidFill>
                          <a:effectLst/>
                          <a:uFillTx/>
                          <a:latin typeface="Calibri"/>
                        </a:rPr>
                        <a:t>Scope</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One incident family, deep, over six shallow</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c>
                  <a:txBody>
                    <a:bodyPr tIns="50760" bIns="50760" anchor="ctr">
                      <a:noAutofit/>
                    </a:bodyPr>
                    <a:p>
                      <a:pPr defTabSz="457200">
                        <a:lnSpc>
                          <a:spcPct val="100000"/>
                        </a:lnSpc>
                      </a:pPr>
                      <a:r>
                        <a:rPr lang="en-US" sz="1050" b="0" u="none" strike="noStrike">
                          <a:solidFill>
                            <a:srgbClr val="1A202A"/>
                          </a:solidFill>
                          <a:effectLst/>
                          <a:uFillTx/>
                          <a:latin typeface="Calibri"/>
                        </a:rPr>
                        <a:t>The brief rewards a POC defended deeply. Ticket write-back is the visible gap.</a:t>
                      </a:r>
                      <a:endParaRPr lang="en-US" sz="1050" b="0" u="none" strike="noStrike">
                        <a:solidFill>
                          <a:srgbClr val="000000"/>
                        </a:solidFill>
                        <a:effectLst/>
                        <a:uFillTx/>
                        <a:latin typeface="Arial"/>
                      </a:endParaRPr>
                    </a:p>
                  </a:txBody>
                  <a:tcPr anchor="ctr" marL="91440" marR="9144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4F7"/>
                    </a:solidFill>
                  </a:tcPr>
                </a:tc>
              </a:tr>
            </a:tbl>
          </a:graphicData>
        </a:graphic>
      </p:graphicFrame>
      <p:sp>
        <p:nvSpPr>
          <p:cNvPr id="426" name="Rounded Rectangle 5"/>
          <p:cNvSpPr/>
          <p:nvPr/>
        </p:nvSpPr>
        <p:spPr>
          <a:xfrm>
            <a:off x="502920" y="5806440"/>
            <a:ext cx="11154960" cy="566280"/>
          </a:xfrm>
          <a:prstGeom prst="roundRect">
            <a:avLst>
              <a:gd name="adj" fmla="val 15000"/>
            </a:avLst>
          </a:prstGeom>
          <a:solidFill>
            <a:srgbClr val="E4F2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7" name="TextBox 6"/>
          <p:cNvSpPr/>
          <p:nvPr/>
        </p:nvSpPr>
        <p:spPr>
          <a:xfrm>
            <a:off x="777240" y="5925240"/>
            <a:ext cx="1060632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i="1" u="none" strike="noStrike">
                <a:solidFill>
                  <a:srgbClr val="0D665E"/>
                </a:solidFill>
                <a:effectLst/>
                <a:uFillTx/>
                <a:latin typeface="Calibri"/>
              </a:rPr>
              <a:t>Prompts now live as versioned files in prompts/ — extracted byte-identically, so a prompt change reads like a behaviour change in a diff, which is what it is.</a:t>
            </a:r>
            <a:endParaRPr lang="en-US" sz="1200" b="0" u="none" strike="noStrike">
              <a:solidFill>
                <a:srgbClr val="000000"/>
              </a:solidFill>
              <a:effectLst/>
              <a:uFillTx/>
              <a:latin typeface="Arial"/>
            </a:endParaRPr>
          </a:p>
        </p:txBody>
      </p:sp>
      <p:sp>
        <p:nvSpPr>
          <p:cNvPr id="428" name="TextBox 7"/>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ServeWell IT Support Agent Suite — phData Intelligence Platform</a:t>
            </a:r>
            <a:endParaRPr lang="en-US" sz="900" b="0" u="none" strike="noStrike">
              <a:solidFill>
                <a:srgbClr val="000000"/>
              </a:solidFill>
              <a:effectLst/>
              <a:uFillTx/>
              <a:latin typeface="Arial"/>
            </a:endParaRPr>
          </a:p>
        </p:txBody>
      </p:sp>
      <p:sp>
        <p:nvSpPr>
          <p:cNvPr id="429" name="TextBox 8"/>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16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430"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FOR THE BUSINESS</a:t>
            </a:r>
            <a:endParaRPr lang="en-US" sz="1200" b="0" u="none" strike="noStrike">
              <a:solidFill>
                <a:srgbClr val="000000"/>
              </a:solidFill>
              <a:effectLst/>
              <a:uFillTx/>
              <a:latin typeface="Arial"/>
            </a:endParaRPr>
          </a:p>
        </p:txBody>
      </p:sp>
      <p:sp>
        <p:nvSpPr>
          <p:cNvPr id="431"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What this is worth, and what each number rests on</a:t>
            </a:r>
            <a:endParaRPr lang="en-US" sz="2700" b="0" u="none" strike="noStrike">
              <a:solidFill>
                <a:srgbClr val="000000"/>
              </a:solidFill>
              <a:effectLst/>
              <a:uFillTx/>
              <a:latin typeface="Arial"/>
            </a:endParaRPr>
          </a:p>
        </p:txBody>
      </p:sp>
      <p:sp>
        <p:nvSpPr>
          <p:cNvPr id="432"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sp>
        <p:nvSpPr>
          <p:cNvPr id="433" name="Rounded Rectangle 4"/>
          <p:cNvSpPr/>
          <p:nvPr/>
        </p:nvSpPr>
        <p:spPr>
          <a:xfrm>
            <a:off x="502920" y="1398960"/>
            <a:ext cx="825840" cy="236880"/>
          </a:xfrm>
          <a:prstGeom prst="roundRect">
            <a:avLst>
              <a:gd name="adj" fmla="val 50000"/>
            </a:avLst>
          </a:prstGeom>
          <a:solidFill>
            <a:srgbClr val="FFFFFF"/>
          </a:solidFill>
          <a:ln w="13970">
            <a:solidFill>
              <a:srgbClr val="2B94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0" rIns="50760" bIns="0" anchor="ctr">
            <a:noAutofit/>
          </a:bodyPr>
          <a:p>
            <a:pPr algn="ctr" defTabSz="457200">
              <a:lnSpc>
                <a:spcPct val="100000"/>
              </a:lnSpc>
            </a:pPr>
            <a:r>
              <a:rPr lang="en-US" sz="850" b="1" u="none" strike="noStrike">
                <a:solidFill>
                  <a:srgbClr val="2B9455"/>
                </a:solidFill>
                <a:effectLst/>
                <a:uFillTx/>
                <a:latin typeface="Calibri"/>
              </a:rPr>
              <a:t>MEASURED</a:t>
            </a:r>
            <a:endParaRPr lang="en-US" sz="850" b="0" u="none" strike="noStrike">
              <a:solidFill>
                <a:srgbClr val="000000"/>
              </a:solidFill>
              <a:effectLst/>
              <a:uFillTx/>
              <a:latin typeface="Arial"/>
            </a:endParaRPr>
          </a:p>
        </p:txBody>
      </p:sp>
      <p:sp>
        <p:nvSpPr>
          <p:cNvPr id="434" name="Rounded Rectangle 5"/>
          <p:cNvSpPr/>
          <p:nvPr/>
        </p:nvSpPr>
        <p:spPr>
          <a:xfrm>
            <a:off x="1457640" y="1398960"/>
            <a:ext cx="1660680" cy="236880"/>
          </a:xfrm>
          <a:prstGeom prst="roundRect">
            <a:avLst>
              <a:gd name="adj" fmla="val 50000"/>
            </a:avLst>
          </a:prstGeom>
          <a:solidFill>
            <a:srgbClr val="FFFFFF"/>
          </a:solidFill>
          <a:ln w="13970">
            <a:solidFill>
              <a:srgbClr val="4C4A8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0" rIns="50760" bIns="0" anchor="ctr">
            <a:noAutofit/>
          </a:bodyPr>
          <a:p>
            <a:pPr algn="ctr" defTabSz="457200">
              <a:lnSpc>
                <a:spcPct val="100000"/>
              </a:lnSpc>
            </a:pPr>
            <a:r>
              <a:rPr lang="en-US" sz="850" b="1" u="none" strike="noStrike">
                <a:solidFill>
                  <a:srgbClr val="4C4A8F"/>
                </a:solidFill>
                <a:effectLst/>
                <a:uFillTx/>
                <a:latin typeface="Calibri"/>
              </a:rPr>
              <a:t>STATED BY SERVEWELL</a:t>
            </a:r>
            <a:endParaRPr lang="en-US" sz="850" b="0" u="none" strike="noStrike">
              <a:solidFill>
                <a:srgbClr val="000000"/>
              </a:solidFill>
              <a:effectLst/>
              <a:uFillTx/>
              <a:latin typeface="Arial"/>
            </a:endParaRPr>
          </a:p>
        </p:txBody>
      </p:sp>
      <p:sp>
        <p:nvSpPr>
          <p:cNvPr id="435" name="Rounded Rectangle 6"/>
          <p:cNvSpPr/>
          <p:nvPr/>
        </p:nvSpPr>
        <p:spPr>
          <a:xfrm>
            <a:off x="3247200" y="1398960"/>
            <a:ext cx="1357200" cy="236880"/>
          </a:xfrm>
          <a:prstGeom prst="roundRect">
            <a:avLst>
              <a:gd name="adj" fmla="val 50000"/>
            </a:avLst>
          </a:prstGeom>
          <a:solidFill>
            <a:srgbClr val="FFFFFF"/>
          </a:solidFill>
          <a:ln w="13970">
            <a:solidFill>
              <a:srgbClr val="A86A1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0" rIns="50760" bIns="0" anchor="ctr">
            <a:noAutofit/>
          </a:bodyPr>
          <a:p>
            <a:pPr algn="ctr" defTabSz="457200">
              <a:lnSpc>
                <a:spcPct val="100000"/>
              </a:lnSpc>
            </a:pPr>
            <a:r>
              <a:rPr lang="en-US" sz="850" b="1" u="none" strike="noStrike">
                <a:solidFill>
                  <a:srgbClr val="A86A14"/>
                </a:solidFill>
                <a:effectLst/>
                <a:uFillTx/>
                <a:latin typeface="Calibri"/>
              </a:rPr>
              <a:t>YOUR ASSUMPTION</a:t>
            </a:r>
            <a:endParaRPr lang="en-US" sz="850" b="0" u="none" strike="noStrike">
              <a:solidFill>
                <a:srgbClr val="000000"/>
              </a:solidFill>
              <a:effectLst/>
              <a:uFillTx/>
              <a:latin typeface="Arial"/>
            </a:endParaRPr>
          </a:p>
        </p:txBody>
      </p:sp>
      <p:sp>
        <p:nvSpPr>
          <p:cNvPr id="436" name="Rounded Rectangle 7"/>
          <p:cNvSpPr/>
          <p:nvPr/>
        </p:nvSpPr>
        <p:spPr>
          <a:xfrm>
            <a:off x="502920" y="1737360"/>
            <a:ext cx="2623680" cy="123372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7" name="TextBox 8"/>
          <p:cNvSpPr/>
          <p:nvPr/>
        </p:nvSpPr>
        <p:spPr>
          <a:xfrm>
            <a:off x="685800" y="1874520"/>
            <a:ext cx="225792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L1 COST AVOIDED / YR</a:t>
            </a:r>
            <a:endParaRPr lang="en-US" sz="1050" b="0" u="none" strike="noStrike">
              <a:solidFill>
                <a:srgbClr val="000000"/>
              </a:solidFill>
              <a:effectLst/>
              <a:uFillTx/>
              <a:latin typeface="Arial"/>
            </a:endParaRPr>
          </a:p>
        </p:txBody>
      </p:sp>
      <p:sp>
        <p:nvSpPr>
          <p:cNvPr id="438" name="TextBox 9"/>
          <p:cNvSpPr/>
          <p:nvPr/>
        </p:nvSpPr>
        <p:spPr>
          <a:xfrm>
            <a:off x="685800" y="2167200"/>
            <a:ext cx="225792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22840"/>
                </a:solidFill>
                <a:effectLst/>
                <a:uFillTx/>
                <a:latin typeface="Calibri"/>
              </a:rPr>
              <a:t>$202k</a:t>
            </a:r>
            <a:endParaRPr lang="en-US" sz="2700" b="0" u="none" strike="noStrike">
              <a:solidFill>
                <a:srgbClr val="000000"/>
              </a:solidFill>
              <a:effectLst/>
              <a:uFillTx/>
              <a:latin typeface="Arial"/>
            </a:endParaRPr>
          </a:p>
        </p:txBody>
      </p:sp>
      <p:sp>
        <p:nvSpPr>
          <p:cNvPr id="439" name="TextBox 10"/>
          <p:cNvSpPr/>
          <p:nvPr/>
        </p:nvSpPr>
        <p:spPr>
          <a:xfrm>
            <a:off x="685800" y="2606040"/>
            <a:ext cx="225792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at $22/hr fully loaded</a:t>
            </a:r>
            <a:endParaRPr lang="en-US" sz="1000" b="0" u="none" strike="noStrike">
              <a:solidFill>
                <a:srgbClr val="000000"/>
              </a:solidFill>
              <a:effectLst/>
              <a:uFillTx/>
              <a:latin typeface="Arial"/>
            </a:endParaRPr>
          </a:p>
        </p:txBody>
      </p:sp>
      <p:sp>
        <p:nvSpPr>
          <p:cNvPr id="440" name="Rounded Rectangle 11"/>
          <p:cNvSpPr/>
          <p:nvPr/>
        </p:nvSpPr>
        <p:spPr>
          <a:xfrm>
            <a:off x="3319200" y="1737360"/>
            <a:ext cx="2623680" cy="123372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1" name="TextBox 12"/>
          <p:cNvSpPr/>
          <p:nvPr/>
        </p:nvSpPr>
        <p:spPr>
          <a:xfrm>
            <a:off x="3502080" y="1874520"/>
            <a:ext cx="225792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L1 HOURS RETURNED / YR</a:t>
            </a:r>
            <a:endParaRPr lang="en-US" sz="1050" b="0" u="none" strike="noStrike">
              <a:solidFill>
                <a:srgbClr val="000000"/>
              </a:solidFill>
              <a:effectLst/>
              <a:uFillTx/>
              <a:latin typeface="Arial"/>
            </a:endParaRPr>
          </a:p>
        </p:txBody>
      </p:sp>
      <p:sp>
        <p:nvSpPr>
          <p:cNvPr id="442" name="TextBox 13"/>
          <p:cNvSpPr/>
          <p:nvPr/>
        </p:nvSpPr>
        <p:spPr>
          <a:xfrm>
            <a:off x="3502080" y="2167200"/>
            <a:ext cx="225792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0D665E"/>
                </a:solidFill>
                <a:effectLst/>
                <a:uFillTx/>
                <a:latin typeface="Calibri"/>
              </a:rPr>
              <a:t>9,198</a:t>
            </a:r>
            <a:endParaRPr lang="en-US" sz="2700" b="0" u="none" strike="noStrike">
              <a:solidFill>
                <a:srgbClr val="000000"/>
              </a:solidFill>
              <a:effectLst/>
              <a:uFillTx/>
              <a:latin typeface="Arial"/>
            </a:endParaRPr>
          </a:p>
        </p:txBody>
      </p:sp>
      <p:sp>
        <p:nvSpPr>
          <p:cNvPr id="443" name="TextBox 14"/>
          <p:cNvSpPr/>
          <p:nvPr/>
        </p:nvSpPr>
        <p:spPr>
          <a:xfrm>
            <a:off x="3502080" y="2606040"/>
            <a:ext cx="225792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 4.4 FTE at 2,080 hrs/yr</a:t>
            </a:r>
            <a:endParaRPr lang="en-US" sz="1000" b="0" u="none" strike="noStrike">
              <a:solidFill>
                <a:srgbClr val="000000"/>
              </a:solidFill>
              <a:effectLst/>
              <a:uFillTx/>
              <a:latin typeface="Arial"/>
            </a:endParaRPr>
          </a:p>
        </p:txBody>
      </p:sp>
      <p:sp>
        <p:nvSpPr>
          <p:cNvPr id="444" name="Rounded Rectangle 15"/>
          <p:cNvSpPr/>
          <p:nvPr/>
        </p:nvSpPr>
        <p:spPr>
          <a:xfrm>
            <a:off x="6135480" y="1737360"/>
            <a:ext cx="2623680" cy="123372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5" name="TextBox 16"/>
          <p:cNvSpPr/>
          <p:nvPr/>
        </p:nvSpPr>
        <p:spPr>
          <a:xfrm>
            <a:off x="6318360" y="1874520"/>
            <a:ext cx="225792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TICKETS DEFLECTED / DAY</a:t>
            </a:r>
            <a:endParaRPr lang="en-US" sz="1050" b="0" u="none" strike="noStrike">
              <a:solidFill>
                <a:srgbClr val="000000"/>
              </a:solidFill>
              <a:effectLst/>
              <a:uFillTx/>
              <a:latin typeface="Arial"/>
            </a:endParaRPr>
          </a:p>
        </p:txBody>
      </p:sp>
      <p:sp>
        <p:nvSpPr>
          <p:cNvPr id="446" name="TextBox 17"/>
          <p:cNvSpPr/>
          <p:nvPr/>
        </p:nvSpPr>
        <p:spPr>
          <a:xfrm>
            <a:off x="6318360" y="2167200"/>
            <a:ext cx="225792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22840"/>
                </a:solidFill>
                <a:effectLst/>
                <a:uFillTx/>
                <a:latin typeface="Calibri"/>
              </a:rPr>
              <a:t>84</a:t>
            </a:r>
            <a:endParaRPr lang="en-US" sz="2700" b="0" u="none" strike="noStrike">
              <a:solidFill>
                <a:srgbClr val="000000"/>
              </a:solidFill>
              <a:effectLst/>
              <a:uFillTx/>
              <a:latin typeface="Arial"/>
            </a:endParaRPr>
          </a:p>
        </p:txBody>
      </p:sp>
      <p:sp>
        <p:nvSpPr>
          <p:cNvPr id="447" name="TextBox 18"/>
          <p:cNvSpPr/>
          <p:nvPr/>
        </p:nvSpPr>
        <p:spPr>
          <a:xfrm>
            <a:off x="6318360" y="2606040"/>
            <a:ext cx="225792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of 140 L1-eligible (35% share)</a:t>
            </a:r>
            <a:endParaRPr lang="en-US" sz="1000" b="0" u="none" strike="noStrike">
              <a:solidFill>
                <a:srgbClr val="000000"/>
              </a:solidFill>
              <a:effectLst/>
              <a:uFillTx/>
              <a:latin typeface="Arial"/>
            </a:endParaRPr>
          </a:p>
        </p:txBody>
      </p:sp>
      <p:sp>
        <p:nvSpPr>
          <p:cNvPr id="448" name="Rounded Rectangle 19"/>
          <p:cNvSpPr/>
          <p:nvPr/>
        </p:nvSpPr>
        <p:spPr>
          <a:xfrm>
            <a:off x="8952120" y="1737360"/>
            <a:ext cx="2623680" cy="1233720"/>
          </a:xfrm>
          <a:prstGeom prst="roundRect">
            <a:avLst>
              <a:gd name="adj" fmla="val 45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9" name="TextBox 20"/>
          <p:cNvSpPr/>
          <p:nvPr/>
        </p:nvSpPr>
        <p:spPr>
          <a:xfrm>
            <a:off x="9135000" y="1874520"/>
            <a:ext cx="225792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57606D"/>
                </a:solidFill>
                <a:effectLst/>
                <a:uFillTx/>
                <a:latin typeface="Calibri"/>
              </a:rPr>
              <a:t>TIME TO FIRST RESPONSE</a:t>
            </a:r>
            <a:endParaRPr lang="en-US" sz="1050" b="0" u="none" strike="noStrike">
              <a:solidFill>
                <a:srgbClr val="000000"/>
              </a:solidFill>
              <a:effectLst/>
              <a:uFillTx/>
              <a:latin typeface="Arial"/>
            </a:endParaRPr>
          </a:p>
        </p:txBody>
      </p:sp>
      <p:sp>
        <p:nvSpPr>
          <p:cNvPr id="450" name="TextBox 21"/>
          <p:cNvSpPr/>
          <p:nvPr/>
        </p:nvSpPr>
        <p:spPr>
          <a:xfrm>
            <a:off x="9135000" y="2167200"/>
            <a:ext cx="2257920" cy="50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0D665E"/>
                </a:solidFill>
                <a:effectLst/>
                <a:uFillTx/>
                <a:latin typeface="Calibri"/>
              </a:rPr>
              <a:t>38 min → 1.2s</a:t>
            </a:r>
            <a:endParaRPr lang="en-US" sz="2700" b="0" u="none" strike="noStrike">
              <a:solidFill>
                <a:srgbClr val="000000"/>
              </a:solidFill>
              <a:effectLst/>
              <a:uFillTx/>
              <a:latin typeface="Arial"/>
            </a:endParaRPr>
          </a:p>
        </p:txBody>
      </p:sp>
      <p:sp>
        <p:nvSpPr>
          <p:cNvPr id="451" name="TextBox 22"/>
          <p:cNvSpPr/>
          <p:nvPr/>
        </p:nvSpPr>
        <p:spPr>
          <a:xfrm>
            <a:off x="9135000" y="2606040"/>
            <a:ext cx="2257920" cy="310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57606D"/>
                </a:solidFill>
                <a:effectLst/>
                <a:uFillTx/>
                <a:latin typeface="Calibri"/>
              </a:rPr>
              <a:t>measured end to end</a:t>
            </a:r>
            <a:endParaRPr lang="en-US" sz="1000" b="0" u="none" strike="noStrike">
              <a:solidFill>
                <a:srgbClr val="000000"/>
              </a:solidFill>
              <a:effectLst/>
              <a:uFillTx/>
              <a:latin typeface="Arial"/>
            </a:endParaRPr>
          </a:p>
        </p:txBody>
      </p:sp>
      <p:sp>
        <p:nvSpPr>
          <p:cNvPr id="452" name="Rounded Rectangle 23"/>
          <p:cNvSpPr/>
          <p:nvPr/>
        </p:nvSpPr>
        <p:spPr>
          <a:xfrm>
            <a:off x="457200" y="3108960"/>
            <a:ext cx="11246400" cy="401760"/>
          </a:xfrm>
          <a:prstGeom prst="roundRect">
            <a:avLst>
              <a:gd name="adj" fmla="val 25000"/>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3" name="TextBox 24"/>
          <p:cNvSpPr/>
          <p:nvPr/>
        </p:nvSpPr>
        <p:spPr>
          <a:xfrm>
            <a:off x="502920" y="3163680"/>
            <a:ext cx="32454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0" u="none" strike="noStrike">
                <a:solidFill>
                  <a:srgbClr val="1A202A"/>
                </a:solidFill>
                <a:effectLst/>
                <a:uFillTx/>
                <a:latin typeface="Calibri"/>
              </a:rPr>
              <a:t>Tickets resolvable at L1</a:t>
            </a:r>
            <a:endParaRPr lang="en-US" sz="1200" b="0" u="none" strike="noStrike">
              <a:solidFill>
                <a:srgbClr val="000000"/>
              </a:solidFill>
              <a:effectLst/>
              <a:uFillTx/>
              <a:latin typeface="Arial"/>
            </a:endParaRPr>
          </a:p>
        </p:txBody>
      </p:sp>
      <p:sp>
        <p:nvSpPr>
          <p:cNvPr id="454" name="TextBox 25"/>
          <p:cNvSpPr/>
          <p:nvPr/>
        </p:nvSpPr>
        <p:spPr>
          <a:xfrm>
            <a:off x="3840480" y="3163680"/>
            <a:ext cx="18738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1" u="none" strike="noStrike">
                <a:solidFill>
                  <a:srgbClr val="1A202A"/>
                </a:solidFill>
                <a:effectLst/>
                <a:uFillTx/>
                <a:latin typeface="Calibri"/>
              </a:rPr>
              <a:t>35%</a:t>
            </a:r>
            <a:endParaRPr lang="en-US" sz="1200" b="0" u="none" strike="noStrike">
              <a:solidFill>
                <a:srgbClr val="000000"/>
              </a:solidFill>
              <a:effectLst/>
              <a:uFillTx/>
              <a:latin typeface="Arial"/>
            </a:endParaRPr>
          </a:p>
        </p:txBody>
      </p:sp>
      <p:sp>
        <p:nvSpPr>
          <p:cNvPr id="455" name="Rounded Rectangle 26"/>
          <p:cNvSpPr/>
          <p:nvPr/>
        </p:nvSpPr>
        <p:spPr>
          <a:xfrm>
            <a:off x="5806440" y="3177720"/>
            <a:ext cx="1233720" cy="264600"/>
          </a:xfrm>
          <a:prstGeom prst="roundRect">
            <a:avLst>
              <a:gd name="adj" fmla="val 50000"/>
            </a:avLst>
          </a:prstGeom>
          <a:solidFill>
            <a:srgbClr val="FFFFFF"/>
          </a:solidFill>
          <a:ln w="13970">
            <a:solidFill>
              <a:srgbClr val="2B94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0" rIns="50760" bIns="0" anchor="ctr">
            <a:noAutofit/>
          </a:bodyPr>
          <a:p>
            <a:pPr algn="ctr" defTabSz="457200">
              <a:lnSpc>
                <a:spcPct val="100000"/>
              </a:lnSpc>
            </a:pPr>
            <a:r>
              <a:rPr lang="en-US" sz="900" b="1" u="none" strike="noStrike">
                <a:solidFill>
                  <a:srgbClr val="2B9455"/>
                </a:solidFill>
                <a:effectLst/>
                <a:uFillTx/>
                <a:latin typeface="Calibri"/>
              </a:rPr>
              <a:t>MEASURED</a:t>
            </a:r>
            <a:endParaRPr lang="en-US" sz="900" b="0" u="none" strike="noStrike">
              <a:solidFill>
                <a:srgbClr val="000000"/>
              </a:solidFill>
              <a:effectLst/>
              <a:uFillTx/>
              <a:latin typeface="Arial"/>
            </a:endParaRPr>
          </a:p>
        </p:txBody>
      </p:sp>
      <p:sp>
        <p:nvSpPr>
          <p:cNvPr id="456" name="TextBox 27"/>
          <p:cNvSpPr/>
          <p:nvPr/>
        </p:nvSpPr>
        <p:spPr>
          <a:xfrm>
            <a:off x="7269480" y="3163680"/>
            <a:ext cx="43884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050" b="0" i="1" u="none" strike="noStrike">
                <a:solidFill>
                  <a:srgbClr val="57606D"/>
                </a:solidFill>
                <a:effectLst/>
                <a:uFillTx/>
                <a:latin typeface="Calibri"/>
              </a:rPr>
              <a:t>answer key, 220 tickets</a:t>
            </a:r>
            <a:endParaRPr lang="en-US" sz="1050" b="0" u="none" strike="noStrike">
              <a:solidFill>
                <a:srgbClr val="000000"/>
              </a:solidFill>
              <a:effectLst/>
              <a:uFillTx/>
              <a:latin typeface="Arial"/>
            </a:endParaRPr>
          </a:p>
        </p:txBody>
      </p:sp>
      <p:sp>
        <p:nvSpPr>
          <p:cNvPr id="457" name="Rounded Rectangle 28"/>
          <p:cNvSpPr/>
          <p:nvPr/>
        </p:nvSpPr>
        <p:spPr>
          <a:xfrm>
            <a:off x="457200" y="3520440"/>
            <a:ext cx="11246400" cy="401760"/>
          </a:xfrm>
          <a:prstGeom prst="roundRect">
            <a:avLst>
              <a:gd name="adj" fmla="val 25000"/>
            </a:avLst>
          </a:prstGeom>
          <a:solidFill>
            <a:srgbClr val="F1F4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8" name="TextBox 29"/>
          <p:cNvSpPr/>
          <p:nvPr/>
        </p:nvSpPr>
        <p:spPr>
          <a:xfrm>
            <a:off x="502920" y="3575160"/>
            <a:ext cx="32454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0" u="none" strike="noStrike">
                <a:solidFill>
                  <a:srgbClr val="1A202A"/>
                </a:solidFill>
                <a:effectLst/>
                <a:uFillTx/>
                <a:latin typeface="Calibri"/>
              </a:rPr>
              <a:t>Runbook retrieved correctly</a:t>
            </a:r>
            <a:endParaRPr lang="en-US" sz="1200" b="0" u="none" strike="noStrike">
              <a:solidFill>
                <a:srgbClr val="000000"/>
              </a:solidFill>
              <a:effectLst/>
              <a:uFillTx/>
              <a:latin typeface="Arial"/>
            </a:endParaRPr>
          </a:p>
        </p:txBody>
      </p:sp>
      <p:sp>
        <p:nvSpPr>
          <p:cNvPr id="459" name="TextBox 30"/>
          <p:cNvSpPr/>
          <p:nvPr/>
        </p:nvSpPr>
        <p:spPr>
          <a:xfrm>
            <a:off x="3840480" y="3575160"/>
            <a:ext cx="18738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1" u="none" strike="noStrike">
                <a:solidFill>
                  <a:srgbClr val="1A202A"/>
                </a:solidFill>
                <a:effectLst/>
                <a:uFillTx/>
                <a:latin typeface="Calibri"/>
              </a:rPr>
              <a:t>100% hit-rate</a:t>
            </a:r>
            <a:endParaRPr lang="en-US" sz="1200" b="0" u="none" strike="noStrike">
              <a:solidFill>
                <a:srgbClr val="000000"/>
              </a:solidFill>
              <a:effectLst/>
              <a:uFillTx/>
              <a:latin typeface="Arial"/>
            </a:endParaRPr>
          </a:p>
        </p:txBody>
      </p:sp>
      <p:sp>
        <p:nvSpPr>
          <p:cNvPr id="460" name="Rounded Rectangle 31"/>
          <p:cNvSpPr/>
          <p:nvPr/>
        </p:nvSpPr>
        <p:spPr>
          <a:xfrm>
            <a:off x="5806440" y="3589200"/>
            <a:ext cx="1233720" cy="264600"/>
          </a:xfrm>
          <a:prstGeom prst="roundRect">
            <a:avLst>
              <a:gd name="adj" fmla="val 50000"/>
            </a:avLst>
          </a:prstGeom>
          <a:solidFill>
            <a:srgbClr val="FFFFFF"/>
          </a:solidFill>
          <a:ln w="13970">
            <a:solidFill>
              <a:srgbClr val="2B94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0" rIns="50760" bIns="0" anchor="ctr">
            <a:noAutofit/>
          </a:bodyPr>
          <a:p>
            <a:pPr algn="ctr" defTabSz="457200">
              <a:lnSpc>
                <a:spcPct val="100000"/>
              </a:lnSpc>
            </a:pPr>
            <a:r>
              <a:rPr lang="en-US" sz="900" b="1" u="none" strike="noStrike">
                <a:solidFill>
                  <a:srgbClr val="2B9455"/>
                </a:solidFill>
                <a:effectLst/>
                <a:uFillTx/>
                <a:latin typeface="Calibri"/>
              </a:rPr>
              <a:t>MEASURED</a:t>
            </a:r>
            <a:endParaRPr lang="en-US" sz="900" b="0" u="none" strike="noStrike">
              <a:solidFill>
                <a:srgbClr val="000000"/>
              </a:solidFill>
              <a:effectLst/>
              <a:uFillTx/>
              <a:latin typeface="Arial"/>
            </a:endParaRPr>
          </a:p>
        </p:txBody>
      </p:sp>
      <p:sp>
        <p:nvSpPr>
          <p:cNvPr id="461" name="TextBox 32"/>
          <p:cNvSpPr/>
          <p:nvPr/>
        </p:nvSpPr>
        <p:spPr>
          <a:xfrm>
            <a:off x="7269480" y="3575160"/>
            <a:ext cx="43884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050" b="0" i="1" u="none" strike="noStrike">
                <a:solidFill>
                  <a:srgbClr val="57606D"/>
                </a:solidFill>
                <a:effectLst/>
                <a:uFillTx/>
                <a:latin typeface="Calibri"/>
              </a:rPr>
              <a:t>vs. answer key</a:t>
            </a:r>
            <a:endParaRPr lang="en-US" sz="1050" b="0" u="none" strike="noStrike">
              <a:solidFill>
                <a:srgbClr val="000000"/>
              </a:solidFill>
              <a:effectLst/>
              <a:uFillTx/>
              <a:latin typeface="Arial"/>
            </a:endParaRPr>
          </a:p>
        </p:txBody>
      </p:sp>
      <p:sp>
        <p:nvSpPr>
          <p:cNvPr id="462" name="Rounded Rectangle 33"/>
          <p:cNvSpPr/>
          <p:nvPr/>
        </p:nvSpPr>
        <p:spPr>
          <a:xfrm>
            <a:off x="457200" y="3931920"/>
            <a:ext cx="11246400" cy="401760"/>
          </a:xfrm>
          <a:prstGeom prst="roundRect">
            <a:avLst>
              <a:gd name="adj" fmla="val 25000"/>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3" name="TextBox 34"/>
          <p:cNvSpPr/>
          <p:nvPr/>
        </p:nvSpPr>
        <p:spPr>
          <a:xfrm>
            <a:off x="502920" y="3986640"/>
            <a:ext cx="32454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0" u="none" strike="noStrike">
                <a:solidFill>
                  <a:srgbClr val="1A202A"/>
                </a:solidFill>
                <a:effectLst/>
                <a:uFillTx/>
                <a:latin typeface="Calibri"/>
              </a:rPr>
              <a:t>Guidance grounded in a runbook</a:t>
            </a:r>
            <a:endParaRPr lang="en-US" sz="1200" b="0" u="none" strike="noStrike">
              <a:solidFill>
                <a:srgbClr val="000000"/>
              </a:solidFill>
              <a:effectLst/>
              <a:uFillTx/>
              <a:latin typeface="Arial"/>
            </a:endParaRPr>
          </a:p>
        </p:txBody>
      </p:sp>
      <p:sp>
        <p:nvSpPr>
          <p:cNvPr id="464" name="TextBox 35"/>
          <p:cNvSpPr/>
          <p:nvPr/>
        </p:nvSpPr>
        <p:spPr>
          <a:xfrm>
            <a:off x="3840480" y="3986640"/>
            <a:ext cx="18738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1" u="none" strike="noStrike">
                <a:solidFill>
                  <a:srgbClr val="1A202A"/>
                </a:solidFill>
                <a:effectLst/>
                <a:uFillTx/>
                <a:latin typeface="Calibri"/>
              </a:rPr>
              <a:t>100%</a:t>
            </a:r>
            <a:endParaRPr lang="en-US" sz="1200" b="0" u="none" strike="noStrike">
              <a:solidFill>
                <a:srgbClr val="000000"/>
              </a:solidFill>
              <a:effectLst/>
              <a:uFillTx/>
              <a:latin typeface="Arial"/>
            </a:endParaRPr>
          </a:p>
        </p:txBody>
      </p:sp>
      <p:sp>
        <p:nvSpPr>
          <p:cNvPr id="465" name="Rounded Rectangle 36"/>
          <p:cNvSpPr/>
          <p:nvPr/>
        </p:nvSpPr>
        <p:spPr>
          <a:xfrm>
            <a:off x="5806440" y="4000680"/>
            <a:ext cx="1233720" cy="264600"/>
          </a:xfrm>
          <a:prstGeom prst="roundRect">
            <a:avLst>
              <a:gd name="adj" fmla="val 50000"/>
            </a:avLst>
          </a:prstGeom>
          <a:solidFill>
            <a:srgbClr val="FFFFFF"/>
          </a:solidFill>
          <a:ln w="13970">
            <a:solidFill>
              <a:srgbClr val="2B94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0" rIns="50760" bIns="0" anchor="ctr">
            <a:noAutofit/>
          </a:bodyPr>
          <a:p>
            <a:pPr algn="ctr" defTabSz="457200">
              <a:lnSpc>
                <a:spcPct val="100000"/>
              </a:lnSpc>
            </a:pPr>
            <a:r>
              <a:rPr lang="en-US" sz="900" b="1" u="none" strike="noStrike">
                <a:solidFill>
                  <a:srgbClr val="2B9455"/>
                </a:solidFill>
                <a:effectLst/>
                <a:uFillTx/>
                <a:latin typeface="Calibri"/>
              </a:rPr>
              <a:t>MEASURED</a:t>
            </a:r>
            <a:endParaRPr lang="en-US" sz="900" b="0" u="none" strike="noStrike">
              <a:solidFill>
                <a:srgbClr val="000000"/>
              </a:solidFill>
              <a:effectLst/>
              <a:uFillTx/>
              <a:latin typeface="Arial"/>
            </a:endParaRPr>
          </a:p>
        </p:txBody>
      </p:sp>
      <p:sp>
        <p:nvSpPr>
          <p:cNvPr id="466" name="TextBox 37"/>
          <p:cNvSpPr/>
          <p:nvPr/>
        </p:nvSpPr>
        <p:spPr>
          <a:xfrm>
            <a:off x="7269480" y="3986640"/>
            <a:ext cx="43884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050" b="0" i="1" u="none" strike="noStrike">
                <a:solidFill>
                  <a:srgbClr val="57606D"/>
                </a:solidFill>
                <a:effectLst/>
                <a:uFillTx/>
                <a:latin typeface="Calibri"/>
              </a:rPr>
              <a:t>162 specifics checked, 0 unsupported</a:t>
            </a:r>
            <a:endParaRPr lang="en-US" sz="1050" b="0" u="none" strike="noStrike">
              <a:solidFill>
                <a:srgbClr val="000000"/>
              </a:solidFill>
              <a:effectLst/>
              <a:uFillTx/>
              <a:latin typeface="Arial"/>
            </a:endParaRPr>
          </a:p>
        </p:txBody>
      </p:sp>
      <p:sp>
        <p:nvSpPr>
          <p:cNvPr id="467" name="Rounded Rectangle 38"/>
          <p:cNvSpPr/>
          <p:nvPr/>
        </p:nvSpPr>
        <p:spPr>
          <a:xfrm>
            <a:off x="457200" y="4343400"/>
            <a:ext cx="11246400" cy="401760"/>
          </a:xfrm>
          <a:prstGeom prst="roundRect">
            <a:avLst>
              <a:gd name="adj" fmla="val 25000"/>
            </a:avLst>
          </a:prstGeom>
          <a:solidFill>
            <a:srgbClr val="F1F4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8" name="TextBox 39"/>
          <p:cNvSpPr/>
          <p:nvPr/>
        </p:nvSpPr>
        <p:spPr>
          <a:xfrm>
            <a:off x="502920" y="4398120"/>
            <a:ext cx="32454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0" u="none" strike="noStrike">
                <a:solidFill>
                  <a:srgbClr val="1A202A"/>
                </a:solidFill>
                <a:effectLst/>
                <a:uFillTx/>
                <a:latin typeface="Calibri"/>
              </a:rPr>
              <a:t>Agent response, end to end</a:t>
            </a:r>
            <a:endParaRPr lang="en-US" sz="1200" b="0" u="none" strike="noStrike">
              <a:solidFill>
                <a:srgbClr val="000000"/>
              </a:solidFill>
              <a:effectLst/>
              <a:uFillTx/>
              <a:latin typeface="Arial"/>
            </a:endParaRPr>
          </a:p>
        </p:txBody>
      </p:sp>
      <p:sp>
        <p:nvSpPr>
          <p:cNvPr id="469" name="TextBox 40"/>
          <p:cNvSpPr/>
          <p:nvPr/>
        </p:nvSpPr>
        <p:spPr>
          <a:xfrm>
            <a:off x="3840480" y="4398120"/>
            <a:ext cx="18738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1" u="none" strike="noStrike">
                <a:solidFill>
                  <a:srgbClr val="1A202A"/>
                </a:solidFill>
                <a:effectLst/>
                <a:uFillTx/>
                <a:latin typeface="Calibri"/>
              </a:rPr>
              <a:t>1.2s avg · 4.0s p95</a:t>
            </a:r>
            <a:endParaRPr lang="en-US" sz="1200" b="0" u="none" strike="noStrike">
              <a:solidFill>
                <a:srgbClr val="000000"/>
              </a:solidFill>
              <a:effectLst/>
              <a:uFillTx/>
              <a:latin typeface="Arial"/>
            </a:endParaRPr>
          </a:p>
        </p:txBody>
      </p:sp>
      <p:sp>
        <p:nvSpPr>
          <p:cNvPr id="470" name="Rounded Rectangle 41"/>
          <p:cNvSpPr/>
          <p:nvPr/>
        </p:nvSpPr>
        <p:spPr>
          <a:xfrm>
            <a:off x="5806440" y="4412160"/>
            <a:ext cx="1233720" cy="264600"/>
          </a:xfrm>
          <a:prstGeom prst="roundRect">
            <a:avLst>
              <a:gd name="adj" fmla="val 50000"/>
            </a:avLst>
          </a:prstGeom>
          <a:solidFill>
            <a:srgbClr val="FFFFFF"/>
          </a:solidFill>
          <a:ln w="13970">
            <a:solidFill>
              <a:srgbClr val="2B94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0" rIns="50760" bIns="0" anchor="ctr">
            <a:noAutofit/>
          </a:bodyPr>
          <a:p>
            <a:pPr algn="ctr" defTabSz="457200">
              <a:lnSpc>
                <a:spcPct val="100000"/>
              </a:lnSpc>
            </a:pPr>
            <a:r>
              <a:rPr lang="en-US" sz="900" b="1" u="none" strike="noStrike">
                <a:solidFill>
                  <a:srgbClr val="2B9455"/>
                </a:solidFill>
                <a:effectLst/>
                <a:uFillTx/>
                <a:latin typeface="Calibri"/>
              </a:rPr>
              <a:t>MEASURED</a:t>
            </a:r>
            <a:endParaRPr lang="en-US" sz="900" b="0" u="none" strike="noStrike">
              <a:solidFill>
                <a:srgbClr val="000000"/>
              </a:solidFill>
              <a:effectLst/>
              <a:uFillTx/>
              <a:latin typeface="Arial"/>
            </a:endParaRPr>
          </a:p>
        </p:txBody>
      </p:sp>
      <p:sp>
        <p:nvSpPr>
          <p:cNvPr id="471" name="TextBox 42"/>
          <p:cNvSpPr/>
          <p:nvPr/>
        </p:nvSpPr>
        <p:spPr>
          <a:xfrm>
            <a:off x="7269480" y="4398120"/>
            <a:ext cx="43884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050" b="0" i="1" u="none" strike="noStrike">
                <a:solidFill>
                  <a:srgbClr val="57606D"/>
                </a:solidFill>
                <a:effectLst/>
                <a:uFillTx/>
                <a:latin typeface="Calibri"/>
              </a:rPr>
              <a:t>true wall-clock</a:t>
            </a:r>
            <a:endParaRPr lang="en-US" sz="1050" b="0" u="none" strike="noStrike">
              <a:solidFill>
                <a:srgbClr val="000000"/>
              </a:solidFill>
              <a:effectLst/>
              <a:uFillTx/>
              <a:latin typeface="Arial"/>
            </a:endParaRPr>
          </a:p>
        </p:txBody>
      </p:sp>
      <p:sp>
        <p:nvSpPr>
          <p:cNvPr id="472" name="Rounded Rectangle 43"/>
          <p:cNvSpPr/>
          <p:nvPr/>
        </p:nvSpPr>
        <p:spPr>
          <a:xfrm>
            <a:off x="457200" y="4754880"/>
            <a:ext cx="11246400" cy="401760"/>
          </a:xfrm>
          <a:prstGeom prst="roundRect">
            <a:avLst>
              <a:gd name="adj" fmla="val 25000"/>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3" name="TextBox 44"/>
          <p:cNvSpPr/>
          <p:nvPr/>
        </p:nvSpPr>
        <p:spPr>
          <a:xfrm>
            <a:off x="502920" y="4809600"/>
            <a:ext cx="32454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0" u="none" strike="noStrike">
                <a:solidFill>
                  <a:srgbClr val="1A202A"/>
                </a:solidFill>
                <a:effectLst/>
                <a:uFillTx/>
                <a:latin typeface="Calibri"/>
              </a:rPr>
              <a:t>Time to first response today</a:t>
            </a:r>
            <a:endParaRPr lang="en-US" sz="1200" b="0" u="none" strike="noStrike">
              <a:solidFill>
                <a:srgbClr val="000000"/>
              </a:solidFill>
              <a:effectLst/>
              <a:uFillTx/>
              <a:latin typeface="Arial"/>
            </a:endParaRPr>
          </a:p>
        </p:txBody>
      </p:sp>
      <p:sp>
        <p:nvSpPr>
          <p:cNvPr id="474" name="TextBox 45"/>
          <p:cNvSpPr/>
          <p:nvPr/>
        </p:nvSpPr>
        <p:spPr>
          <a:xfrm>
            <a:off x="3840480" y="4809600"/>
            <a:ext cx="18738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1" u="none" strike="noStrike">
                <a:solidFill>
                  <a:srgbClr val="1A202A"/>
                </a:solidFill>
                <a:effectLst/>
                <a:uFillTx/>
                <a:latin typeface="Calibri"/>
              </a:rPr>
              <a:t>30–45 min</a:t>
            </a:r>
            <a:endParaRPr lang="en-US" sz="1200" b="0" u="none" strike="noStrike">
              <a:solidFill>
                <a:srgbClr val="000000"/>
              </a:solidFill>
              <a:effectLst/>
              <a:uFillTx/>
              <a:latin typeface="Arial"/>
            </a:endParaRPr>
          </a:p>
        </p:txBody>
      </p:sp>
      <p:sp>
        <p:nvSpPr>
          <p:cNvPr id="475" name="Rounded Rectangle 46"/>
          <p:cNvSpPr/>
          <p:nvPr/>
        </p:nvSpPr>
        <p:spPr>
          <a:xfrm>
            <a:off x="5806440" y="4823640"/>
            <a:ext cx="1233720" cy="264600"/>
          </a:xfrm>
          <a:prstGeom prst="roundRect">
            <a:avLst>
              <a:gd name="adj" fmla="val 50000"/>
            </a:avLst>
          </a:prstGeom>
          <a:solidFill>
            <a:srgbClr val="FFFFFF"/>
          </a:solidFill>
          <a:ln w="13970">
            <a:solidFill>
              <a:srgbClr val="4C4A8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0" rIns="50760" bIns="0" anchor="ctr">
            <a:noAutofit/>
          </a:bodyPr>
          <a:p>
            <a:pPr algn="ctr" defTabSz="457200">
              <a:lnSpc>
                <a:spcPct val="100000"/>
              </a:lnSpc>
            </a:pPr>
            <a:r>
              <a:rPr lang="en-US" sz="900" b="1" u="none" strike="noStrike">
                <a:solidFill>
                  <a:srgbClr val="4C4A8F"/>
                </a:solidFill>
                <a:effectLst/>
                <a:uFillTx/>
                <a:latin typeface="Calibri"/>
              </a:rPr>
              <a:t>STATED</a:t>
            </a:r>
            <a:endParaRPr lang="en-US" sz="900" b="0" u="none" strike="noStrike">
              <a:solidFill>
                <a:srgbClr val="000000"/>
              </a:solidFill>
              <a:effectLst/>
              <a:uFillTx/>
              <a:latin typeface="Arial"/>
            </a:endParaRPr>
          </a:p>
        </p:txBody>
      </p:sp>
      <p:sp>
        <p:nvSpPr>
          <p:cNvPr id="476" name="TextBox 47"/>
          <p:cNvSpPr/>
          <p:nvPr/>
        </p:nvSpPr>
        <p:spPr>
          <a:xfrm>
            <a:off x="7269480" y="4809600"/>
            <a:ext cx="43884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050" b="0" i="1" u="none" strike="noStrike">
                <a:solidFill>
                  <a:srgbClr val="57606D"/>
                </a:solidFill>
                <a:effectLst/>
                <a:uFillTx/>
                <a:latin typeface="Calibri"/>
              </a:rPr>
              <a:t>ServeWell's own brief</a:t>
            </a:r>
            <a:endParaRPr lang="en-US" sz="1050" b="0" u="none" strike="noStrike">
              <a:solidFill>
                <a:srgbClr val="000000"/>
              </a:solidFill>
              <a:effectLst/>
              <a:uFillTx/>
              <a:latin typeface="Arial"/>
            </a:endParaRPr>
          </a:p>
        </p:txBody>
      </p:sp>
      <p:sp>
        <p:nvSpPr>
          <p:cNvPr id="477" name="Rounded Rectangle 48"/>
          <p:cNvSpPr/>
          <p:nvPr/>
        </p:nvSpPr>
        <p:spPr>
          <a:xfrm>
            <a:off x="457200" y="5166360"/>
            <a:ext cx="11246400" cy="401760"/>
          </a:xfrm>
          <a:prstGeom prst="roundRect">
            <a:avLst>
              <a:gd name="adj" fmla="val 25000"/>
            </a:avLst>
          </a:prstGeom>
          <a:solidFill>
            <a:srgbClr val="F1F4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8" name="TextBox 49"/>
          <p:cNvSpPr/>
          <p:nvPr/>
        </p:nvSpPr>
        <p:spPr>
          <a:xfrm>
            <a:off x="502920" y="5221080"/>
            <a:ext cx="32454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0" u="none" strike="noStrike">
                <a:solidFill>
                  <a:srgbClr val="1A202A"/>
                </a:solidFill>
                <a:effectLst/>
                <a:uFillTx/>
                <a:latin typeface="Calibri"/>
              </a:rPr>
              <a:t>Repetitive, runbook-mappable tickets</a:t>
            </a:r>
            <a:endParaRPr lang="en-US" sz="1200" b="0" u="none" strike="noStrike">
              <a:solidFill>
                <a:srgbClr val="000000"/>
              </a:solidFill>
              <a:effectLst/>
              <a:uFillTx/>
              <a:latin typeface="Arial"/>
            </a:endParaRPr>
          </a:p>
        </p:txBody>
      </p:sp>
      <p:sp>
        <p:nvSpPr>
          <p:cNvPr id="479" name="TextBox 50"/>
          <p:cNvSpPr/>
          <p:nvPr/>
        </p:nvSpPr>
        <p:spPr>
          <a:xfrm>
            <a:off x="3840480" y="5221080"/>
            <a:ext cx="18738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1" u="none" strike="noStrike">
                <a:solidFill>
                  <a:srgbClr val="1A202A"/>
                </a:solidFill>
                <a:effectLst/>
                <a:uFillTx/>
                <a:latin typeface="Calibri"/>
              </a:rPr>
              <a:t>60–70%</a:t>
            </a:r>
            <a:endParaRPr lang="en-US" sz="1200" b="0" u="none" strike="noStrike">
              <a:solidFill>
                <a:srgbClr val="000000"/>
              </a:solidFill>
              <a:effectLst/>
              <a:uFillTx/>
              <a:latin typeface="Arial"/>
            </a:endParaRPr>
          </a:p>
        </p:txBody>
      </p:sp>
      <p:sp>
        <p:nvSpPr>
          <p:cNvPr id="480" name="Rounded Rectangle 51"/>
          <p:cNvSpPr/>
          <p:nvPr/>
        </p:nvSpPr>
        <p:spPr>
          <a:xfrm>
            <a:off x="5806440" y="5235120"/>
            <a:ext cx="1233720" cy="264600"/>
          </a:xfrm>
          <a:prstGeom prst="roundRect">
            <a:avLst>
              <a:gd name="adj" fmla="val 50000"/>
            </a:avLst>
          </a:prstGeom>
          <a:solidFill>
            <a:srgbClr val="FFFFFF"/>
          </a:solidFill>
          <a:ln w="13970">
            <a:solidFill>
              <a:srgbClr val="4C4A8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0" rIns="50760" bIns="0" anchor="ctr">
            <a:noAutofit/>
          </a:bodyPr>
          <a:p>
            <a:pPr algn="ctr" defTabSz="457200">
              <a:lnSpc>
                <a:spcPct val="100000"/>
              </a:lnSpc>
            </a:pPr>
            <a:r>
              <a:rPr lang="en-US" sz="900" b="1" u="none" strike="noStrike">
                <a:solidFill>
                  <a:srgbClr val="4C4A8F"/>
                </a:solidFill>
                <a:effectLst/>
                <a:uFillTx/>
                <a:latin typeface="Calibri"/>
              </a:rPr>
              <a:t>STATED</a:t>
            </a:r>
            <a:endParaRPr lang="en-US" sz="900" b="0" u="none" strike="noStrike">
              <a:solidFill>
                <a:srgbClr val="000000"/>
              </a:solidFill>
              <a:effectLst/>
              <a:uFillTx/>
              <a:latin typeface="Arial"/>
            </a:endParaRPr>
          </a:p>
        </p:txBody>
      </p:sp>
      <p:sp>
        <p:nvSpPr>
          <p:cNvPr id="481" name="TextBox 52"/>
          <p:cNvSpPr/>
          <p:nvPr/>
        </p:nvSpPr>
        <p:spPr>
          <a:xfrm>
            <a:off x="7269480" y="5221080"/>
            <a:ext cx="43884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050" b="0" i="1" u="none" strike="noStrike">
                <a:solidFill>
                  <a:srgbClr val="57606D"/>
                </a:solidFill>
                <a:effectLst/>
                <a:uFillTx/>
                <a:latin typeface="Calibri"/>
              </a:rPr>
              <a:t>ServeWell's own brief</a:t>
            </a:r>
            <a:endParaRPr lang="en-US" sz="1050" b="0" u="none" strike="noStrike">
              <a:solidFill>
                <a:srgbClr val="000000"/>
              </a:solidFill>
              <a:effectLst/>
              <a:uFillTx/>
              <a:latin typeface="Arial"/>
            </a:endParaRPr>
          </a:p>
        </p:txBody>
      </p:sp>
      <p:sp>
        <p:nvSpPr>
          <p:cNvPr id="482" name="Rounded Rectangle 53"/>
          <p:cNvSpPr/>
          <p:nvPr/>
        </p:nvSpPr>
        <p:spPr>
          <a:xfrm>
            <a:off x="457200" y="5577840"/>
            <a:ext cx="11246400" cy="401760"/>
          </a:xfrm>
          <a:prstGeom prst="roundRect">
            <a:avLst>
              <a:gd name="adj" fmla="val 25000"/>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3" name="TextBox 54"/>
          <p:cNvSpPr/>
          <p:nvPr/>
        </p:nvSpPr>
        <p:spPr>
          <a:xfrm>
            <a:off x="502920" y="5632560"/>
            <a:ext cx="32454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0" u="none" strike="noStrike">
                <a:solidFill>
                  <a:srgbClr val="1A202A"/>
                </a:solidFill>
                <a:effectLst/>
                <a:uFillTx/>
                <a:latin typeface="Calibri"/>
              </a:rPr>
              <a:t>Volume · handle time · cost · deflection</a:t>
            </a:r>
            <a:endParaRPr lang="en-US" sz="1200" b="0" u="none" strike="noStrike">
              <a:solidFill>
                <a:srgbClr val="000000"/>
              </a:solidFill>
              <a:effectLst/>
              <a:uFillTx/>
              <a:latin typeface="Arial"/>
            </a:endParaRPr>
          </a:p>
        </p:txBody>
      </p:sp>
      <p:sp>
        <p:nvSpPr>
          <p:cNvPr id="484" name="TextBox 55"/>
          <p:cNvSpPr/>
          <p:nvPr/>
        </p:nvSpPr>
        <p:spPr>
          <a:xfrm>
            <a:off x="3840480" y="5632560"/>
            <a:ext cx="18738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200" b="1" u="none" strike="noStrike">
                <a:solidFill>
                  <a:srgbClr val="1A202A"/>
                </a:solidFill>
                <a:effectLst/>
                <a:uFillTx/>
                <a:latin typeface="Calibri"/>
              </a:rPr>
              <a:t>400/day · 18min · $22/hr · 60%</a:t>
            </a:r>
            <a:endParaRPr lang="en-US" sz="1200" b="0" u="none" strike="noStrike">
              <a:solidFill>
                <a:srgbClr val="000000"/>
              </a:solidFill>
              <a:effectLst/>
              <a:uFillTx/>
              <a:latin typeface="Arial"/>
            </a:endParaRPr>
          </a:p>
        </p:txBody>
      </p:sp>
      <p:sp>
        <p:nvSpPr>
          <p:cNvPr id="485" name="Rounded Rectangle 56"/>
          <p:cNvSpPr/>
          <p:nvPr/>
        </p:nvSpPr>
        <p:spPr>
          <a:xfrm>
            <a:off x="5806440" y="5646600"/>
            <a:ext cx="1233720" cy="264600"/>
          </a:xfrm>
          <a:prstGeom prst="roundRect">
            <a:avLst>
              <a:gd name="adj" fmla="val 50000"/>
            </a:avLst>
          </a:prstGeom>
          <a:solidFill>
            <a:srgbClr val="FFFFFF"/>
          </a:solidFill>
          <a:ln w="13970">
            <a:solidFill>
              <a:srgbClr val="A86A1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0" rIns="50760" bIns="0" anchor="ctr">
            <a:noAutofit/>
          </a:bodyPr>
          <a:p>
            <a:pPr algn="ctr" defTabSz="457200">
              <a:lnSpc>
                <a:spcPct val="100000"/>
              </a:lnSpc>
            </a:pPr>
            <a:r>
              <a:rPr lang="en-US" sz="900" b="1" u="none" strike="noStrike">
                <a:solidFill>
                  <a:srgbClr val="A86A14"/>
                </a:solidFill>
                <a:effectLst/>
                <a:uFillTx/>
                <a:latin typeface="Calibri"/>
              </a:rPr>
              <a:t>ASSUMPTION</a:t>
            </a:r>
            <a:endParaRPr lang="en-US" sz="900" b="0" u="none" strike="noStrike">
              <a:solidFill>
                <a:srgbClr val="000000"/>
              </a:solidFill>
              <a:effectLst/>
              <a:uFillTx/>
              <a:latin typeface="Arial"/>
            </a:endParaRPr>
          </a:p>
        </p:txBody>
      </p:sp>
      <p:sp>
        <p:nvSpPr>
          <p:cNvPr id="486" name="TextBox 57"/>
          <p:cNvSpPr/>
          <p:nvPr/>
        </p:nvSpPr>
        <p:spPr>
          <a:xfrm>
            <a:off x="7269480" y="5632560"/>
            <a:ext cx="4388400" cy="29196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1050" b="0" i="1" u="none" strike="noStrike">
                <a:solidFill>
                  <a:srgbClr val="57606D"/>
                </a:solidFill>
                <a:effectLst/>
                <a:uFillTx/>
                <a:latin typeface="Calibri"/>
              </a:rPr>
              <a:t>yours to set — adjustable</a:t>
            </a:r>
            <a:endParaRPr lang="en-US" sz="1050" b="0" u="none" strike="noStrike">
              <a:solidFill>
                <a:srgbClr val="000000"/>
              </a:solidFill>
              <a:effectLst/>
              <a:uFillTx/>
              <a:latin typeface="Arial"/>
            </a:endParaRPr>
          </a:p>
        </p:txBody>
      </p:sp>
      <p:sp>
        <p:nvSpPr>
          <p:cNvPr id="487" name="Rounded Rectangle 58"/>
          <p:cNvSpPr/>
          <p:nvPr/>
        </p:nvSpPr>
        <p:spPr>
          <a:xfrm>
            <a:off x="502920" y="6108120"/>
            <a:ext cx="11154960" cy="502200"/>
          </a:xfrm>
          <a:prstGeom prst="roundRect">
            <a:avLst>
              <a:gd name="adj" fmla="val 18000"/>
            </a:avLst>
          </a:prstGeom>
          <a:solidFill>
            <a:srgbClr val="FDF4E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8" name="TextBox 59"/>
          <p:cNvSpPr/>
          <p:nvPr/>
        </p:nvSpPr>
        <p:spPr>
          <a:xfrm>
            <a:off x="777240" y="6190560"/>
            <a:ext cx="10606320" cy="3466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50" b="0" u="none" strike="noStrike">
                <a:solidFill>
                  <a:srgbClr val="A86A14"/>
                </a:solidFill>
                <a:effectLst/>
                <a:uFillTx/>
                <a:latin typeface="Calibri"/>
              </a:rPr>
              <a:t>The deflection rate is the single assumption most worth validating first — it is a hypothesis until the agent runs in shadow mode against live tickets.</a:t>
            </a:r>
            <a:endParaRPr lang="en-US" sz="1150" b="0" u="none" strike="noStrike">
              <a:solidFill>
                <a:srgbClr val="000000"/>
              </a:solidFill>
              <a:effectLst/>
              <a:uFillTx/>
              <a:latin typeface="Arial"/>
            </a:endParaRPr>
          </a:p>
        </p:txBody>
      </p:sp>
      <p:sp>
        <p:nvSpPr>
          <p:cNvPr id="489" name="TextBox 60"/>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ServeWell IT Support Agent Suite — phData Intelligence Platform</a:t>
            </a:r>
            <a:endParaRPr lang="en-US" sz="900" b="0" u="none" strike="noStrike">
              <a:solidFill>
                <a:srgbClr val="000000"/>
              </a:solidFill>
              <a:effectLst/>
              <a:uFillTx/>
              <a:latin typeface="Arial"/>
            </a:endParaRPr>
          </a:p>
        </p:txBody>
      </p:sp>
      <p:sp>
        <p:nvSpPr>
          <p:cNvPr id="490" name="TextBox 61"/>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17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840"/>
        </a:solidFill>
      </p:bgPr>
    </p:bg>
    <p:spTree>
      <p:nvGrpSpPr>
        <p:cNvPr id="1" name=""/>
        <p:cNvGrpSpPr/>
        <p:nvPr/>
      </p:nvGrpSpPr>
      <p:grpSpPr>
        <a:xfrm>
          <a:off x="0" y="0"/>
          <a:ext cx="0" cy="0"/>
          <a:chOff x="0" y="0"/>
          <a:chExt cx="0" cy="0"/>
        </a:xfrm>
      </p:grpSpPr>
      <p:sp>
        <p:nvSpPr>
          <p:cNvPr id="491" name="TextBox 1"/>
          <p:cNvSpPr/>
          <p:nvPr/>
        </p:nvSpPr>
        <p:spPr>
          <a:xfrm>
            <a:off x="502920" y="402480"/>
            <a:ext cx="82288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50" b="1" u="none" strike="noStrike">
                <a:solidFill>
                  <a:srgbClr val="179285"/>
                </a:solidFill>
                <a:effectLst/>
                <a:uFillTx/>
                <a:latin typeface="Calibri"/>
              </a:rPr>
              <a:t>WHAT I WOULD IMPROVE WITH MORE TIME</a:t>
            </a:r>
            <a:endParaRPr lang="en-US" sz="1250" b="0" u="none" strike="noStrike">
              <a:solidFill>
                <a:srgbClr val="FFFFFF"/>
              </a:solidFill>
              <a:effectLst/>
              <a:uFillTx/>
              <a:latin typeface="Arial"/>
            </a:endParaRPr>
          </a:p>
        </p:txBody>
      </p:sp>
      <p:sp>
        <p:nvSpPr>
          <p:cNvPr id="492" name="TextBox 2"/>
          <p:cNvSpPr/>
          <p:nvPr/>
        </p:nvSpPr>
        <p:spPr>
          <a:xfrm>
            <a:off x="502920" y="713160"/>
            <a:ext cx="10972080" cy="6393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FFFFFF"/>
                </a:solidFill>
                <a:effectLst/>
                <a:uFillTx/>
                <a:latin typeface="Calibri"/>
              </a:rPr>
              <a:t>What this POC does not claim</a:t>
            </a:r>
            <a:endParaRPr lang="en-US" sz="2800" b="0" u="none" strike="noStrike">
              <a:solidFill>
                <a:srgbClr val="FFFFFF"/>
              </a:solidFill>
              <a:effectLst/>
              <a:uFillTx/>
              <a:latin typeface="Arial"/>
            </a:endParaRPr>
          </a:p>
        </p:txBody>
      </p:sp>
      <p:sp>
        <p:nvSpPr>
          <p:cNvPr id="493" name="Rectangle 3"/>
          <p:cNvSpPr/>
          <p:nvPr/>
        </p:nvSpPr>
        <p:spPr>
          <a:xfrm>
            <a:off x="502920" y="135324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sp>
        <p:nvSpPr>
          <p:cNvPr id="494" name="Rectangle 4"/>
          <p:cNvSpPr/>
          <p:nvPr/>
        </p:nvSpPr>
        <p:spPr>
          <a:xfrm>
            <a:off x="502920" y="1774080"/>
            <a:ext cx="118080" cy="730800"/>
          </a:xfrm>
          <a:prstGeom prst="rect">
            <a:avLst/>
          </a:prstGeom>
          <a:solidFill>
            <a:srgbClr val="B882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9040" tIns="45000" rIns="59040" bIns="45000" anchor="ctr">
            <a:noAutofit/>
          </a:bodyPr>
          <a:p>
            <a:endParaRPr lang="en-US" sz="1800" b="0" u="none" strike="noStrike">
              <a:solidFill>
                <a:schemeClr val="lt1"/>
              </a:solidFill>
              <a:effectLst/>
              <a:uFillTx/>
              <a:latin typeface="Calibri"/>
            </a:endParaRPr>
          </a:p>
        </p:txBody>
      </p:sp>
      <p:sp>
        <p:nvSpPr>
          <p:cNvPr id="495" name="TextBox 5"/>
          <p:cNvSpPr/>
          <p:nvPr/>
        </p:nvSpPr>
        <p:spPr>
          <a:xfrm>
            <a:off x="777240" y="1755720"/>
            <a:ext cx="1060632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50" b="1" u="none" strike="noStrike">
                <a:solidFill>
                  <a:srgbClr val="FFFFFF"/>
                </a:solidFill>
                <a:effectLst/>
                <a:uFillTx/>
                <a:latin typeface="Calibri"/>
              </a:rPr>
              <a:t>Deflection is projected, not proven.</a:t>
            </a:r>
            <a:endParaRPr lang="en-US" sz="1350" b="0" u="none" strike="noStrike">
              <a:solidFill>
                <a:srgbClr val="FFFFFF"/>
              </a:solidFill>
              <a:effectLst/>
              <a:uFillTx/>
              <a:latin typeface="Arial"/>
            </a:endParaRPr>
          </a:p>
        </p:txBody>
      </p:sp>
      <p:sp>
        <p:nvSpPr>
          <p:cNvPr id="496" name="TextBox 6"/>
          <p:cNvSpPr/>
          <p:nvPr/>
        </p:nvSpPr>
        <p:spPr>
          <a:xfrm>
            <a:off x="777240" y="2030040"/>
            <a:ext cx="10606320" cy="6210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50" b="0" u="none" strike="noStrike">
                <a:solidFill>
                  <a:srgbClr val="C9D5E1"/>
                </a:solidFill>
                <a:effectLst/>
                <a:uFillTx/>
                <a:latin typeface="Calibri"/>
              </a:rPr>
              <a:t>The agent guides a store through a fix; it does not close tickets unaided. Shadow-mode against live traffic is the highest-value next step, and the one number I would insist on validating before signing a business case.</a:t>
            </a:r>
            <a:endParaRPr lang="en-US" sz="1150" b="0" u="none" strike="noStrike">
              <a:solidFill>
                <a:srgbClr val="FFFFFF"/>
              </a:solidFill>
              <a:effectLst/>
              <a:uFillTx/>
              <a:latin typeface="Arial"/>
            </a:endParaRPr>
          </a:p>
        </p:txBody>
      </p:sp>
      <p:sp>
        <p:nvSpPr>
          <p:cNvPr id="497" name="Rectangle 7"/>
          <p:cNvSpPr/>
          <p:nvPr/>
        </p:nvSpPr>
        <p:spPr>
          <a:xfrm>
            <a:off x="502920" y="2706480"/>
            <a:ext cx="118080" cy="730800"/>
          </a:xfrm>
          <a:prstGeom prst="rect">
            <a:avLst/>
          </a:prstGeom>
          <a:solidFill>
            <a:srgbClr val="B882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9040" tIns="45000" rIns="59040" bIns="45000" anchor="ctr">
            <a:noAutofit/>
          </a:bodyPr>
          <a:p>
            <a:endParaRPr lang="en-US" sz="1800" b="0" u="none" strike="noStrike">
              <a:solidFill>
                <a:schemeClr val="lt1"/>
              </a:solidFill>
              <a:effectLst/>
              <a:uFillTx/>
              <a:latin typeface="Calibri"/>
            </a:endParaRPr>
          </a:p>
        </p:txBody>
      </p:sp>
      <p:sp>
        <p:nvSpPr>
          <p:cNvPr id="498" name="TextBox 8"/>
          <p:cNvSpPr/>
          <p:nvPr/>
        </p:nvSpPr>
        <p:spPr>
          <a:xfrm>
            <a:off x="777240" y="2688480"/>
            <a:ext cx="1060632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50" b="1" u="none" strike="noStrike">
                <a:solidFill>
                  <a:srgbClr val="FFFFFF"/>
                </a:solidFill>
                <a:effectLst/>
                <a:uFillTx/>
                <a:latin typeface="Calibri"/>
              </a:rPr>
              <a:t>Routing is tuned on the tickets it is scored on.</a:t>
            </a:r>
            <a:endParaRPr lang="en-US" sz="1350" b="0" u="none" strike="noStrike">
              <a:solidFill>
                <a:srgbClr val="FFFFFF"/>
              </a:solidFill>
              <a:effectLst/>
              <a:uFillTx/>
              <a:latin typeface="Arial"/>
            </a:endParaRPr>
          </a:p>
        </p:txBody>
      </p:sp>
      <p:sp>
        <p:nvSpPr>
          <p:cNvPr id="499" name="TextBox 9"/>
          <p:cNvSpPr/>
          <p:nvPr/>
        </p:nvSpPr>
        <p:spPr>
          <a:xfrm>
            <a:off x="777240" y="2962800"/>
            <a:ext cx="10606320" cy="6210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50" b="0" u="none" strike="noStrike">
                <a:solidFill>
                  <a:srgbClr val="C9D5E1"/>
                </a:solidFill>
                <a:effectLst/>
                <a:uFillTx/>
                <a:latin typeface="Calibri"/>
              </a:rPr>
              <a:t>90.2% is an upper bound, not a held-out result. The honest test is the unseen cases you hand me today.</a:t>
            </a:r>
            <a:endParaRPr lang="en-US" sz="1150" b="0" u="none" strike="noStrike">
              <a:solidFill>
                <a:srgbClr val="FFFFFF"/>
              </a:solidFill>
              <a:effectLst/>
              <a:uFillTx/>
              <a:latin typeface="Arial"/>
            </a:endParaRPr>
          </a:p>
        </p:txBody>
      </p:sp>
      <p:sp>
        <p:nvSpPr>
          <p:cNvPr id="500" name="Rectangle 10"/>
          <p:cNvSpPr/>
          <p:nvPr/>
        </p:nvSpPr>
        <p:spPr>
          <a:xfrm>
            <a:off x="502920" y="3639240"/>
            <a:ext cx="118080" cy="730800"/>
          </a:xfrm>
          <a:prstGeom prst="rect">
            <a:avLst/>
          </a:prstGeom>
          <a:solidFill>
            <a:srgbClr val="B882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9040" tIns="45000" rIns="59040" bIns="45000" anchor="ctr">
            <a:noAutofit/>
          </a:bodyPr>
          <a:p>
            <a:endParaRPr lang="en-US" sz="1800" b="0" u="none" strike="noStrike">
              <a:solidFill>
                <a:schemeClr val="lt1"/>
              </a:solidFill>
              <a:effectLst/>
              <a:uFillTx/>
              <a:latin typeface="Calibri"/>
            </a:endParaRPr>
          </a:p>
        </p:txBody>
      </p:sp>
      <p:sp>
        <p:nvSpPr>
          <p:cNvPr id="501" name="TextBox 11"/>
          <p:cNvSpPr/>
          <p:nvPr/>
        </p:nvSpPr>
        <p:spPr>
          <a:xfrm>
            <a:off x="777240" y="3620880"/>
            <a:ext cx="1060632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50" b="1" u="none" strike="noStrike">
                <a:solidFill>
                  <a:srgbClr val="FFFFFF"/>
                </a:solidFill>
                <a:effectLst/>
                <a:uFillTx/>
                <a:latin typeface="Calibri"/>
              </a:rPr>
              <a:t>The model is non-deterministic at temperature 0.</a:t>
            </a:r>
            <a:endParaRPr lang="en-US" sz="1350" b="0" u="none" strike="noStrike">
              <a:solidFill>
                <a:srgbClr val="FFFFFF"/>
              </a:solidFill>
              <a:effectLst/>
              <a:uFillTx/>
              <a:latin typeface="Arial"/>
            </a:endParaRPr>
          </a:p>
        </p:txBody>
      </p:sp>
      <p:sp>
        <p:nvSpPr>
          <p:cNvPr id="502" name="TextBox 12"/>
          <p:cNvSpPr/>
          <p:nvPr/>
        </p:nvSpPr>
        <p:spPr>
          <a:xfrm>
            <a:off x="777240" y="3895200"/>
            <a:ext cx="10606320" cy="6210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50" b="0" u="none" strike="noStrike">
                <a:solidFill>
                  <a:srgbClr val="C9D5E1"/>
                </a:solidFill>
                <a:effectLst/>
                <a:uFillTx/>
                <a:latin typeface="Calibri"/>
              </a:rPr>
              <a:t>Repeat runs vary ±1–2 points; 16 of 33 failing tickets flip between runs. I report means over 4 runs rather than a best single number.</a:t>
            </a:r>
            <a:endParaRPr lang="en-US" sz="1150" b="0" u="none" strike="noStrike">
              <a:solidFill>
                <a:srgbClr val="FFFFFF"/>
              </a:solidFill>
              <a:effectLst/>
              <a:uFillTx/>
              <a:latin typeface="Arial"/>
            </a:endParaRPr>
          </a:p>
        </p:txBody>
      </p:sp>
      <p:sp>
        <p:nvSpPr>
          <p:cNvPr id="503" name="Rectangle 13"/>
          <p:cNvSpPr/>
          <p:nvPr/>
        </p:nvSpPr>
        <p:spPr>
          <a:xfrm>
            <a:off x="502920" y="4572000"/>
            <a:ext cx="118080" cy="730800"/>
          </a:xfrm>
          <a:prstGeom prst="rect">
            <a:avLst/>
          </a:prstGeom>
          <a:solidFill>
            <a:srgbClr val="B882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9040" tIns="45000" rIns="59040" bIns="45000" anchor="ctr">
            <a:noAutofit/>
          </a:bodyPr>
          <a:p>
            <a:endParaRPr lang="en-US" sz="1800" b="0" u="none" strike="noStrike">
              <a:solidFill>
                <a:schemeClr val="lt1"/>
              </a:solidFill>
              <a:effectLst/>
              <a:uFillTx/>
              <a:latin typeface="Calibri"/>
            </a:endParaRPr>
          </a:p>
        </p:txBody>
      </p:sp>
      <p:sp>
        <p:nvSpPr>
          <p:cNvPr id="504" name="TextBox 14"/>
          <p:cNvSpPr/>
          <p:nvPr/>
        </p:nvSpPr>
        <p:spPr>
          <a:xfrm>
            <a:off x="777240" y="4553640"/>
            <a:ext cx="1060632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50" b="1" u="none" strike="noStrike">
                <a:solidFill>
                  <a:srgbClr val="FFFFFF"/>
                </a:solidFill>
                <a:effectLst/>
                <a:uFillTx/>
                <a:latin typeface="Calibri"/>
              </a:rPr>
              <a:t>Ticket write-back is not wired.</a:t>
            </a:r>
            <a:endParaRPr lang="en-US" sz="1350" b="0" u="none" strike="noStrike">
              <a:solidFill>
                <a:srgbClr val="FFFFFF"/>
              </a:solidFill>
              <a:effectLst/>
              <a:uFillTx/>
              <a:latin typeface="Arial"/>
            </a:endParaRPr>
          </a:p>
        </p:txBody>
      </p:sp>
      <p:sp>
        <p:nvSpPr>
          <p:cNvPr id="505" name="TextBox 15"/>
          <p:cNvSpPr/>
          <p:nvPr/>
        </p:nvSpPr>
        <p:spPr>
          <a:xfrm>
            <a:off x="777240" y="4827960"/>
            <a:ext cx="10606320" cy="6210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50" b="0" u="none" strike="noStrike">
                <a:solidFill>
                  <a:srgbClr val="C9D5E1"/>
                </a:solidFill>
                <a:effectLst/>
                <a:uFillTx/>
                <a:latin typeface="Calibri"/>
              </a:rPr>
              <a:t>The /save_history endpoint exists and nothing calls it. In production this is what would let ticket history compound — which the triage rule depends on.</a:t>
            </a:r>
            <a:endParaRPr lang="en-US" sz="1150" b="0" u="none" strike="noStrike">
              <a:solidFill>
                <a:srgbClr val="FFFFFF"/>
              </a:solidFill>
              <a:effectLst/>
              <a:uFillTx/>
              <a:latin typeface="Arial"/>
            </a:endParaRPr>
          </a:p>
        </p:txBody>
      </p:sp>
      <p:sp>
        <p:nvSpPr>
          <p:cNvPr id="506" name="Rectangle 16"/>
          <p:cNvSpPr/>
          <p:nvPr/>
        </p:nvSpPr>
        <p:spPr>
          <a:xfrm>
            <a:off x="502920" y="5504760"/>
            <a:ext cx="118080" cy="730800"/>
          </a:xfrm>
          <a:prstGeom prst="rect">
            <a:avLst/>
          </a:prstGeom>
          <a:solidFill>
            <a:srgbClr val="B882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9040" tIns="45000" rIns="59040" bIns="45000" anchor="ctr">
            <a:noAutofit/>
          </a:bodyPr>
          <a:p>
            <a:endParaRPr lang="en-US" sz="1800" b="0" u="none" strike="noStrike">
              <a:solidFill>
                <a:schemeClr val="lt1"/>
              </a:solidFill>
              <a:effectLst/>
              <a:uFillTx/>
              <a:latin typeface="Calibri"/>
            </a:endParaRPr>
          </a:p>
        </p:txBody>
      </p:sp>
      <p:sp>
        <p:nvSpPr>
          <p:cNvPr id="507" name="TextBox 17"/>
          <p:cNvSpPr/>
          <p:nvPr/>
        </p:nvSpPr>
        <p:spPr>
          <a:xfrm>
            <a:off x="777240" y="5486400"/>
            <a:ext cx="1060632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50" b="1" u="none" strike="noStrike">
                <a:solidFill>
                  <a:srgbClr val="FFFFFF"/>
                </a:solidFill>
                <a:effectLst/>
                <a:uFillTx/>
                <a:latin typeface="Calibri"/>
              </a:rPr>
              <a:t>One incident family, synthetic data.</a:t>
            </a:r>
            <a:endParaRPr lang="en-US" sz="1350" b="0" u="none" strike="noStrike">
              <a:solidFill>
                <a:srgbClr val="FFFFFF"/>
              </a:solidFill>
              <a:effectLst/>
              <a:uFillTx/>
              <a:latin typeface="Arial"/>
            </a:endParaRPr>
          </a:p>
        </p:txBody>
      </p:sp>
      <p:sp>
        <p:nvSpPr>
          <p:cNvPr id="508" name="TextBox 18"/>
          <p:cNvSpPr/>
          <p:nvPr/>
        </p:nvSpPr>
        <p:spPr>
          <a:xfrm>
            <a:off x="777240" y="5760720"/>
            <a:ext cx="10606320" cy="6210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50" b="0" u="none" strike="noStrike">
                <a:solidFill>
                  <a:srgbClr val="C9D5E1"/>
                </a:solidFill>
                <a:effectLst/>
                <a:uFillTx/>
                <a:latin typeface="Calibri"/>
              </a:rPr>
              <a:t>256 tickets, one knowledge base, clean text. Real tickets are messier, and retrieval on escalation-procedure.md already fails 8 times out of 8.</a:t>
            </a:r>
            <a:endParaRPr lang="en-US" sz="1150" b="0" u="none" strike="noStrike">
              <a:solidFill>
                <a:srgbClr val="FFFFFF"/>
              </a:solidFill>
              <a:effectLst/>
              <a:uFillTx/>
              <a:latin typeface="Arial"/>
            </a:endParaRPr>
          </a:p>
        </p:txBody>
      </p:sp>
      <p:sp>
        <p:nvSpPr>
          <p:cNvPr id="509" name="TextBox 19"/>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ServeWell IT Support Agent Suite — phData Intelligence Platform</a:t>
            </a:r>
            <a:endParaRPr lang="en-US" sz="900" b="0" u="none" strike="noStrike">
              <a:solidFill>
                <a:srgbClr val="FFFFFF"/>
              </a:solidFill>
              <a:effectLst/>
              <a:uFillTx/>
              <a:latin typeface="Arial"/>
            </a:endParaRPr>
          </a:p>
        </p:txBody>
      </p:sp>
      <p:sp>
        <p:nvSpPr>
          <p:cNvPr id="510" name="TextBox 20"/>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18</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511"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REQUIREMENT 4</a:t>
            </a:r>
            <a:endParaRPr lang="en-US" sz="1200" b="0" u="none" strike="noStrike">
              <a:solidFill>
                <a:srgbClr val="000000"/>
              </a:solidFill>
              <a:effectLst/>
              <a:uFillTx/>
              <a:latin typeface="Arial"/>
            </a:endParaRPr>
          </a:p>
        </p:txBody>
      </p:sp>
      <p:sp>
        <p:nvSpPr>
          <p:cNvPr id="512"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When you hand me a ticket I have never seen</a:t>
            </a:r>
            <a:endParaRPr lang="en-US" sz="2700" b="0" u="none" strike="noStrike">
              <a:solidFill>
                <a:srgbClr val="000000"/>
              </a:solidFill>
              <a:effectLst/>
              <a:uFillTx/>
              <a:latin typeface="Arial"/>
            </a:endParaRPr>
          </a:p>
        </p:txBody>
      </p:sp>
      <p:sp>
        <p:nvSpPr>
          <p:cNvPr id="513"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sp>
        <p:nvSpPr>
          <p:cNvPr id="514" name="Rounded Rectangle 4"/>
          <p:cNvSpPr/>
          <p:nvPr/>
        </p:nvSpPr>
        <p:spPr>
          <a:xfrm>
            <a:off x="502920" y="1554480"/>
            <a:ext cx="3519720" cy="4251240"/>
          </a:xfrm>
          <a:prstGeom prst="roundRect">
            <a:avLst>
              <a:gd name="adj" fmla="val 5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5" name="Rectangle 5"/>
          <p:cNvSpPr/>
          <p:nvPr/>
        </p:nvSpPr>
        <p:spPr>
          <a:xfrm>
            <a:off x="502920" y="1554480"/>
            <a:ext cx="3519720" cy="90720"/>
          </a:xfrm>
          <a:prstGeom prst="rect">
            <a:avLst/>
          </a:prstGeom>
          <a:solidFill>
            <a:srgbClr val="0D66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6" name="TextBox 6"/>
          <p:cNvSpPr/>
          <p:nvPr/>
        </p:nvSpPr>
        <p:spPr>
          <a:xfrm>
            <a:off x="758880" y="1810440"/>
            <a:ext cx="301680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400" b="1" u="none" strike="noStrike">
                <a:solidFill>
                  <a:srgbClr val="0D665E"/>
                </a:solidFill>
                <a:effectLst/>
                <a:uFillTx/>
                <a:latin typeface="Calibri"/>
              </a:rPr>
              <a:t>What will happen</a:t>
            </a:r>
            <a:endParaRPr lang="en-US" sz="1400" b="0" u="none" strike="noStrike">
              <a:solidFill>
                <a:srgbClr val="000000"/>
              </a:solidFill>
              <a:effectLst/>
              <a:uFillTx/>
              <a:latin typeface="Arial"/>
            </a:endParaRPr>
          </a:p>
        </p:txBody>
      </p:sp>
      <p:sp>
        <p:nvSpPr>
          <p:cNvPr id="517" name="TextBox 7"/>
          <p:cNvSpPr/>
          <p:nvPr/>
        </p:nvSpPr>
        <p:spPr>
          <a:xfrm>
            <a:off x="758880" y="2240280"/>
            <a:ext cx="3062520" cy="3291120"/>
          </a:xfrm>
          <a:prstGeom prst="rect">
            <a:avLst/>
          </a:prstGeom>
          <a:noFill/>
          <a:ln w="0">
            <a:noFill/>
          </a:ln>
        </p:spPr>
        <p:style>
          <a:lnRef idx="0"/>
          <a:fillRef idx="0"/>
          <a:effectRef idx="0"/>
          <a:fontRef idx="minor"/>
        </p:style>
        <p:txBody>
          <a:bodyPr lIns="0" tIns="0" rIns="0" bIns="0" anchor="t">
            <a:spAutoFit/>
          </a:bodyPr>
          <a:p>
            <a:pPr defTabSz="457200">
              <a:lnSpc>
                <a:spcPct val="115000"/>
              </a:lnSpc>
              <a:spcAft>
                <a:spcPts val="1199"/>
              </a:spcAft>
              <a:tabLst>
                <a:tab pos="0" algn="l"/>
              </a:tabLst>
            </a:pPr>
            <a:r>
              <a:rPr lang="en-US" sz="1150" b="1" u="none" strike="noStrike">
                <a:solidFill>
                  <a:srgbClr val="0D665E"/>
                </a:solidFill>
                <a:effectLst/>
                <a:uFillTx/>
                <a:latin typeface="Calibri"/>
              </a:rPr>
              <a:t>•  </a:t>
            </a:r>
            <a:r>
              <a:rPr lang="en-US" sz="1150" b="0" u="none" strike="noStrike">
                <a:solidFill>
                  <a:srgbClr val="1A202A"/>
                </a:solidFill>
                <a:effectLst/>
                <a:uFillTx/>
                <a:latin typeface="Calibri"/>
              </a:rPr>
              <a:t>It routes on ticket text alone — the flag is withheld.</a:t>
            </a:r>
            <a:endParaRPr lang="en-US" sz="1150" b="0" u="none" strike="noStrike">
              <a:solidFill>
                <a:srgbClr val="000000"/>
              </a:solidFill>
              <a:effectLst/>
              <a:uFillTx/>
              <a:latin typeface="Arial"/>
            </a:endParaRPr>
          </a:p>
          <a:p>
            <a:pPr defTabSz="457200">
              <a:lnSpc>
                <a:spcPct val="115000"/>
              </a:lnSpc>
              <a:spcAft>
                <a:spcPts val="1199"/>
              </a:spcAft>
              <a:tabLst>
                <a:tab pos="0" algn="l"/>
              </a:tabLst>
            </a:pPr>
            <a:r>
              <a:rPr lang="en-US" sz="1150" b="1" u="none" strike="noStrike">
                <a:solidFill>
                  <a:srgbClr val="0D665E"/>
                </a:solidFill>
                <a:effectLst/>
                <a:uFillTx/>
                <a:latin typeface="Calibri"/>
              </a:rPr>
              <a:t>•  </a:t>
            </a:r>
            <a:r>
              <a:rPr lang="en-US" sz="1150" b="0" u="none" strike="noStrike">
                <a:solidFill>
                  <a:srgbClr val="1A202A"/>
                </a:solidFill>
                <a:effectLst/>
                <a:uFillTx/>
                <a:latin typeface="Calibri"/>
              </a:rPr>
              <a:t>Retrieval runs three concurrent queries over the same KB.</a:t>
            </a:r>
            <a:endParaRPr lang="en-US" sz="1150" b="0" u="none" strike="noStrike">
              <a:solidFill>
                <a:srgbClr val="000000"/>
              </a:solidFill>
              <a:effectLst/>
              <a:uFillTx/>
              <a:latin typeface="Arial"/>
            </a:endParaRPr>
          </a:p>
          <a:p>
            <a:pPr defTabSz="457200">
              <a:lnSpc>
                <a:spcPct val="115000"/>
              </a:lnSpc>
              <a:spcAft>
                <a:spcPts val="1199"/>
              </a:spcAft>
              <a:tabLst>
                <a:tab pos="0" algn="l"/>
              </a:tabLst>
            </a:pPr>
            <a:r>
              <a:rPr lang="en-US" sz="1150" b="1" u="none" strike="noStrike">
                <a:solidFill>
                  <a:srgbClr val="0D665E"/>
                </a:solidFill>
                <a:effectLst/>
                <a:uFillTx/>
                <a:latin typeface="Calibri"/>
              </a:rPr>
              <a:t>•  </a:t>
            </a:r>
            <a:r>
              <a:rPr lang="en-US" sz="1150" b="0" u="none" strike="noStrike">
                <a:solidFill>
                  <a:srgbClr val="1A202A"/>
                </a:solidFill>
                <a:effectLst/>
                <a:uFillTx/>
                <a:latin typeface="Calibri"/>
              </a:rPr>
              <a:t>Guardrails hold regardless of content: budgets are enforced in code.</a:t>
            </a:r>
            <a:endParaRPr lang="en-US" sz="1150" b="0" u="none" strike="noStrike">
              <a:solidFill>
                <a:srgbClr val="000000"/>
              </a:solidFill>
              <a:effectLst/>
              <a:uFillTx/>
              <a:latin typeface="Arial"/>
            </a:endParaRPr>
          </a:p>
          <a:p>
            <a:pPr defTabSz="457200">
              <a:lnSpc>
                <a:spcPct val="115000"/>
              </a:lnSpc>
              <a:spcAft>
                <a:spcPts val="1199"/>
              </a:spcAft>
              <a:tabLst>
                <a:tab pos="0" algn="l"/>
              </a:tabLst>
            </a:pPr>
            <a:r>
              <a:rPr lang="en-US" sz="1150" b="1" u="none" strike="noStrike">
                <a:solidFill>
                  <a:srgbClr val="0D665E"/>
                </a:solidFill>
                <a:effectLst/>
                <a:uFillTx/>
                <a:latin typeface="Calibri"/>
              </a:rPr>
              <a:t>•  </a:t>
            </a:r>
            <a:r>
              <a:rPr lang="en-US" sz="1150" b="0" u="none" strike="noStrike">
                <a:solidFill>
                  <a:srgbClr val="1A202A"/>
                </a:solidFill>
                <a:effectLst/>
                <a:uFillTx/>
                <a:latin typeface="Calibri"/>
              </a:rPr>
              <a:t>No action executes without your explicit approval.</a:t>
            </a:r>
            <a:endParaRPr lang="en-US" sz="1150" b="0" u="none" strike="noStrike">
              <a:solidFill>
                <a:srgbClr val="000000"/>
              </a:solidFill>
              <a:effectLst/>
              <a:uFillTx/>
              <a:latin typeface="Arial"/>
            </a:endParaRPr>
          </a:p>
        </p:txBody>
      </p:sp>
      <p:sp>
        <p:nvSpPr>
          <p:cNvPr id="518" name="Rounded Rectangle 8"/>
          <p:cNvSpPr/>
          <p:nvPr/>
        </p:nvSpPr>
        <p:spPr>
          <a:xfrm>
            <a:off x="4297680" y="1554480"/>
            <a:ext cx="3519720" cy="4251240"/>
          </a:xfrm>
          <a:prstGeom prst="roundRect">
            <a:avLst>
              <a:gd name="adj" fmla="val 5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9" name="Rectangle 9"/>
          <p:cNvSpPr/>
          <p:nvPr/>
        </p:nvSpPr>
        <p:spPr>
          <a:xfrm>
            <a:off x="4297680" y="1554480"/>
            <a:ext cx="3519720" cy="90720"/>
          </a:xfrm>
          <a:prstGeom prst="rect">
            <a:avLst/>
          </a:prstGeom>
          <a:solidFill>
            <a:srgbClr val="A86A1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0" name="TextBox 10"/>
          <p:cNvSpPr/>
          <p:nvPr/>
        </p:nvSpPr>
        <p:spPr>
          <a:xfrm>
            <a:off x="4553640" y="1810440"/>
            <a:ext cx="301680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400" b="1" u="none" strike="noStrike">
                <a:solidFill>
                  <a:srgbClr val="A86A14"/>
                </a:solidFill>
                <a:effectLst/>
                <a:uFillTx/>
                <a:latin typeface="Calibri"/>
              </a:rPr>
              <a:t>Where it will struggle</a:t>
            </a:r>
            <a:endParaRPr lang="en-US" sz="1400" b="0" u="none" strike="noStrike">
              <a:solidFill>
                <a:srgbClr val="000000"/>
              </a:solidFill>
              <a:effectLst/>
              <a:uFillTx/>
              <a:latin typeface="Arial"/>
            </a:endParaRPr>
          </a:p>
        </p:txBody>
      </p:sp>
      <p:sp>
        <p:nvSpPr>
          <p:cNvPr id="521" name="TextBox 11"/>
          <p:cNvSpPr/>
          <p:nvPr/>
        </p:nvSpPr>
        <p:spPr>
          <a:xfrm>
            <a:off x="4553640" y="2240280"/>
            <a:ext cx="3062520" cy="3291120"/>
          </a:xfrm>
          <a:prstGeom prst="rect">
            <a:avLst/>
          </a:prstGeom>
          <a:noFill/>
          <a:ln w="0">
            <a:noFill/>
          </a:ln>
        </p:spPr>
        <p:style>
          <a:lnRef idx="0"/>
          <a:fillRef idx="0"/>
          <a:effectRef idx="0"/>
          <a:fontRef idx="minor"/>
        </p:style>
        <p:txBody>
          <a:bodyPr lIns="0" tIns="0" rIns="0" bIns="0" anchor="t">
            <a:spAutoFit/>
          </a:bodyPr>
          <a:p>
            <a:pPr defTabSz="457200">
              <a:lnSpc>
                <a:spcPct val="115000"/>
              </a:lnSpc>
              <a:spcAft>
                <a:spcPts val="1199"/>
              </a:spcAft>
              <a:tabLst>
                <a:tab pos="0" algn="l"/>
              </a:tabLst>
            </a:pPr>
            <a:r>
              <a:rPr lang="en-US" sz="1150" b="1" u="none" strike="noStrike">
                <a:solidFill>
                  <a:srgbClr val="A86A14"/>
                </a:solidFill>
                <a:effectLst/>
                <a:uFillTx/>
                <a:latin typeface="Calibri"/>
              </a:rPr>
              <a:t>•  </a:t>
            </a:r>
            <a:r>
              <a:rPr lang="en-US" sz="1150" b="0" u="none" strike="noStrike">
                <a:solidFill>
                  <a:srgbClr val="1A202A"/>
                </a:solidFill>
                <a:effectLst/>
                <a:uFillTx/>
                <a:latin typeface="Calibri"/>
              </a:rPr>
              <a:t>A subcategory outside the 8 fault-class rules falls to the LLM (~68% there).</a:t>
            </a:r>
            <a:endParaRPr lang="en-US" sz="1150" b="0" u="none" strike="noStrike">
              <a:solidFill>
                <a:srgbClr val="000000"/>
              </a:solidFill>
              <a:effectLst/>
              <a:uFillTx/>
              <a:latin typeface="Arial"/>
            </a:endParaRPr>
          </a:p>
          <a:p>
            <a:pPr defTabSz="457200">
              <a:lnSpc>
                <a:spcPct val="115000"/>
              </a:lnSpc>
              <a:spcAft>
                <a:spcPts val="1199"/>
              </a:spcAft>
              <a:tabLst>
                <a:tab pos="0" algn="l"/>
              </a:tabLst>
            </a:pPr>
            <a:r>
              <a:rPr lang="en-US" sz="1150" b="1" u="none" strike="noStrike">
                <a:solidFill>
                  <a:srgbClr val="A86A14"/>
                </a:solidFill>
                <a:effectLst/>
                <a:uFillTx/>
                <a:latin typeface="Calibri"/>
              </a:rPr>
              <a:t>•  </a:t>
            </a:r>
            <a:r>
              <a:rPr lang="en-US" sz="1150" b="0" u="none" strike="noStrike">
                <a:solidFill>
                  <a:srgbClr val="1A202A"/>
                </a:solidFill>
                <a:effectLst/>
                <a:uFillTx/>
                <a:latin typeface="Calibri"/>
              </a:rPr>
              <a:t>A symptom with no runbook: it should escalate rather than invent steps.</a:t>
            </a:r>
            <a:endParaRPr lang="en-US" sz="1150" b="0" u="none" strike="noStrike">
              <a:solidFill>
                <a:srgbClr val="000000"/>
              </a:solidFill>
              <a:effectLst/>
              <a:uFillTx/>
              <a:latin typeface="Arial"/>
            </a:endParaRPr>
          </a:p>
          <a:p>
            <a:pPr defTabSz="457200">
              <a:lnSpc>
                <a:spcPct val="115000"/>
              </a:lnSpc>
              <a:spcAft>
                <a:spcPts val="1199"/>
              </a:spcAft>
              <a:tabLst>
                <a:tab pos="0" algn="l"/>
              </a:tabLst>
            </a:pPr>
            <a:r>
              <a:rPr lang="en-US" sz="1150" b="1" u="none" strike="noStrike">
                <a:solidFill>
                  <a:srgbClr val="A86A14"/>
                </a:solidFill>
                <a:effectLst/>
                <a:uFillTx/>
                <a:latin typeface="Calibri"/>
              </a:rPr>
              <a:t>•  </a:t>
            </a:r>
            <a:r>
              <a:rPr lang="en-US" sz="1150" b="0" u="none" strike="noStrike">
                <a:solidFill>
                  <a:srgbClr val="1A202A"/>
                </a:solidFill>
                <a:effectLst/>
                <a:uFillTx/>
                <a:latin typeface="Calibri"/>
              </a:rPr>
              <a:t>Policy-blocked categories refuse automation even when a fix exists.</a:t>
            </a:r>
            <a:endParaRPr lang="en-US" sz="1150" b="0" u="none" strike="noStrike">
              <a:solidFill>
                <a:srgbClr val="000000"/>
              </a:solidFill>
              <a:effectLst/>
              <a:uFillTx/>
              <a:latin typeface="Arial"/>
            </a:endParaRPr>
          </a:p>
          <a:p>
            <a:pPr defTabSz="457200">
              <a:lnSpc>
                <a:spcPct val="115000"/>
              </a:lnSpc>
              <a:spcAft>
                <a:spcPts val="1199"/>
              </a:spcAft>
              <a:tabLst>
                <a:tab pos="0" algn="l"/>
              </a:tabLst>
            </a:pPr>
            <a:r>
              <a:rPr lang="en-US" sz="1150" b="1" u="none" strike="noStrike">
                <a:solidFill>
                  <a:srgbClr val="A86A14"/>
                </a:solidFill>
                <a:effectLst/>
                <a:uFillTx/>
                <a:latin typeface="Calibri"/>
              </a:rPr>
              <a:t>•  </a:t>
            </a:r>
            <a:r>
              <a:rPr lang="en-US" sz="1150" b="0" u="none" strike="noStrike">
                <a:solidFill>
                  <a:srgbClr val="1A202A"/>
                </a:solidFill>
                <a:effectLst/>
                <a:uFillTx/>
                <a:latin typeface="Calibri"/>
              </a:rPr>
              <a:t>Novel phrasing may retrieve a sibling runbook instead of the exact one.</a:t>
            </a:r>
            <a:endParaRPr lang="en-US" sz="1150" b="0" u="none" strike="noStrike">
              <a:solidFill>
                <a:srgbClr val="000000"/>
              </a:solidFill>
              <a:effectLst/>
              <a:uFillTx/>
              <a:latin typeface="Arial"/>
            </a:endParaRPr>
          </a:p>
        </p:txBody>
      </p:sp>
      <p:sp>
        <p:nvSpPr>
          <p:cNvPr id="522" name="Rounded Rectangle 12"/>
          <p:cNvSpPr/>
          <p:nvPr/>
        </p:nvSpPr>
        <p:spPr>
          <a:xfrm>
            <a:off x="8092440" y="1554480"/>
            <a:ext cx="3519720" cy="4251240"/>
          </a:xfrm>
          <a:prstGeom prst="roundRect">
            <a:avLst>
              <a:gd name="adj" fmla="val 5000"/>
            </a:avLst>
          </a:prstGeom>
          <a:solidFill>
            <a:srgbClr val="FFFFFF"/>
          </a:solidFill>
          <a:ln w="12700">
            <a:solidFill>
              <a:srgbClr val="D8DDE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3" name="Rectangle 13"/>
          <p:cNvSpPr/>
          <p:nvPr/>
        </p:nvSpPr>
        <p:spPr>
          <a:xfrm>
            <a:off x="8092440" y="1554480"/>
            <a:ext cx="3519720" cy="90720"/>
          </a:xfrm>
          <a:prstGeom prst="rect">
            <a:avLst/>
          </a:prstGeom>
          <a:solidFill>
            <a:srgbClr val="4C4A8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4" name="TextBox 14"/>
          <p:cNvSpPr/>
          <p:nvPr/>
        </p:nvSpPr>
        <p:spPr>
          <a:xfrm>
            <a:off x="8348400" y="1810440"/>
            <a:ext cx="301680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400" b="1" u="none" strike="noStrike">
                <a:solidFill>
                  <a:srgbClr val="4C4A8F"/>
                </a:solidFill>
                <a:effectLst/>
                <a:uFillTx/>
                <a:latin typeface="Calibri"/>
              </a:rPr>
              <a:t>How you can check me live</a:t>
            </a:r>
            <a:endParaRPr lang="en-US" sz="1400" b="0" u="none" strike="noStrike">
              <a:solidFill>
                <a:srgbClr val="000000"/>
              </a:solidFill>
              <a:effectLst/>
              <a:uFillTx/>
              <a:latin typeface="Arial"/>
            </a:endParaRPr>
          </a:p>
        </p:txBody>
      </p:sp>
      <p:sp>
        <p:nvSpPr>
          <p:cNvPr id="525" name="TextBox 15"/>
          <p:cNvSpPr/>
          <p:nvPr/>
        </p:nvSpPr>
        <p:spPr>
          <a:xfrm>
            <a:off x="8348400" y="2240280"/>
            <a:ext cx="3062520" cy="3291120"/>
          </a:xfrm>
          <a:prstGeom prst="rect">
            <a:avLst/>
          </a:prstGeom>
          <a:noFill/>
          <a:ln w="0">
            <a:noFill/>
          </a:ln>
        </p:spPr>
        <p:style>
          <a:lnRef idx="0"/>
          <a:fillRef idx="0"/>
          <a:effectRef idx="0"/>
          <a:fontRef idx="minor"/>
        </p:style>
        <p:txBody>
          <a:bodyPr lIns="0" tIns="0" rIns="0" bIns="0" anchor="t">
            <a:spAutoFit/>
          </a:bodyPr>
          <a:p>
            <a:pPr defTabSz="457200">
              <a:lnSpc>
                <a:spcPct val="115000"/>
              </a:lnSpc>
              <a:spcAft>
                <a:spcPts val="1199"/>
              </a:spcAft>
              <a:tabLst>
                <a:tab pos="0" algn="l"/>
              </a:tabLst>
            </a:pPr>
            <a:r>
              <a:rPr lang="en-US" sz="1150" b="1" u="none" strike="noStrike">
                <a:solidFill>
                  <a:srgbClr val="4C4A8F"/>
                </a:solidFill>
                <a:effectLst/>
                <a:uFillTx/>
                <a:latin typeface="Calibri"/>
              </a:rPr>
              <a:t>•  </a:t>
            </a:r>
            <a:r>
              <a:rPr lang="en-US" sz="1150" b="0" u="none" strike="noStrike">
                <a:solidFill>
                  <a:srgbClr val="1A202A"/>
                </a:solidFill>
                <a:effectLst/>
                <a:uFillTx/>
                <a:latin typeface="Calibri"/>
              </a:rPr>
              <a:t>Every trace shows the retrieved documents and their source files.</a:t>
            </a:r>
            <a:endParaRPr lang="en-US" sz="1150" b="0" u="none" strike="noStrike">
              <a:solidFill>
                <a:srgbClr val="000000"/>
              </a:solidFill>
              <a:effectLst/>
              <a:uFillTx/>
              <a:latin typeface="Arial"/>
            </a:endParaRPr>
          </a:p>
          <a:p>
            <a:pPr defTabSz="457200">
              <a:lnSpc>
                <a:spcPct val="115000"/>
              </a:lnSpc>
              <a:spcAft>
                <a:spcPts val="1199"/>
              </a:spcAft>
              <a:tabLst>
                <a:tab pos="0" algn="l"/>
              </a:tabLst>
            </a:pPr>
            <a:r>
              <a:rPr lang="en-US" sz="1150" b="1" u="none" strike="noStrike">
                <a:solidFill>
                  <a:srgbClr val="4C4A8F"/>
                </a:solidFill>
                <a:effectLst/>
                <a:uFillTx/>
                <a:latin typeface="Calibri"/>
              </a:rPr>
              <a:t>•  </a:t>
            </a:r>
            <a:r>
              <a:rPr lang="en-US" sz="1150" b="0" u="none" strike="noStrike">
                <a:solidFill>
                  <a:srgbClr val="1A202A"/>
                </a:solidFill>
                <a:effectLst/>
                <a:uFillTx/>
                <a:latin typeface="Calibri"/>
              </a:rPr>
              <a:t>decided_by tells you whether a rule or the model made the call.</a:t>
            </a:r>
            <a:endParaRPr lang="en-US" sz="1150" b="0" u="none" strike="noStrike">
              <a:solidFill>
                <a:srgbClr val="000000"/>
              </a:solidFill>
              <a:effectLst/>
              <a:uFillTx/>
              <a:latin typeface="Arial"/>
            </a:endParaRPr>
          </a:p>
          <a:p>
            <a:pPr defTabSz="457200">
              <a:lnSpc>
                <a:spcPct val="115000"/>
              </a:lnSpc>
              <a:spcAft>
                <a:spcPts val="1199"/>
              </a:spcAft>
              <a:tabLst>
                <a:tab pos="0" algn="l"/>
              </a:tabLst>
            </a:pPr>
            <a:r>
              <a:rPr lang="en-US" sz="1150" b="1" u="none" strike="noStrike">
                <a:solidFill>
                  <a:srgbClr val="4C4A8F"/>
                </a:solidFill>
                <a:effectLst/>
                <a:uFillTx/>
                <a:latin typeface="Calibri"/>
              </a:rPr>
              <a:t>•  </a:t>
            </a:r>
            <a:r>
              <a:rPr lang="en-US" sz="1150" b="0" u="none" strike="noStrike">
                <a:solidFill>
                  <a:srgbClr val="1A202A"/>
                </a:solidFill>
                <a:effectLst/>
                <a:uFillTx/>
                <a:latin typeface="Calibri"/>
              </a:rPr>
              <a:t>The reply cites the runbook — verify it against the file.</a:t>
            </a:r>
            <a:endParaRPr lang="en-US" sz="1150" b="0" u="none" strike="noStrike">
              <a:solidFill>
                <a:srgbClr val="000000"/>
              </a:solidFill>
              <a:effectLst/>
              <a:uFillTx/>
              <a:latin typeface="Arial"/>
            </a:endParaRPr>
          </a:p>
          <a:p>
            <a:pPr defTabSz="457200">
              <a:lnSpc>
                <a:spcPct val="115000"/>
              </a:lnSpc>
              <a:spcAft>
                <a:spcPts val="1199"/>
              </a:spcAft>
              <a:tabLst>
                <a:tab pos="0" algn="l"/>
              </a:tabLst>
            </a:pPr>
            <a:r>
              <a:rPr lang="en-US" sz="1150" b="1" u="none" strike="noStrike">
                <a:solidFill>
                  <a:srgbClr val="4C4A8F"/>
                </a:solidFill>
                <a:effectLst/>
                <a:uFillTx/>
                <a:latin typeface="Calibri"/>
              </a:rPr>
              <a:t>•  </a:t>
            </a:r>
            <a:r>
              <a:rPr lang="en-US" sz="1150" b="0" u="none" strike="noStrike">
                <a:solidFill>
                  <a:srgbClr val="1A202A"/>
                </a:solidFill>
                <a:effectLst/>
                <a:uFillTx/>
                <a:latin typeface="Calibri"/>
              </a:rPr>
              <a:t>Re-run the eval in the UI and watch the numbers move.</a:t>
            </a:r>
            <a:endParaRPr lang="en-US" sz="1150" b="0" u="none" strike="noStrike">
              <a:solidFill>
                <a:srgbClr val="000000"/>
              </a:solidFill>
              <a:effectLst/>
              <a:uFillTx/>
              <a:latin typeface="Arial"/>
            </a:endParaRPr>
          </a:p>
        </p:txBody>
      </p:sp>
      <p:sp>
        <p:nvSpPr>
          <p:cNvPr id="526" name="Rounded Rectangle 16"/>
          <p:cNvSpPr/>
          <p:nvPr/>
        </p:nvSpPr>
        <p:spPr>
          <a:xfrm>
            <a:off x="502920" y="5961960"/>
            <a:ext cx="11154960" cy="456480"/>
          </a:xfrm>
          <a:prstGeom prst="roundRect">
            <a:avLst>
              <a:gd name="adj" fmla="val 18000"/>
            </a:avLst>
          </a:prstGeom>
          <a:solidFill>
            <a:srgbClr val="E4F2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7" name="TextBox 17"/>
          <p:cNvSpPr/>
          <p:nvPr/>
        </p:nvSpPr>
        <p:spPr>
          <a:xfrm>
            <a:off x="777240" y="6035040"/>
            <a:ext cx="1060632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i="1" u="none" strike="noStrike">
                <a:solidFill>
                  <a:srgbClr val="0D665E"/>
                </a:solidFill>
                <a:effectLst/>
                <a:uFillTx/>
                <a:latin typeface="Calibri"/>
              </a:rPr>
              <a:t>If a test case fails today, I would rather show you exactly why from the trace than have it pass for a reason neither of us can see.</a:t>
            </a:r>
            <a:endParaRPr lang="en-US" sz="1200" b="0" u="none" strike="noStrike">
              <a:solidFill>
                <a:srgbClr val="000000"/>
              </a:solidFill>
              <a:effectLst/>
              <a:uFillTx/>
              <a:latin typeface="Arial"/>
            </a:endParaRPr>
          </a:p>
        </p:txBody>
      </p:sp>
      <p:sp>
        <p:nvSpPr>
          <p:cNvPr id="528" name="TextBox 18"/>
          <p:cNvSpPr/>
          <p:nvPr/>
        </p:nvSpPr>
        <p:spPr>
          <a:xfrm>
            <a:off x="502920" y="6537960"/>
            <a:ext cx="9143280" cy="255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57606D"/>
                </a:solidFill>
                <a:effectLst/>
                <a:uFillTx/>
                <a:latin typeface="Calibri"/>
              </a:rPr>
              <a:t>ServeWell IT Support Agent Suite — phData Intelligence Platform</a:t>
            </a:r>
            <a:endParaRPr lang="en-US" sz="900" b="0" u="none" strike="noStrike">
              <a:solidFill>
                <a:srgbClr val="000000"/>
              </a:solidFill>
              <a:effectLst/>
              <a:uFillTx/>
              <a:latin typeface="Arial"/>
            </a:endParaRPr>
          </a:p>
        </p:txBody>
      </p:sp>
      <p:sp>
        <p:nvSpPr>
          <p:cNvPr id="529" name="TextBox 19"/>
          <p:cNvSpPr/>
          <p:nvPr/>
        </p:nvSpPr>
        <p:spPr>
          <a:xfrm>
            <a:off x="11338560" y="6537960"/>
            <a:ext cx="456480" cy="2552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57606D"/>
                </a:solidFill>
                <a:effectLst/>
                <a:uFillTx/>
                <a:latin typeface="Calibri"/>
              </a:rPr>
              <a:t>19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7F9"/>
        </a:solidFill>
      </p:bgPr>
    </p:bg>
    <p:spTree>
      <p:nvGrpSpPr>
        <p:cNvPr id="1" name=""/>
        <p:cNvGrpSpPr/>
        <p:nvPr/>
      </p:nvGrpSpPr>
      <p:grpSpPr>
        <a:xfrm>
          <a:off x="0" y="0"/>
          <a:ext cx="0" cy="0"/>
          <a:chOff x="0" y="0"/>
          <a:chExt cx="0" cy="0"/>
        </a:xfrm>
      </p:grpSpPr>
      <p:sp>
        <p:nvSpPr>
          <p:cNvPr id="530" name="TextBox 1"/>
          <p:cNvSpPr/>
          <p:nvPr/>
        </p:nvSpPr>
        <p:spPr>
          <a:xfrm>
            <a:off x="502920" y="329040"/>
            <a:ext cx="109720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179285"/>
                </a:solidFill>
                <a:effectLst/>
                <a:uFillTx/>
                <a:latin typeface="Calibri"/>
              </a:rPr>
              <a:t>NEXT</a:t>
            </a:r>
            <a:endParaRPr lang="en-US" sz="1200" b="0" u="none" strike="noStrike">
              <a:solidFill>
                <a:srgbClr val="000000"/>
              </a:solidFill>
              <a:effectLst/>
              <a:uFillTx/>
              <a:latin typeface="Arial"/>
            </a:endParaRPr>
          </a:p>
        </p:txBody>
      </p:sp>
      <p:sp>
        <p:nvSpPr>
          <p:cNvPr id="531" name="TextBox 2"/>
          <p:cNvSpPr/>
          <p:nvPr/>
        </p:nvSpPr>
        <p:spPr>
          <a:xfrm>
            <a:off x="502920" y="603360"/>
            <a:ext cx="1115496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700" b="1" u="none" strike="noStrike">
                <a:solidFill>
                  <a:srgbClr val="1A202A"/>
                </a:solidFill>
                <a:effectLst/>
                <a:uFillTx/>
                <a:latin typeface="Calibri"/>
              </a:rPr>
              <a:t>Where this goes from here</a:t>
            </a:r>
            <a:endParaRPr lang="en-US" sz="2700" b="0" u="none" strike="noStrike">
              <a:solidFill>
                <a:srgbClr val="000000"/>
              </a:solidFill>
              <a:effectLst/>
              <a:uFillTx/>
              <a:latin typeface="Arial"/>
            </a:endParaRPr>
          </a:p>
        </p:txBody>
      </p:sp>
      <p:sp>
        <p:nvSpPr>
          <p:cNvPr id="532" name="Rectangle 3"/>
          <p:cNvSpPr/>
          <p:nvPr/>
        </p:nvSpPr>
        <p:spPr>
          <a:xfrm>
            <a:off x="502920" y="1280160"/>
            <a:ext cx="776520" cy="37440"/>
          </a:xfrm>
          <a:prstGeom prst="rect">
            <a:avLst/>
          </a:prstGeom>
          <a:solidFill>
            <a:srgbClr val="17928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sp>
        <p:nvSpPr>
          <p:cNvPr id="533" name="TextBox 4"/>
          <p:cNvSpPr/>
          <p:nvPr/>
        </p:nvSpPr>
        <p:spPr>
          <a:xfrm>
            <a:off x="502920" y="1627560"/>
            <a:ext cx="11154960" cy="3108240"/>
          </a:xfrm>
          <a:prstGeom prst="rect">
            <a:avLst/>
          </a:prstGeom>
          <a:noFill/>
          <a:ln w="0">
            <a:noFill/>
          </a:ln>
        </p:spPr>
        <p:style>
          <a:lnRef idx="0"/>
          <a:fillRef idx="0"/>
          <a:effectRef idx="0"/>
          <a:fontRef idx="minor"/>
        </p:style>
        <p:txBody>
          <a:bodyPr lIns="0" tIns="0" rIns="0" bIns="0" anchor="t">
            <a:spAutoFit/>
          </a:bodyPr>
          <a:p>
            <a:pPr defTabSz="457200">
              <a:lnSpc>
                <a:spcPct val="115000"/>
              </a:lnSpc>
              <a:spcAft>
                <a:spcPts val="2001"/>
              </a:spcAft>
              <a:tabLst>
                <a:tab pos="0" algn="l"/>
              </a:tabLst>
            </a:pPr>
            <a:r>
              <a:rPr lang="en-US" sz="1500" b="1" u="none" strike="noStrike">
                <a:solidFill>
                  <a:srgbClr val="179285"/>
                </a:solidFill>
                <a:effectLst/>
                <a:uFillTx/>
                <a:latin typeface="Calibri"/>
              </a:rPr>
              <a:t>•  </a:t>
            </a:r>
            <a:r>
              <a:rPr lang="en-US" sz="1500" b="1" u="none" strike="noStrike">
                <a:solidFill>
                  <a:srgbClr val="1A202A"/>
                </a:solidFill>
                <a:effectLst/>
                <a:uFillTx/>
                <a:latin typeface="Calibri"/>
              </a:rPr>
              <a:t>Wire ticket write-back:  </a:t>
            </a:r>
            <a:r>
              <a:rPr lang="en-US" sz="1500" b="0" u="none" strike="noStrike">
                <a:solidFill>
                  <a:srgbClr val="57606D"/>
                </a:solidFill>
                <a:effectLst/>
                <a:uFillTx/>
                <a:latin typeface="Calibri"/>
              </a:rPr>
              <a:t>Close the last gap so resolutions land back on the ticket and history compounds.</a:t>
            </a:r>
            <a:endParaRPr lang="en-US" sz="1500" b="0" u="none" strike="noStrike">
              <a:solidFill>
                <a:srgbClr val="000000"/>
              </a:solidFill>
              <a:effectLst/>
              <a:uFillTx/>
              <a:latin typeface="Arial"/>
            </a:endParaRPr>
          </a:p>
          <a:p>
            <a:pPr defTabSz="457200">
              <a:lnSpc>
                <a:spcPct val="115000"/>
              </a:lnSpc>
              <a:spcAft>
                <a:spcPts val="2001"/>
              </a:spcAft>
              <a:tabLst>
                <a:tab pos="0" algn="l"/>
              </a:tabLst>
            </a:pPr>
            <a:r>
              <a:rPr lang="en-US" sz="1500" b="1" u="none" strike="noStrike">
                <a:solidFill>
                  <a:srgbClr val="179285"/>
                </a:solidFill>
                <a:effectLst/>
                <a:uFillTx/>
                <a:latin typeface="Calibri"/>
              </a:rPr>
              <a:t>•  </a:t>
            </a:r>
            <a:r>
              <a:rPr lang="en-US" sz="1500" b="1" u="none" strike="noStrike">
                <a:solidFill>
                  <a:srgbClr val="1A202A"/>
                </a:solidFill>
                <a:effectLst/>
                <a:uFillTx/>
                <a:latin typeface="Calibri"/>
              </a:rPr>
              <a:t>Shadow-mode validation:  </a:t>
            </a:r>
            <a:r>
              <a:rPr lang="en-US" sz="1500" b="0" u="none" strike="noStrike">
                <a:solidFill>
                  <a:srgbClr val="57606D"/>
                </a:solidFill>
                <a:effectLst/>
                <a:uFillTx/>
                <a:latin typeface="Calibri"/>
              </a:rPr>
              <a:t>Run against live traffic to turn the deflection assumption into a measured number.</a:t>
            </a:r>
            <a:endParaRPr lang="en-US" sz="1500" b="0" u="none" strike="noStrike">
              <a:solidFill>
                <a:srgbClr val="000000"/>
              </a:solidFill>
              <a:effectLst/>
              <a:uFillTx/>
              <a:latin typeface="Arial"/>
            </a:endParaRPr>
          </a:p>
          <a:p>
            <a:pPr defTabSz="457200">
              <a:lnSpc>
                <a:spcPct val="115000"/>
              </a:lnSpc>
              <a:spcAft>
                <a:spcPts val="2001"/>
              </a:spcAft>
              <a:tabLst>
                <a:tab pos="0" algn="l"/>
              </a:tabLst>
            </a:pPr>
            <a:r>
              <a:rPr lang="en-US" sz="1500" b="1" u="none" strike="noStrike">
                <a:solidFill>
                  <a:srgbClr val="179285"/>
                </a:solidFill>
                <a:effectLst/>
                <a:uFillTx/>
                <a:latin typeface="Calibri"/>
              </a:rPr>
              <a:t>•  </a:t>
            </a:r>
            <a:r>
              <a:rPr lang="en-US" sz="1500" b="1" u="none" strike="noStrike">
                <a:solidFill>
                  <a:srgbClr val="1A202A"/>
                </a:solidFill>
                <a:effectLst/>
                <a:uFillTx/>
                <a:latin typeface="Calibri"/>
              </a:rPr>
              <a:t>Fix the escalation-SOP retrieval gap:  </a:t>
            </a:r>
            <a:r>
              <a:rPr lang="en-US" sz="1500" b="0" u="none" strike="noStrike">
                <a:solidFill>
                  <a:srgbClr val="57606D"/>
                </a:solidFill>
                <a:effectLst/>
                <a:uFillTx/>
                <a:latin typeface="Calibri"/>
              </a:rPr>
              <a:t>escalation-procedure.md is never retrieved (0/8). A policy doc needs a deterministic attach, like spec sheets got.</a:t>
            </a:r>
            <a:endParaRPr lang="en-US" sz="1500" b="0" u="none" strike="noStrike">
              <a:solidFill>
                <a:srgbClr val="000000"/>
              </a:solidFill>
              <a:effectLst/>
              <a:uFillTx/>
              <a:latin typeface="Arial"/>
            </a:endParaRPr>
          </a:p>
          <a:p>
            <a:pPr defTabSz="457200">
              <a:lnSpc>
                <a:spcPct val="115000"/>
              </a:lnSpc>
              <a:spcAft>
                <a:spcPts val="2001"/>
              </a:spcAft>
              <a:tabLst>
                <a:tab pos="0" algn="l"/>
              </a:tabLst>
            </a:pPr>
            <a:r>
              <a:rPr lang="en-US" sz="1500" b="1" u="none" strike="noStrike">
                <a:solidFill>
                  <a:srgbClr val="179285"/>
                </a:solidFill>
                <a:effectLst/>
                <a:uFillTx/>
                <a:latin typeface="Calibri"/>
              </a:rPr>
              <a:t>•  </a:t>
            </a:r>
            <a:r>
              <a:rPr lang="en-US" sz="1500" b="1" u="none" strike="noStrike">
                <a:solidFill>
                  <a:srgbClr val="1A202A"/>
                </a:solidFill>
                <a:effectLst/>
                <a:uFillTx/>
                <a:latin typeface="Calibri"/>
              </a:rPr>
              <a:t>Hold the tuning line:  </a:t>
            </a:r>
            <a:r>
              <a:rPr lang="en-US" sz="1500" b="0" u="none" strike="noStrike">
                <a:solidFill>
                  <a:srgbClr val="57606D"/>
                </a:solidFill>
                <a:effectLst/>
                <a:uFillTx/>
                <a:latin typeface="Calibri"/>
              </a:rPr>
              <a:t>Further rules only where a new failure cluster shows the same structural signature — not by pattern-matching to the score.</a:t>
            </a:r>
            <a:endParaRPr lang="en-US" sz="1500" b="0" u="none" strike="noStrike">
              <a:solidFill>
                <a:srgbClr val="000000"/>
              </a:solidFill>
              <a:effectLst/>
              <a:uFillTx/>
              <a:latin typeface="Arial"/>
            </a:endParaRPr>
          </a:p>
        </p:txBody>
      </p:sp>
      <p:sp>
        <p:nvSpPr>
          <p:cNvPr id="534" name="Rounded Rectangle 5"/>
          <p:cNvSpPr/>
          <p:nvPr/>
        </p:nvSpPr>
        <p:spPr>
          <a:xfrm>
            <a:off x="502920" y="4160520"/>
            <a:ext cx="11154960" cy="1370880"/>
          </a:xfrm>
          <a:prstGeom prst="roundRect">
            <a:avLst>
              <a:gd name="adj" fmla="val 5000"/>
            </a:avLst>
          </a:prstGeom>
          <a:solidFill>
            <a:srgbClr val="FFFFFF"/>
          </a:solidFill>
          <a:ln w="19050">
            <a:solidFill>
              <a:srgbClr val="17928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5" name="TextBox 6"/>
          <p:cNvSpPr/>
          <p:nvPr/>
        </p:nvSpPr>
        <p:spPr>
          <a:xfrm>
            <a:off x="822960" y="4343400"/>
            <a:ext cx="10514880" cy="29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50" b="1" u="none" strike="noStrike">
                <a:solidFill>
                  <a:srgbClr val="0D665E"/>
                </a:solidFill>
                <a:effectLst/>
                <a:uFillTx/>
                <a:latin typeface="Calibri"/>
              </a:rPr>
              <a:t>What I would most like you to probe</a:t>
            </a:r>
            <a:endParaRPr lang="en-US" sz="1350" b="0" u="none" strike="noStrike">
              <a:solidFill>
                <a:srgbClr val="000000"/>
              </a:solidFill>
              <a:effectLst/>
              <a:uFillTx/>
              <a:latin typeface="Arial"/>
            </a:endParaRPr>
          </a:p>
        </p:txBody>
      </p:sp>
      <p:sp>
        <p:nvSpPr>
          <p:cNvPr id="536" name="TextBox 7"/>
          <p:cNvSpPr/>
          <p:nvPr/>
        </p:nvSpPr>
        <p:spPr>
          <a:xfrm>
            <a:off x="822960" y="4663440"/>
            <a:ext cx="10514880" cy="7765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en-US" sz="1250" b="0" u="none" strike="noStrike">
                <a:solidFill>
                  <a:srgbClr val="57606D"/>
                </a:solidFill>
                <a:effectLst/>
                <a:uFillTx/>
                <a:latin typeface="Calibri"/>
              </a:rPr>
              <a:t>The autonomy line, the ground-truth catch, and the places I chose a rule over the model. Those are the three decisions this system stands or falls on — and the three I have the most measurement behind.</a:t>
            </a:r>
            <a:endParaRPr lang="en-US" sz="1250" b="0" u="none" strike="noStrike">
              <a:solidFill>
                <a:srgbClr val="000000"/>
              </a:solidFill>
              <a:effectLst/>
              <a:uFillTx/>
              <a:latin typeface="Arial"/>
            </a:endParaRPr>
          </a:p>
        </p:txBody>
      </p:sp>
      <p:sp>
        <p:nvSpPr>
          <p:cNvPr id="537" name="Rectangle 8"/>
          <p:cNvSpPr/>
          <p:nvPr/>
        </p:nvSpPr>
        <p:spPr>
          <a:xfrm>
            <a:off x="0" y="5742360"/>
            <a:ext cx="12191040" cy="1114920"/>
          </a:xfrm>
          <a:prstGeom prst="rect">
            <a:avLst/>
          </a:prstGeom>
          <a:solidFill>
            <a:srgbClr val="1228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8" name="TextBox 9"/>
          <p:cNvSpPr/>
          <p:nvPr/>
        </p:nvSpPr>
        <p:spPr>
          <a:xfrm>
            <a:off x="502920" y="6053400"/>
            <a:ext cx="1051488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FFFFFF"/>
                </a:solidFill>
                <a:effectLst/>
                <a:uFillTx/>
                <a:latin typeface="Calibri"/>
              </a:rPr>
              <a:t>Thank you — let's look at your test cases.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15</TotalTime>
  <Application>LibreOffice/26.2.2.2$MacOSX_AARCH64 LibreOffice_project/1f77d10d6938fd34972958f64b2bcfa54f8b1ba5</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2026-07-27T19:24:38Z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